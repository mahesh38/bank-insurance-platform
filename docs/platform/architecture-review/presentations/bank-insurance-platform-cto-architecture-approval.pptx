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835fbdc5784675" /><Relationship Type="http://schemas.openxmlformats.org/officeDocument/2006/relationships/extended-properties" Target="/docProps/app.xml" Id="R5dd6b6ecd7274dc4" /><Relationship Type="http://schemas.openxmlformats.org/officeDocument/2006/relationships/officeDocument" Target="/ppt/presentation.xml" Id="Re89e9dd7c6de4b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5ad26744b847cb"/>
  </p:sldMasterIdLst>
  <p:notesMasterIdLst>
    <p:notesMasterId xmlns:r="http://schemas.openxmlformats.org/officeDocument/2006/relationships" r:id="Ra917b691335c4b8b"/>
  </p:notesMasterIdLst>
  <p:sldIdLst>
    <p:sldId xmlns:r="http://schemas.openxmlformats.org/officeDocument/2006/relationships" id="256" r:id="R6003ac2d37c94c0b"/>
    <p:sldId xmlns:r="http://schemas.openxmlformats.org/officeDocument/2006/relationships" id="257" r:id="R70f16844a0614cc5"/>
    <p:sldId xmlns:r="http://schemas.openxmlformats.org/officeDocument/2006/relationships" id="258" r:id="R37348b62b5734133"/>
    <p:sldId xmlns:r="http://schemas.openxmlformats.org/officeDocument/2006/relationships" id="259" r:id="Ra28efb0ac88647e1"/>
    <p:sldId xmlns:r="http://schemas.openxmlformats.org/officeDocument/2006/relationships" id="260" r:id="R0358c72634b743ac"/>
    <p:sldId xmlns:r="http://schemas.openxmlformats.org/officeDocument/2006/relationships" id="261" r:id="Rdce86a33a3ef4009"/>
    <p:sldId xmlns:r="http://schemas.openxmlformats.org/officeDocument/2006/relationships" id="262" r:id="R0e8b3ca8b798473b"/>
    <p:sldId xmlns:r="http://schemas.openxmlformats.org/officeDocument/2006/relationships" id="263" r:id="R53354d49081c460c"/>
    <p:sldId xmlns:r="http://schemas.openxmlformats.org/officeDocument/2006/relationships" id="264" r:id="Rbcbabb0df2f94183"/>
    <p:sldId xmlns:r="http://schemas.openxmlformats.org/officeDocument/2006/relationships" id="265" r:id="R0d3f96b75be44eca"/>
    <p:sldId xmlns:r="http://schemas.openxmlformats.org/officeDocument/2006/relationships" id="266" r:id="R57fb17ce190a400f"/>
    <p:sldId xmlns:r="http://schemas.openxmlformats.org/officeDocument/2006/relationships" id="267" r:id="Rc9cc8710c01a4ad6"/>
    <p:sldId xmlns:r="http://schemas.openxmlformats.org/officeDocument/2006/relationships" id="268" r:id="R9d6ea02f4dfd4122"/>
    <p:sldId xmlns:r="http://schemas.openxmlformats.org/officeDocument/2006/relationships" id="269" r:id="R40365ccd76cd4502"/>
    <p:sldId xmlns:r="http://schemas.openxmlformats.org/officeDocument/2006/relationships" id="270" r:id="R232a6ddee5c349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1494798f484807" /><Relationship Type="http://schemas.openxmlformats.org/officeDocument/2006/relationships/slideMaster" Target="/ppt/slideMasters/slideMaster1.xml" Id="R1f5ad26744b847cb" /><Relationship Type="http://schemas.openxmlformats.org/officeDocument/2006/relationships/notesMaster" Target="/ppt/notesMasters/notesMaster1.xml" Id="Ra917b691335c4b8b" /><Relationship Type="http://schemas.openxmlformats.org/officeDocument/2006/relationships/presProps" Target="/ppt/presProps.xml" Id="Rb102cb5fe9ba445b" /><Relationship Type="http://schemas.openxmlformats.org/officeDocument/2006/relationships/tableStyles" Target="/ppt/tableStyles.xml" Id="Rd830c032a9ef466c" /><Relationship Type="http://schemas.openxmlformats.org/officeDocument/2006/relationships/slide" Target="/ppt/slides/slide1.xml" Id="R6003ac2d37c94c0b" /><Relationship Type="http://schemas.openxmlformats.org/officeDocument/2006/relationships/slide" Target="/ppt/slides/slide2.xml" Id="R70f16844a0614cc5" /><Relationship Type="http://schemas.openxmlformats.org/officeDocument/2006/relationships/slide" Target="/ppt/slides/slide3.xml" Id="R37348b62b5734133" /><Relationship Type="http://schemas.openxmlformats.org/officeDocument/2006/relationships/slide" Target="/ppt/slides/slide4.xml" Id="Ra28efb0ac88647e1" /><Relationship Type="http://schemas.openxmlformats.org/officeDocument/2006/relationships/slide" Target="/ppt/slides/slide5.xml" Id="R0358c72634b743ac" /><Relationship Type="http://schemas.openxmlformats.org/officeDocument/2006/relationships/slide" Target="/ppt/slides/slide6.xml" Id="Rdce86a33a3ef4009" /><Relationship Type="http://schemas.openxmlformats.org/officeDocument/2006/relationships/slide" Target="/ppt/slides/slide7.xml" Id="R0e8b3ca8b798473b" /><Relationship Type="http://schemas.openxmlformats.org/officeDocument/2006/relationships/slide" Target="/ppt/slides/slide8.xml" Id="R53354d49081c460c" /><Relationship Type="http://schemas.openxmlformats.org/officeDocument/2006/relationships/slide" Target="/ppt/slides/slide9.xml" Id="Rbcbabb0df2f94183" /><Relationship Type="http://schemas.openxmlformats.org/officeDocument/2006/relationships/slide" Target="/ppt/slides/slide10.xml" Id="R0d3f96b75be44eca" /><Relationship Type="http://schemas.openxmlformats.org/officeDocument/2006/relationships/slide" Target="/ppt/slides/slide11.xml" Id="R57fb17ce190a400f" /><Relationship Type="http://schemas.openxmlformats.org/officeDocument/2006/relationships/slide" Target="/ppt/slides/slide12.xml" Id="Rc9cc8710c01a4ad6" /><Relationship Type="http://schemas.openxmlformats.org/officeDocument/2006/relationships/slide" Target="/ppt/slides/slide13.xml" Id="R9d6ea02f4dfd4122" /><Relationship Type="http://schemas.openxmlformats.org/officeDocument/2006/relationships/slide" Target="/ppt/slides/slide14.xml" Id="R40365ccd76cd4502" /><Relationship Type="http://schemas.openxmlformats.org/officeDocument/2006/relationships/slide" Target="/ppt/slides/slide15.xml" Id="R232a6ddee5c349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686b25e18b4a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734f57dea14067" /><Relationship Type="http://schemas.openxmlformats.org/officeDocument/2006/relationships/notesMaster" Target="/ppt/notesMasters/notesMaster1.xml" Id="Rcdb26f384dfa42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74aa7f990342dc" /><Relationship Type="http://schemas.openxmlformats.org/officeDocument/2006/relationships/notesMaster" Target="/ppt/notesMasters/notesMaster1.xml" Id="Rddf15f1b9e484e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0abe713a5f4b40" /><Relationship Type="http://schemas.openxmlformats.org/officeDocument/2006/relationships/notesMaster" Target="/ppt/notesMasters/notesMaster1.xml" Id="R5ca4c207a7be4d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f91e013404c62" /><Relationship Type="http://schemas.openxmlformats.org/officeDocument/2006/relationships/notesMaster" Target="/ppt/notesMasters/notesMaster1.xml" Id="Rbeb4f5df52d643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799f5b84bc48b8" /><Relationship Type="http://schemas.openxmlformats.org/officeDocument/2006/relationships/notesMaster" Target="/ppt/notesMasters/notesMaster1.xml" Id="R37ebdf7301f94f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75a2caad064b7f" /><Relationship Type="http://schemas.openxmlformats.org/officeDocument/2006/relationships/notesMaster" Target="/ppt/notesMasters/notesMaster1.xml" Id="R079f6f1315ec4d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5f389d9fe14567" /><Relationship Type="http://schemas.openxmlformats.org/officeDocument/2006/relationships/notesMaster" Target="/ppt/notesMasters/notesMaster1.xml" Id="Ra701b1fe5eef47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dee1e3f2354610" /><Relationship Type="http://schemas.openxmlformats.org/officeDocument/2006/relationships/notesMaster" Target="/ppt/notesMasters/notesMaster1.xml" Id="Ra0fa55a0184b41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888e7418ad4b0a" /><Relationship Type="http://schemas.openxmlformats.org/officeDocument/2006/relationships/notesMaster" Target="/ppt/notesMasters/notesMaster1.xml" Id="R81477217fae24a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1cf34cf3cc4b69" /><Relationship Type="http://schemas.openxmlformats.org/officeDocument/2006/relationships/notesMaster" Target="/ppt/notesMasters/notesMaster1.xml" Id="Rb552fabf8eda45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3ef16653f5405a" /><Relationship Type="http://schemas.openxmlformats.org/officeDocument/2006/relationships/notesMaster" Target="/ppt/notesMasters/notesMaster1.xml" Id="R010759f2ab7640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9e448f8c344f8b" /><Relationship Type="http://schemas.openxmlformats.org/officeDocument/2006/relationships/notesMaster" Target="/ppt/notesMasters/notesMaster1.xml" Id="R4e917b686d094e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6ae68d76714295" /><Relationship Type="http://schemas.openxmlformats.org/officeDocument/2006/relationships/notesMaster" Target="/ppt/notesMasters/notesMaster1.xml" Id="R2e093d31eac647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6aab6673e54e2f" /><Relationship Type="http://schemas.openxmlformats.org/officeDocument/2006/relationships/notesMaster" Target="/ppt/notesMasters/notesMaster1.xml" Id="R04cd29cc9e4c4f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9303d5ddb946a5" /><Relationship Type="http://schemas.openxmlformats.org/officeDocument/2006/relationships/notesMaster" Target="/ppt/notesMasters/notesMaster1.xml" Id="Raad86dce7bfc44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required: conditional approval of direction and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docs/platform/architecture-review/09-stakeholder-lld-approval-baseline.md</a:t>
            </a:r>
          </a:p>
          <a:p xmlns:a="http://schemas.openxmlformats.org/drawingml/2006/main">
            <a:r>
              <a:t>- docs/platform/architecture-review/10-cto-approval-workflows.md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executive decision contract for the meeting.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docs/platform/architecture-review/09-stakeholder-lld-approval-baseline.md §13–14</a:t>
            </a:r>
          </a:p>
          <a:p xmlns:a="http://schemas.openxmlformats.org/drawingml/2006/main">
            <a:r>
              <a:t>- docs/governance/RUNBOOK.md §6 and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Anchor technology in the bank's definition of a completed sale.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docs/au-bank-insurance-platform/07-BUSINESS-CLARIFICATIONS-WORKING-DECISIONS.md</a:t>
            </a:r>
          </a:p>
          <a:p xmlns:a="http://schemas.openxmlformats.org/drawingml/2006/main">
            <a:r>
              <a:t>- docs/au-bank-insurance-platform/DECISION-LOG.md D-001…D-014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implemented evidence separate from future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docs/governance/state/CURRENT-STATE.yaml</a:t>
            </a:r>
          </a:p>
          <a:p xmlns:a="http://schemas.openxmlformats.org/drawingml/2006/main">
            <a:r>
              <a:t>- docs/platform/architecture-review/09-stakeholder-lld-approval-baseline.md §1.2 and §2.1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complete target-state layer map. Status markers are part of the architecture,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docs/platform/architecture-review/09-stakeholder-lld-approval-baseline.md §2–7</a:t>
            </a:r>
          </a:p>
          <a:p xmlns:a="http://schemas.openxmlformats.org/drawingml/2006/main">
            <a:r>
              <a:t>- docs/platform/architecture-review/02-target-microservices-architecture.md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target count is not an estimate error; it reflects two explicitly open architectural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docs/platform/architecture-review/09-stakeholder-lld-approval-baseline.md §1.2 and Q-01/Q-03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Solid connectors are synchronous/user flow. The dashed rail represents proposed asynchronous side effects and resume signals.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docs/platform/architecture-review/10-cto-approval-workflows.md §1</a:t>
            </a:r>
          </a:p>
          <a:p xmlns:a="http://schemas.openxmlformats.org/drawingml/2006/main">
            <a:r>
              <a:t>- docs/au-bank-insurance-platform/DECISION-LOG.md D-005…D-010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avoids holding a user request open across insurer processing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docs/platform/architecture-review/10-cto-approval-workflows.md §2</a:t>
            </a:r>
          </a:p>
          <a:p xmlns:a="http://schemas.openxmlformats.org/drawingml/2006/main">
            <a:r>
              <a:t>- docs/platform/architecture-review/03-communication-patterns.md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Identity is provider-neutral by design; production IdP and federation details remain Phase 2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docs/authentication-authorization/README.md</a:t>
            </a:r>
          </a:p>
          <a:p xmlns:a="http://schemas.openxmlformats.org/drawingml/2006/main">
            <a:r>
              <a:t>- docs/governance/state/CURRENT-STATE.yaml WS-2</a:t>
            </a:r>
          </a:p>
          <a:p xmlns:a="http://schemas.openxmlformats.org/drawingml/2006/main">
            <a:r>
              <a:t>- docs/platform/architecture-review/10-cto-approval-workflows.md §3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 selection follows access pattern and ownership; it is not a uniform technology mandate.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docs/platform/architecture-review/09-stakeholder-lld-approval-baseline.md §9–11</a:t>
            </a:r>
          </a:p>
          <a:p xmlns:a="http://schemas.openxmlformats.org/drawingml/2006/main">
            <a:r>
              <a:t>- docs/platform/architecture-review/05-data-architecture.md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imply that controls with proposed infrastructure are already operational.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docs/platform/architecture-review/09-stakeholder-lld-approval-baseline.md §12</a:t>
            </a:r>
          </a:p>
          <a:p xmlns:a="http://schemas.openxmlformats.org/drawingml/2006/main">
            <a:r>
              <a:t>- docs/platform/architecture-review/06-security-compliance-and-nfrs.md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sequencing logic, not an approved delivery date or budget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docs/platform/architecture-review/07-delivery-roadmap-and-estimate.md</a:t>
            </a:r>
          </a:p>
          <a:p xmlns:a="http://schemas.openxmlformats.org/drawingml/2006/main">
            <a:r>
              <a:t>- docs/governance/RUNBOOK.md §8.3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assign decision owners, not to debate all ten decisions in one meeting.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docs/platform/architecture-review/09-stakeholder-lld-approval-baseline.md §13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design baseline changes before application code whenever a boundary, contract, datastore, cache, event or trust decision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docs/platform/architecture-review/10-cto-approval-workflows.md §5</a:t>
            </a:r>
          </a:p>
          <a:p xmlns:a="http://schemas.openxmlformats.org/drawingml/2006/main">
            <a:r>
              <a:t>- docs/governance/09-AI_EXECUTION_RULES.md</a:t>
            </a:r>
          </a:p>
          <a:p xmlns:a="http://schemas.openxmlformats.org/drawingml/2006/main">
            <a:r>
              <a:t>- docs/platform/architecture-review/09-stakeholder-lld-approval-baseline.md §14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recording the CTO decision explicitly. Do not convert a meeting discussion into an implied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docs/platform/architecture-review/09-stakeholder-lld-approval-baseline.md §14.2</a:t>
            </a:r>
          </a:p>
          <a:p xmlns:a="http://schemas.openxmlformats.org/drawingml/2006/main">
            <a:r>
              <a:t>- docs/governance/RUNBOOK.md role cards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aa6143d1543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2a4d6302d74407" /><Relationship Type="http://schemas.openxmlformats.org/officeDocument/2006/relationships/slideLayout" Target="/ppt/slideLayouts/slideLayout1.xml" Id="R83f1512289be4a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f1512289be4a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f528e79464118" /><Relationship Type="http://schemas.openxmlformats.org/officeDocument/2006/relationships/notesSlide" Target="/ppt/notesSlides/notesSlide1.xml" Id="R96ba97b4addf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c7e231fb6434f" /><Relationship Type="http://schemas.openxmlformats.org/officeDocument/2006/relationships/notesSlide" Target="/ppt/notesSlides/notesSlide2.xml" Id="R69390fa772b84d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58e723e914263" /><Relationship Type="http://schemas.openxmlformats.org/officeDocument/2006/relationships/notesSlide" Target="/ppt/notesSlides/notesSlide3.xml" Id="R84114ea023af4e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bf11b74e245f0" /><Relationship Type="http://schemas.openxmlformats.org/officeDocument/2006/relationships/notesSlide" Target="/ppt/notesSlides/notesSlide4.xml" Id="R2544a575cbda45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cd7b6ec0440ac" /><Relationship Type="http://schemas.openxmlformats.org/officeDocument/2006/relationships/notesSlide" Target="/ppt/notesSlides/notesSlide5.xml" Id="Rcb695ee7076347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f8c6fc8a94179" /><Relationship Type="http://schemas.openxmlformats.org/officeDocument/2006/relationships/notesSlide" Target="/ppt/notesSlides/notesSlide6.xml" Id="Ra62b04c07fe146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61051906e40df" /><Relationship Type="http://schemas.openxmlformats.org/officeDocument/2006/relationships/notesSlide" Target="/ppt/notesSlides/notesSlide7.xml" Id="Ra304966d66904d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f8dcfa746421c" /><Relationship Type="http://schemas.openxmlformats.org/officeDocument/2006/relationships/notesSlide" Target="/ppt/notesSlides/notesSlide8.xml" Id="R178264c7c32745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bc5753a0e4faf" /><Relationship Type="http://schemas.openxmlformats.org/officeDocument/2006/relationships/notesSlide" Target="/ppt/notesSlides/notesSlide9.xml" Id="R5363ea60c1a946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c807b0b0e4aeb" /><Relationship Type="http://schemas.openxmlformats.org/officeDocument/2006/relationships/notesSlide" Target="/ppt/notesSlides/notesSlide10.xml" Id="R0a3fdbe6c31f49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5274803f44b91" /><Relationship Type="http://schemas.openxmlformats.org/officeDocument/2006/relationships/notesSlide" Target="/ppt/notesSlides/notesSlide11.xml" Id="Rd8ad18fe9e9841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60c6821ac49a0" /><Relationship Type="http://schemas.openxmlformats.org/officeDocument/2006/relationships/notesSlide" Target="/ppt/notesSlides/notesSlide12.xml" Id="R12c0e00db64a4a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7a104dc344e27" /><Relationship Type="http://schemas.openxmlformats.org/officeDocument/2006/relationships/notesSlide" Target="/ppt/notesSlides/notesSlide13.xml" Id="R5160d6ae962e48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83dc19f9e495f" /><Relationship Type="http://schemas.openxmlformats.org/officeDocument/2006/relationships/notesSlide" Target="/ppt/notesSlides/notesSlide14.xml" Id="R66cda333c05a4a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266ac6b924cfa" /><Relationship Type="http://schemas.openxmlformats.org/officeDocument/2006/relationships/notesSlide" Target="/ppt/notesSlides/notesSlide15.xml" Id="R1b38c339422549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9B29B9A-30C1-4E7A-B980-378A2BD1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AU BANK INSURANCE DISTRIBUTION PLATFORM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1419144-1077-4827-958D-DDE3D66B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4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0BBA49F-B79A-4782-BEDC-AFCA359A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239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architecture</a:t>
            </a:r>
          </a:p>
          <a:p xmlns:a="http://schemas.openxmlformats.org/drawingml/2006/main">
            <a:pPr algn="l"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conditional approval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3AD29A-FCE5-47D2-9079-95BA3FEC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928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Bank-owned journeys · provider-neutral integration · governed evolution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43710C82-A615-4BAD-8914-4721206A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CTO REVIEW  |  12 AUGUST 2026  |  DOC-005 / DOC-007</a:t>
            </a:r>
          </a:p>
        </p:txBody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F3D22B23-0D07-4723-9DBF-FB8FA3FC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340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DRAFT — approval direction, not build authorization</a:t>
            </a:r>
          </a:p>
        </p:txBody>
      </p:sp>
    </p:spTree>
    <p:extLst>
      <p:ext uri="{BB962C8B-B14F-4D97-AF65-F5344CB8AC3E}">
        <p14:creationId xmlns:p14="http://schemas.microsoft.com/office/powerpoint/2010/main" val="173726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2">
            <a:extLst xmlns:a="http://schemas.openxmlformats.org/drawingml/2006/main">
              <a:ext uri="{FF2B5EF4-FFF2-40B4-BE49-F238E27FC236}">
                <a16:creationId xmlns:a16="http://schemas.microsoft.com/office/drawing/2014/main" id="{16A7D4C9-1442-4DB3-9729-ED0DEE81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 the direction, not a 22-service big bang</a:t>
            </a:r>
          </a:p>
        </p:txBody>
      </p:sp>
      <p:sp>
        <p:nvSpPr>
          <p:cNvPr id="2" name="decision-v1">
            <a:extLst xmlns:a="http://schemas.openxmlformats.org/drawingml/2006/main">
              <a:ext uri="{FF2B5EF4-FFF2-40B4-BE49-F238E27FC236}">
                <a16:creationId xmlns:a16="http://schemas.microsoft.com/office/drawing/2014/main" id="{02AFF995-C3A9-4E97-808D-C089543B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0" cy="416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decision-v2">
            <a:extLst xmlns:a="http://schemas.openxmlformats.org/drawingml/2006/main">
              <a:ext uri="{FF2B5EF4-FFF2-40B4-BE49-F238E27FC236}">
                <a16:creationId xmlns:a16="http://schemas.microsoft.com/office/drawing/2014/main" id="{CCBC34CC-B507-4614-AFCC-B44726BC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0" cy="416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decision-a-h">
            <a:extLst xmlns:a="http://schemas.openxmlformats.org/drawingml/2006/main">
              <a:ext uri="{FF2B5EF4-FFF2-40B4-BE49-F238E27FC236}">
                <a16:creationId xmlns:a16="http://schemas.microsoft.com/office/drawing/2014/main" id="{667D0173-5A90-45A4-8211-5D7858CF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5" name="decision-a-b">
            <a:extLst xmlns:a="http://schemas.openxmlformats.org/drawingml/2006/main">
              <a:ext uri="{FF2B5EF4-FFF2-40B4-BE49-F238E27FC236}">
                <a16:creationId xmlns:a16="http://schemas.microsoft.com/office/drawing/2014/main" id="{0C2C3521-8635-4A58-9293-4B66C0D7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238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Bank-owned capability boundaries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Provider-neutral contracts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Sync vs async operating model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Database ownership principles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Controlled evolution process</a:t>
            </a:r>
          </a:p>
        </p:txBody>
      </p:sp>
      <p:sp>
        <p:nvSpPr>
          <p:cNvPr id="6" name="decision-b-h">
            <a:extLst xmlns:a="http://schemas.openxmlformats.org/drawingml/2006/main">
              <a:ext uri="{FF2B5EF4-FFF2-40B4-BE49-F238E27FC236}">
                <a16:creationId xmlns:a16="http://schemas.microsoft.com/office/drawing/2014/main" id="{DFD06926-D261-4717-B1BA-19D6BC7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6A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66A00"/>
                </a:solidFill>
                <a:latin typeface="Arial"/>
                <a:ea typeface="Arial"/>
                <a:cs typeface="Arial"/>
              </a:rPr>
              <a:t>SUBJECT TO</a:t>
            </a:r>
          </a:p>
        </p:txBody>
      </p:sp>
      <p:sp>
        <p:nvSpPr>
          <p:cNvPr id="7" name="decision-b-b">
            <a:extLst xmlns:a="http://schemas.openxmlformats.org/drawingml/2006/main">
              <a:ext uri="{FF2B5EF4-FFF2-40B4-BE49-F238E27FC236}">
                <a16:creationId xmlns:a16="http://schemas.microsoft.com/office/drawing/2014/main" id="{B86F7B44-A394-4D2C-9585-CA395902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238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 owners for Q-01…Q-10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Security and Compliance sign-off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NFRs and cost envelope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Walking-skeleton evidence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ADRs before semantic change</a:t>
            </a:r>
          </a:p>
        </p:txBody>
      </p:sp>
      <p:sp>
        <p:nvSpPr>
          <p:cNvPr id="8" name="decision-c-h">
            <a:extLst xmlns:a="http://schemas.openxmlformats.org/drawingml/2006/main">
              <a:ext uri="{FF2B5EF4-FFF2-40B4-BE49-F238E27FC236}">
                <a16:creationId xmlns:a16="http://schemas.microsoft.com/office/drawing/2014/main" id="{7269FE97-FA86-4434-AC00-C7C1F2C4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14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NOT AUTHORIZED</a:t>
            </a:r>
          </a:p>
        </p:txBody>
      </p:sp>
      <p:sp>
        <p:nvSpPr>
          <p:cNvPr id="9" name="decision-c-b">
            <a:extLst xmlns:a="http://schemas.openxmlformats.org/drawingml/2006/main">
              <a:ext uri="{FF2B5EF4-FFF2-40B4-BE49-F238E27FC236}">
                <a16:creationId xmlns:a16="http://schemas.microsoft.com/office/drawing/2014/main" id="{C986654C-D529-4626-B8D3-D77ACC6B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3238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Immediate build of every target service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Provisioning MSK, EKS, Redis, or mesh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LOBs or NTB journeys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Unratified retention / DR commitments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Treating silence as approval</a:t>
            </a:r>
          </a:p>
        </p:txBody>
      </p:sp>
      <p:sp>
        <p:nvSpPr>
          <p:cNvPr id="10" name="decision-callout">
            <a:extLst xmlns:a="http://schemas.openxmlformats.org/drawingml/2006/main">
              <a:ext uri="{FF2B5EF4-FFF2-40B4-BE49-F238E27FC236}">
                <a16:creationId xmlns:a16="http://schemas.microsoft.com/office/drawing/2014/main" id="{05BB6029-632A-46F3-80DD-32989CF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Recommended CTO verdict: CONDITIONAL APPROVAL</a:t>
            </a:r>
          </a:p>
        </p:txBody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36E58B87-8566-42A2-8A58-DD9EE29A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5607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3">
            <a:extLst xmlns:a="http://schemas.openxmlformats.org/drawingml/2006/main">
              <a:ext uri="{FF2B5EF4-FFF2-40B4-BE49-F238E27FC236}">
                <a16:creationId xmlns:a16="http://schemas.microsoft.com/office/drawing/2014/main" id="{15779927-4059-4DB6-A0C3-7EFB6950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platform owns the journey all the way to a provable sale</a:t>
            </a:r>
          </a:p>
        </p:txBody>
      </p:sp>
      <p:sp>
        <p:nvSpPr>
          <p:cNvPr id="2" name="outcome-0">
            <a:extLst xmlns:a="http://schemas.openxmlformats.org/drawingml/2006/main">
              <a:ext uri="{FF2B5EF4-FFF2-40B4-BE49-F238E27FC236}">
                <a16:creationId xmlns:a16="http://schemas.microsoft.com/office/drawing/2014/main" id="{D05FE723-28BE-4CB4-B176-82A6E84A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Identify ETB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3" name="outcome-1">
            <a:extLst xmlns:a="http://schemas.openxmlformats.org/drawingml/2006/main">
              <a:ext uri="{FF2B5EF4-FFF2-40B4-BE49-F238E27FC236}">
                <a16:creationId xmlns:a16="http://schemas.microsoft.com/office/drawing/2014/main" id="{95614A23-485A-4904-856F-57615031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81250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 or resume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journey</a:t>
            </a:r>
          </a:p>
        </p:txBody>
      </p:sp>
      <p:sp>
        <p:nvSpPr>
          <p:cNvPr id="4" name="outcome-2">
            <a:extLst xmlns:a="http://schemas.openxmlformats.org/drawingml/2006/main">
              <a:ext uri="{FF2B5EF4-FFF2-40B4-BE49-F238E27FC236}">
                <a16:creationId xmlns:a16="http://schemas.microsoft.com/office/drawing/2014/main" id="{E6FE88FA-7D6E-42BB-8D58-0078FC26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1381125" cy="952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E0E0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6903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Consent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mandatory</a:t>
            </a:r>
          </a:p>
        </p:txBody>
      </p:sp>
      <p:sp>
        <p:nvSpPr>
          <p:cNvPr id="5" name="outcome-3">
            <a:extLst xmlns:a="http://schemas.openxmlformats.org/drawingml/2006/main">
              <a:ext uri="{FF2B5EF4-FFF2-40B4-BE49-F238E27FC236}">
                <a16:creationId xmlns:a16="http://schemas.microsoft.com/office/drawing/2014/main" id="{FBC4446B-1396-4EE6-AE4B-71197C4B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1381125" cy="952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E0E0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6903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Suitability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mandatory</a:t>
            </a:r>
          </a:p>
        </p:txBody>
      </p:sp>
      <p:sp>
        <p:nvSpPr>
          <p:cNvPr id="6" name="outcome-4">
            <a:extLst xmlns:a="http://schemas.openxmlformats.org/drawingml/2006/main">
              <a:ext uri="{FF2B5EF4-FFF2-40B4-BE49-F238E27FC236}">
                <a16:creationId xmlns:a16="http://schemas.microsoft.com/office/drawing/2014/main" id="{24679C15-8754-42AF-887B-51130737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Quote + proposal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provider-neutral</a:t>
            </a:r>
          </a:p>
        </p:txBody>
      </p:sp>
      <p:sp>
        <p:nvSpPr>
          <p:cNvPr id="7" name="outcome-5">
            <a:extLst xmlns:a="http://schemas.openxmlformats.org/drawingml/2006/main">
              <a:ext uri="{FF2B5EF4-FFF2-40B4-BE49-F238E27FC236}">
                <a16:creationId xmlns:a16="http://schemas.microsoft.com/office/drawing/2014/main" id="{CAD92E1F-B8A2-4439-AAA9-9F5A73D4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Customer-device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8" name="outcome-6">
            <a:extLst xmlns:a="http://schemas.openxmlformats.org/drawingml/2006/main">
              <a:ext uri="{FF2B5EF4-FFF2-40B4-BE49-F238E27FC236}">
                <a16:creationId xmlns:a16="http://schemas.microsoft.com/office/drawing/2014/main" id="{63C5CD0C-25B9-4BEF-A5BF-D1770AE6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81250"/>
            <a:ext cx="138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Issued + confirmed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reconcilable + tracked</a:t>
            </a:r>
          </a:p>
        </p:txBody>
      </p:sp>
      <p:cxnSp>
        <p:nvCxnSpPr>
          <p:cNvPr id="27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781175" y="285750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19475" y="285750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57775" y="285750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696075" y="285750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334375" y="285750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972675" y="285750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sp>
        <p:nvSpPr>
          <p:cNvPr id="15" name="outcome-scope">
            <a:extLst xmlns:a="http://schemas.openxmlformats.org/drawingml/2006/main">
              <a:ext uri="{FF2B5EF4-FFF2-40B4-BE49-F238E27FC236}">
                <a16:creationId xmlns:a16="http://schemas.microsoft.com/office/drawing/2014/main" id="{9CD2CE4D-210B-457E-8F63-6AC985EB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MVP intent: Life insurance · ETB customers · RM-assisted, self-service and hybrid journeys</a:t>
            </a:r>
          </a:p>
        </p:txBody>
      </p:sp>
      <p:sp>
        <p:nvSpPr>
          <p:cNvPr id="16" name="outcome-note">
            <a:extLst xmlns:a="http://schemas.openxmlformats.org/drawingml/2006/main">
              <a:ext uri="{FF2B5EF4-FFF2-40B4-BE49-F238E27FC236}">
                <a16:creationId xmlns:a16="http://schemas.microsoft.com/office/drawing/2014/main" id="{CB89E27D-1B39-42D5-BFB5-58E03245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979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1SilverBullet accelerates current insurer connectivity. AU Bank retains customer experience, suitability, consent, journey state, audit evidence and operational visibility.</a:t>
            </a:r>
          </a:p>
        </p:txBody>
      </p:sp>
      <p:sp>
        <p:nvSpPr>
          <p:cNvPr id="17" name="outcome-groupb">
            <a:extLst xmlns:a="http://schemas.openxmlformats.org/drawingml/2006/main">
              <a:ext uri="{FF2B5EF4-FFF2-40B4-BE49-F238E27FC236}">
                <a16:creationId xmlns:a16="http://schemas.microsoft.com/office/drawing/2014/main" id="{F607A7E2-2E66-40BF-8833-9F490C19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819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 B products remain discoverable, then redirect externally; recommendation and audit stay bank-owned.</a:t>
            </a:r>
          </a:p>
        </p:txBody>
      </p:sp>
      <p:sp>
        <p:nvSpPr>
          <p:cNvPr id="18" name="footer-3">
            <a:extLst xmlns:a="http://schemas.openxmlformats.org/drawingml/2006/main">
              <a:ext uri="{FF2B5EF4-FFF2-40B4-BE49-F238E27FC236}">
                <a16:creationId xmlns:a16="http://schemas.microsoft.com/office/drawing/2014/main" id="{6A6C57EF-2FCB-4C71-ACB3-AB4FEE82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371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4">
            <a:extLst xmlns:a="http://schemas.openxmlformats.org/drawingml/2006/main">
              <a:ext uri="{FF2B5EF4-FFF2-40B4-BE49-F238E27FC236}">
                <a16:creationId xmlns:a16="http://schemas.microsoft.com/office/drawing/2014/main" id="{2ADDF8B3-7871-4601-B2DD-A21C02BF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Five services prove two seams—not the full platform</a:t>
            </a:r>
          </a:p>
        </p:txBody>
      </p:sp>
      <p:sp>
        <p:nvSpPr>
          <p:cNvPr id="2" name="current-five">
            <a:extLst xmlns:a="http://schemas.openxmlformats.org/drawingml/2006/main">
              <a:ext uri="{FF2B5EF4-FFF2-40B4-BE49-F238E27FC236}">
                <a16:creationId xmlns:a16="http://schemas.microsoft.com/office/drawing/2014/main" id="{0E759C2E-6746-48EC-BB89-C209D23E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714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urrent-caption">
            <a:extLst xmlns:a="http://schemas.openxmlformats.org/drawingml/2006/main">
              <a:ext uri="{FF2B5EF4-FFF2-40B4-BE49-F238E27FC236}">
                <a16:creationId xmlns:a16="http://schemas.microsoft.com/office/drawing/2014/main" id="{6BC75DA9-B0DD-419E-A7AF-8CCAA491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implemented custom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4" name="current-imp-0">
            <a:extLst xmlns:a="http://schemas.openxmlformats.org/drawingml/2006/main">
              <a:ext uri="{FF2B5EF4-FFF2-40B4-BE49-F238E27FC236}">
                <a16:creationId xmlns:a16="http://schemas.microsoft.com/office/drawing/2014/main" id="{C2E8D118-C7EA-4F07-BA81-3563E2E0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0020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1sb-integration-service [I]  — bank-facing adapter; no local DB</a:t>
            </a:r>
          </a:p>
        </p:txBody>
      </p:sp>
      <p:sp>
        <p:nvSpPr>
          <p:cNvPr id="5" name="current-imp-1">
            <a:extLst xmlns:a="http://schemas.openxmlformats.org/drawingml/2006/main">
              <a:ext uri="{FF2B5EF4-FFF2-40B4-BE49-F238E27FC236}">
                <a16:creationId xmlns:a16="http://schemas.microsoft.com/office/drawing/2014/main" id="{A1C52917-8E5E-4C0D-8001-84656F98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bank-persistence-service [I] — integration technical store</a:t>
            </a:r>
          </a:p>
        </p:txBody>
      </p:sp>
      <p:sp>
        <p:nvSpPr>
          <p:cNvPr id="6" name="current-imp-2">
            <a:extLst xmlns:a="http://schemas.openxmlformats.org/drawingml/2006/main">
              <a:ext uri="{FF2B5EF4-FFF2-40B4-BE49-F238E27FC236}">
                <a16:creationId xmlns:a16="http://schemas.microsoft.com/office/drawing/2014/main" id="{0D34E46E-751D-48A0-A85E-2621A45A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7180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workforce-access-bff [I] — token-hiding session boundary</a:t>
            </a:r>
          </a:p>
        </p:txBody>
      </p:sp>
      <p:sp>
        <p:nvSpPr>
          <p:cNvPr id="7" name="current-imp-3">
            <a:extLst xmlns:a="http://schemas.openxmlformats.org/drawingml/2006/main">
              <a:ext uri="{FF2B5EF4-FFF2-40B4-BE49-F238E27FC236}">
                <a16:creationId xmlns:a16="http://schemas.microsoft.com/office/drawing/2014/main" id="{B85083E8-FF89-4804-A9A8-37A99D2F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5760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identity-provider-adapter [I] — provider-neutral authentication</a:t>
            </a:r>
          </a:p>
        </p:txBody>
      </p:sp>
      <p:sp>
        <p:nvSpPr>
          <p:cNvPr id="8" name="current-imp-4">
            <a:extLst xmlns:a="http://schemas.openxmlformats.org/drawingml/2006/main">
              <a:ext uri="{FF2B5EF4-FFF2-40B4-BE49-F238E27FC236}">
                <a16:creationId xmlns:a16="http://schemas.microsoft.com/office/drawing/2014/main" id="{8C654014-5562-4E43-ABDF-647C139A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identity-authorization [I] — RBAC + ABAC policy decision point</a:t>
            </a:r>
          </a:p>
        </p:txBody>
      </p:sp>
      <p:sp>
        <p:nvSpPr>
          <p:cNvPr id="9" name="current-open-h">
            <a:extLst xmlns:a="http://schemas.openxmlformats.org/drawingml/2006/main">
              <a:ext uri="{FF2B5EF4-FFF2-40B4-BE49-F238E27FC236}">
                <a16:creationId xmlns:a16="http://schemas.microsoft.com/office/drawing/2014/main" id="{8E7BC02E-D073-4411-A269-8ADDD274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GATES STILL OPEN</a:t>
            </a:r>
          </a:p>
        </p:txBody>
      </p:sp>
      <p:sp>
        <p:nvSpPr>
          <p:cNvPr id="10" name="current-open">
            <a:extLst xmlns:a="http://schemas.openxmlformats.org/drawingml/2006/main">
              <a:ext uri="{FF2B5EF4-FFF2-40B4-BE49-F238E27FC236}">
                <a16:creationId xmlns:a16="http://schemas.microsoft.com/office/drawing/2014/main" id="{2093655A-22B4-4E38-A21E-E5E7976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857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WS-1 Term hardening: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UAT, compliance, runbook, performance and coverage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IAM foundation: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Token hiding, provider isolation, default deny, maker-checker, retention and outbox reliability</a:t>
            </a:r>
          </a:p>
        </p:txBody>
      </p:sp>
      <p:sp>
        <p:nvSpPr>
          <p:cNvPr id="11" name="current-keycloak">
            <a:extLst xmlns:a="http://schemas.openxmlformats.org/drawingml/2006/main">
              <a:ext uri="{FF2B5EF4-FFF2-40B4-BE49-F238E27FC236}">
                <a16:creationId xmlns:a16="http://schemas.microsoft.com/office/drawing/2014/main" id="{FC8E1AFA-ADF8-47F6-B846-02E15FED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86375"/>
            <a:ext cx="870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Keycloak [I] is local identity infrastructure, not a sixth custom service.</a:t>
            </a:r>
          </a:p>
        </p:txBody>
      </p:sp>
      <p:sp>
        <p:nvSpPr>
          <p:cNvPr id="12" name="footer-4">
            <a:extLst xmlns:a="http://schemas.openxmlformats.org/drawingml/2006/main">
              <a:ext uri="{FF2B5EF4-FFF2-40B4-BE49-F238E27FC236}">
                <a16:creationId xmlns:a16="http://schemas.microsoft.com/office/drawing/2014/main" id="{91D51F8E-DF5E-43A2-B75D-3DAD119D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64112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itle-5">
            <a:extLst xmlns:a="http://schemas.openxmlformats.org/drawingml/2006/main">
              <a:ext uri="{FF2B5EF4-FFF2-40B4-BE49-F238E27FC236}">
                <a16:creationId xmlns:a16="http://schemas.microsoft.com/office/drawing/2014/main" id="{A27E7878-2970-4937-8FBD-B1CD3A8E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architecture separates ownership across five layers</a:t>
            </a:r>
          </a:p>
        </p:txBody>
      </p:sp>
      <p:sp>
        <p:nvSpPr>
          <p:cNvPr id="2" name="lane-bg-0">
            <a:extLst xmlns:a="http://schemas.openxmlformats.org/drawingml/2006/main">
              <a:ext uri="{FF2B5EF4-FFF2-40B4-BE49-F238E27FC236}">
                <a16:creationId xmlns:a16="http://schemas.microsoft.com/office/drawing/2014/main" id="{C0AA09CE-BE15-4258-90F3-72DF904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lane-label-0">
            <a:extLst xmlns:a="http://schemas.openxmlformats.org/drawingml/2006/main">
              <a:ext uri="{FF2B5EF4-FFF2-40B4-BE49-F238E27FC236}">
                <a16:creationId xmlns:a16="http://schemas.microsoft.com/office/drawing/2014/main" id="{DEC93A31-B9BB-4F5E-984B-F1371EF6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CHANNEL + EDGE</a:t>
            </a:r>
          </a:p>
        </p:txBody>
      </p:sp>
      <p:sp>
        <p:nvSpPr>
          <p:cNvPr id="4" name="lane-0-0">
            <a:extLst xmlns:a="http://schemas.openxmlformats.org/drawingml/2006/main">
              <a:ext uri="{FF2B5EF4-FFF2-40B4-BE49-F238E27FC236}">
                <a16:creationId xmlns:a16="http://schemas.microsoft.com/office/drawing/2014/main" id="{4AE99E61-D83A-40CB-BDD7-069D19B1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81150"/>
            <a:ext cx="3124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API GW + WAF [P]</a:t>
            </a:r>
          </a:p>
        </p:txBody>
      </p:sp>
      <p:sp>
        <p:nvSpPr>
          <p:cNvPr id="5" name="lane-0-1">
            <a:extLst xmlns:a="http://schemas.openxmlformats.org/drawingml/2006/main">
              <a:ext uri="{FF2B5EF4-FFF2-40B4-BE49-F238E27FC236}">
                <a16:creationId xmlns:a16="http://schemas.microsoft.com/office/drawing/2014/main" id="{F035A0A2-2E2B-4B14-AFE8-957F3803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581150"/>
            <a:ext cx="3124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BFF [P]</a:t>
            </a:r>
          </a:p>
        </p:txBody>
      </p:sp>
      <p:sp>
        <p:nvSpPr>
          <p:cNvPr id="6" name="lane-0-2">
            <a:extLst xmlns:a="http://schemas.openxmlformats.org/drawingml/2006/main">
              <a:ext uri="{FF2B5EF4-FFF2-40B4-BE49-F238E27FC236}">
                <a16:creationId xmlns:a16="http://schemas.microsoft.com/office/drawing/2014/main" id="{7230D98A-3C22-424C-AED4-329449EB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81150"/>
            <a:ext cx="3124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RM BFF [P]</a:t>
            </a:r>
          </a:p>
        </p:txBody>
      </p:sp>
      <p:sp>
        <p:nvSpPr>
          <p:cNvPr id="7" name="lane-bg-1">
            <a:extLst xmlns:a="http://schemas.openxmlformats.org/drawingml/2006/main">
              <a:ext uri="{FF2B5EF4-FFF2-40B4-BE49-F238E27FC236}">
                <a16:creationId xmlns:a16="http://schemas.microsoft.com/office/drawing/2014/main" id="{26A97048-D506-43C2-83A3-6DEA41D3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1391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lane-label-1">
            <a:extLst xmlns:a="http://schemas.openxmlformats.org/drawingml/2006/main">
              <a:ext uri="{FF2B5EF4-FFF2-40B4-BE49-F238E27FC236}">
                <a16:creationId xmlns:a16="http://schemas.microsoft.com/office/drawing/2014/main" id="{AD350CBF-EA60-4D3E-9492-F6364734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SALES + ADVISORY</a:t>
            </a:r>
          </a:p>
        </p:txBody>
      </p:sp>
      <p:sp>
        <p:nvSpPr>
          <p:cNvPr id="9" name="lane-1-0">
            <a:extLst xmlns:a="http://schemas.openxmlformats.org/drawingml/2006/main">
              <a:ext uri="{FF2B5EF4-FFF2-40B4-BE49-F238E27FC236}">
                <a16:creationId xmlns:a16="http://schemas.microsoft.com/office/drawing/2014/main" id="{94C52D07-3ACF-4B8F-ACCF-312ACC22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990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Identity [A/I]</a:t>
            </a:r>
          </a:p>
        </p:txBody>
      </p:sp>
      <p:sp>
        <p:nvSpPr>
          <p:cNvPr id="10" name="lane-1-1">
            <a:extLst xmlns:a="http://schemas.openxmlformats.org/drawingml/2006/main">
              <a:ext uri="{FF2B5EF4-FFF2-40B4-BE49-F238E27FC236}">
                <a16:creationId xmlns:a16="http://schemas.microsoft.com/office/drawing/2014/main" id="{3370D22A-F3CE-411E-8D52-BCBF1D03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990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[P]</a:t>
            </a:r>
          </a:p>
        </p:txBody>
      </p:sp>
      <p:sp>
        <p:nvSpPr>
          <p:cNvPr id="11" name="lane-1-2">
            <a:extLst xmlns:a="http://schemas.openxmlformats.org/drawingml/2006/main">
              <a:ext uri="{FF2B5EF4-FFF2-40B4-BE49-F238E27FC236}">
                <a16:creationId xmlns:a16="http://schemas.microsoft.com/office/drawing/2014/main" id="{B7362707-252A-45D9-8004-7C640063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990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Lead [P]</a:t>
            </a:r>
          </a:p>
        </p:txBody>
      </p:sp>
      <p:sp>
        <p:nvSpPr>
          <p:cNvPr id="12" name="lane-1-3">
            <a:extLst xmlns:a="http://schemas.openxmlformats.org/drawingml/2006/main">
              <a:ext uri="{FF2B5EF4-FFF2-40B4-BE49-F238E27FC236}">
                <a16:creationId xmlns:a16="http://schemas.microsoft.com/office/drawing/2014/main" id="{B96035AD-3F88-4EAB-B1ED-06483434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990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Consent [P]</a:t>
            </a:r>
          </a:p>
        </p:txBody>
      </p:sp>
      <p:sp>
        <p:nvSpPr>
          <p:cNvPr id="13" name="lane-1-4">
            <a:extLst xmlns:a="http://schemas.openxmlformats.org/drawingml/2006/main">
              <a:ext uri="{FF2B5EF4-FFF2-40B4-BE49-F238E27FC236}">
                <a16:creationId xmlns:a16="http://schemas.microsoft.com/office/drawing/2014/main" id="{C5A82F55-8F5E-40DE-BE56-3ADEF79B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990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Suitability [P]</a:t>
            </a:r>
          </a:p>
        </p:txBody>
      </p:sp>
      <p:sp>
        <p:nvSpPr>
          <p:cNvPr id="14" name="lane-1-5">
            <a:extLst xmlns:a="http://schemas.openxmlformats.org/drawingml/2006/main">
              <a:ext uri="{FF2B5EF4-FFF2-40B4-BE49-F238E27FC236}">
                <a16:creationId xmlns:a16="http://schemas.microsoft.com/office/drawing/2014/main" id="{590E9248-BC26-4E00-A17E-AAFA74F3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990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Catalogue [P]</a:t>
            </a:r>
          </a:p>
        </p:txBody>
      </p:sp>
      <p:sp>
        <p:nvSpPr>
          <p:cNvPr id="15" name="lane-1-6">
            <a:extLst xmlns:a="http://schemas.openxmlformats.org/drawingml/2006/main">
              <a:ext uri="{FF2B5EF4-FFF2-40B4-BE49-F238E27FC236}">
                <a16:creationId xmlns:a16="http://schemas.microsoft.com/office/drawing/2014/main" id="{656DDBF9-77E6-4A5C-8B68-32FF115A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990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Journey [P]</a:t>
            </a:r>
          </a:p>
        </p:txBody>
      </p:sp>
      <p:sp>
        <p:nvSpPr>
          <p:cNvPr id="16" name="lane-1-7">
            <a:extLst xmlns:a="http://schemas.openxmlformats.org/drawingml/2006/main">
              <a:ext uri="{FF2B5EF4-FFF2-40B4-BE49-F238E27FC236}">
                <a16:creationId xmlns:a16="http://schemas.microsoft.com/office/drawing/2014/main" id="{3F68ED12-8ADB-49CD-8C83-9A13467C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990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Quotation [P]</a:t>
            </a:r>
          </a:p>
        </p:txBody>
      </p:sp>
      <p:sp>
        <p:nvSpPr>
          <p:cNvPr id="17" name="lane-1-8">
            <a:extLst xmlns:a="http://schemas.openxmlformats.org/drawingml/2006/main">
              <a:ext uri="{FF2B5EF4-FFF2-40B4-BE49-F238E27FC236}">
                <a16:creationId xmlns:a16="http://schemas.microsoft.com/office/drawing/2014/main" id="{E2E02403-F697-4E52-B9F1-90C4A9C4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81250"/>
            <a:ext cx="990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Proposal/UW [P]</a:t>
            </a:r>
          </a:p>
        </p:txBody>
      </p:sp>
      <p:sp>
        <p:nvSpPr>
          <p:cNvPr id="18" name="lane-bg-2">
            <a:extLst xmlns:a="http://schemas.openxmlformats.org/drawingml/2006/main">
              <a:ext uri="{FF2B5EF4-FFF2-40B4-BE49-F238E27FC236}">
                <a16:creationId xmlns:a16="http://schemas.microsoft.com/office/drawing/2014/main" id="{8403725A-580B-450E-B7C9-1D948619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lane-label-2">
            <a:extLst xmlns:a="http://schemas.openxmlformats.org/drawingml/2006/main">
              <a:ext uri="{FF2B5EF4-FFF2-40B4-BE49-F238E27FC236}">
                <a16:creationId xmlns:a16="http://schemas.microsoft.com/office/drawing/2014/main" id="{51913CC4-27D4-495B-9B98-4877E85D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43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FULFILMENT</a:t>
            </a:r>
          </a:p>
        </p:txBody>
      </p:sp>
      <p:sp>
        <p:nvSpPr>
          <p:cNvPr id="20" name="lane-2-0">
            <a:extLst xmlns:a="http://schemas.openxmlformats.org/drawingml/2006/main">
              <a:ext uri="{FF2B5EF4-FFF2-40B4-BE49-F238E27FC236}">
                <a16:creationId xmlns:a16="http://schemas.microsoft.com/office/drawing/2014/main" id="{B5643A3C-867A-4943-AA17-5ADFC28A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43300"/>
            <a:ext cx="472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Payment [P]</a:t>
            </a:r>
          </a:p>
        </p:txBody>
      </p:sp>
      <p:sp>
        <p:nvSpPr>
          <p:cNvPr id="21" name="lane-2-1">
            <a:extLst xmlns:a="http://schemas.openxmlformats.org/drawingml/2006/main">
              <a:ext uri="{FF2B5EF4-FFF2-40B4-BE49-F238E27FC236}">
                <a16:creationId xmlns:a16="http://schemas.microsoft.com/office/drawing/2014/main" id="{E294196C-8DF0-410C-AAF0-78D72253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472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+ Issuance [P]</a:t>
            </a:r>
          </a:p>
        </p:txBody>
      </p:sp>
      <p:sp>
        <p:nvSpPr>
          <p:cNvPr id="22" name="lane-bg-3">
            <a:extLst xmlns:a="http://schemas.openxmlformats.org/drawingml/2006/main">
              <a:ext uri="{FF2B5EF4-FFF2-40B4-BE49-F238E27FC236}">
                <a16:creationId xmlns:a16="http://schemas.microsoft.com/office/drawing/2014/main" id="{1435A373-3A66-4933-B0FB-3832EB95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lane-label-3">
            <a:extLst xmlns:a="http://schemas.openxmlformats.org/drawingml/2006/main">
              <a:ext uri="{FF2B5EF4-FFF2-40B4-BE49-F238E27FC236}">
                <a16:creationId xmlns:a16="http://schemas.microsoft.com/office/drawing/2014/main" id="{83A2C33D-6923-4A69-956E-416EAAB6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434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24" name="lane-3-0">
            <a:extLst xmlns:a="http://schemas.openxmlformats.org/drawingml/2006/main">
              <a:ext uri="{FF2B5EF4-FFF2-40B4-BE49-F238E27FC236}">
                <a16:creationId xmlns:a16="http://schemas.microsoft.com/office/drawing/2014/main" id="{B5AABA21-42DF-4B96-89FE-12F5FE29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434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Integration Hub [P]</a:t>
            </a:r>
          </a:p>
        </p:txBody>
      </p:sp>
      <p:sp>
        <p:nvSpPr>
          <p:cNvPr id="25" name="lane-3-1">
            <a:extLst xmlns:a="http://schemas.openxmlformats.org/drawingml/2006/main">
              <a:ext uri="{FF2B5EF4-FFF2-40B4-BE49-F238E27FC236}">
                <a16:creationId xmlns:a16="http://schemas.microsoft.com/office/drawing/2014/main" id="{59B1A1ED-3BE1-4FAE-A0DF-45BF57B9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434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1SB adapter [I]</a:t>
            </a:r>
          </a:p>
        </p:txBody>
      </p:sp>
      <p:sp>
        <p:nvSpPr>
          <p:cNvPr id="26" name="lane-3-2">
            <a:extLst xmlns:a="http://schemas.openxmlformats.org/drawingml/2006/main">
              <a:ext uri="{FF2B5EF4-FFF2-40B4-BE49-F238E27FC236}">
                <a16:creationId xmlns:a16="http://schemas.microsoft.com/office/drawing/2014/main" id="{9390AEDF-F39E-4EFB-BE8E-8EFE52DE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434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Persistence [I]</a:t>
            </a:r>
          </a:p>
        </p:txBody>
      </p:sp>
      <p:sp>
        <p:nvSpPr>
          <p:cNvPr id="27" name="lane-3-3">
            <a:extLst xmlns:a="http://schemas.openxmlformats.org/drawingml/2006/main">
              <a:ext uri="{FF2B5EF4-FFF2-40B4-BE49-F238E27FC236}">
                <a16:creationId xmlns:a16="http://schemas.microsoft.com/office/drawing/2014/main" id="{4A8D565A-D39B-4851-AFD4-876B3BC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434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5C647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insurer [F]</a:t>
            </a:r>
          </a:p>
        </p:txBody>
      </p:sp>
      <p:sp>
        <p:nvSpPr>
          <p:cNvPr id="28" name="lane-bg-4">
            <a:extLst xmlns:a="http://schemas.openxmlformats.org/drawingml/2006/main">
              <a:ext uri="{FF2B5EF4-FFF2-40B4-BE49-F238E27FC236}">
                <a16:creationId xmlns:a16="http://schemas.microsoft.com/office/drawing/2014/main" id="{F8DA69D8-C453-4982-ABFF-1FAF4C0D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lane-label-4">
            <a:extLst xmlns:a="http://schemas.openxmlformats.org/drawingml/2006/main">
              <a:ext uri="{FF2B5EF4-FFF2-40B4-BE49-F238E27FC236}">
                <a16:creationId xmlns:a16="http://schemas.microsoft.com/office/drawing/2014/main" id="{45011A7C-FD5D-4110-9D90-B1A9CEF9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PLATFORM + CROSS-CUTTING</a:t>
            </a:r>
          </a:p>
        </p:txBody>
      </p:sp>
      <p:sp>
        <p:nvSpPr>
          <p:cNvPr id="30" name="lane-4-0">
            <a:extLst xmlns:a="http://schemas.openxmlformats.org/drawingml/2006/main">
              <a:ext uri="{FF2B5EF4-FFF2-40B4-BE49-F238E27FC236}">
                <a16:creationId xmlns:a16="http://schemas.microsoft.com/office/drawing/2014/main" id="{EA5AD8E9-DF33-4322-A042-4BC30242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43500"/>
            <a:ext cx="18440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 [P]</a:t>
            </a:r>
          </a:p>
        </p:txBody>
      </p:sp>
      <p:sp>
        <p:nvSpPr>
          <p:cNvPr id="31" name="lane-4-1">
            <a:extLst xmlns:a="http://schemas.openxmlformats.org/drawingml/2006/main">
              <a:ext uri="{FF2B5EF4-FFF2-40B4-BE49-F238E27FC236}">
                <a16:creationId xmlns:a16="http://schemas.microsoft.com/office/drawing/2014/main" id="{82DD4C3E-365D-4538-AEF6-7298362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690" y="5143500"/>
            <a:ext cx="18440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Notification [P]</a:t>
            </a:r>
          </a:p>
        </p:txBody>
      </p:sp>
      <p:sp>
        <p:nvSpPr>
          <p:cNvPr id="32" name="lane-4-2">
            <a:extLst xmlns:a="http://schemas.openxmlformats.org/drawingml/2006/main">
              <a:ext uri="{FF2B5EF4-FFF2-40B4-BE49-F238E27FC236}">
                <a16:creationId xmlns:a16="http://schemas.microsoft.com/office/drawing/2014/main" id="{756AC9F6-48B7-41B9-B9E8-30B966D2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5143500"/>
            <a:ext cx="18440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Reporting/MIS [P]</a:t>
            </a:r>
          </a:p>
        </p:txBody>
      </p:sp>
      <p:sp>
        <p:nvSpPr>
          <p:cNvPr id="33" name="lane-4-3">
            <a:extLst xmlns:a="http://schemas.openxmlformats.org/drawingml/2006/main">
              <a:ext uri="{FF2B5EF4-FFF2-40B4-BE49-F238E27FC236}">
                <a16:creationId xmlns:a16="http://schemas.microsoft.com/office/drawing/2014/main" id="{747B32F0-AB9F-4E4A-AC88-00CB46C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5143500"/>
            <a:ext cx="18440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Admin/Config [P]</a:t>
            </a:r>
          </a:p>
        </p:txBody>
      </p:sp>
      <p:sp>
        <p:nvSpPr>
          <p:cNvPr id="34" name="lane-4-4">
            <a:extLst xmlns:a="http://schemas.openxmlformats.org/drawingml/2006/main">
              <a:ext uri="{FF2B5EF4-FFF2-40B4-BE49-F238E27FC236}">
                <a16:creationId xmlns:a16="http://schemas.microsoft.com/office/drawing/2014/main" id="{C3AB4E3D-97D2-4280-AB93-A68B7621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0" y="5143500"/>
            <a:ext cx="18440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Observability [P]</a:t>
            </a:r>
          </a:p>
        </p:txBody>
      </p:sp>
      <p:sp>
        <p:nvSpPr>
          <p:cNvPr id="35" name="arch-rule">
            <a:extLst xmlns:a="http://schemas.openxmlformats.org/drawingml/2006/main">
              <a:ext uri="{FF2B5EF4-FFF2-40B4-BE49-F238E27FC236}">
                <a16:creationId xmlns:a16="http://schemas.microsoft.com/office/drawing/2014/main" id="{F793C895-2237-4BD0-86DF-EA3DBDFC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0550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15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Every business domain owns its write model. Provider-specific types stop at the adapter boundary.</a:t>
            </a:r>
          </a:p>
        </p:txBody>
      </p:sp>
      <p:sp>
        <p:nvSpPr>
          <p:cNvPr id="36" name="footer-5">
            <a:extLst xmlns:a="http://schemas.openxmlformats.org/drawingml/2006/main">
              <a:ext uri="{FF2B5EF4-FFF2-40B4-BE49-F238E27FC236}">
                <a16:creationId xmlns:a16="http://schemas.microsoft.com/office/drawing/2014/main" id="{694AD453-6717-4513-8CB6-61226CC8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67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6">
            <a:extLst xmlns:a="http://schemas.openxmlformats.org/drawingml/2006/main">
              <a:ext uri="{FF2B5EF4-FFF2-40B4-BE49-F238E27FC236}">
                <a16:creationId xmlns:a16="http://schemas.microsoft.com/office/drawing/2014/main" id="{4C1C7375-E4D4-4EC7-84E0-11688464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unresolved boundaries keep the target count at 21–22</a:t>
            </a:r>
          </a:p>
        </p:txBody>
      </p:sp>
      <p:sp>
        <p:nvSpPr>
          <p:cNvPr id="2" name="count-h-0">
            <a:extLst xmlns:a="http://schemas.openxmlformats.org/drawingml/2006/main">
              <a:ext uri="{FF2B5EF4-FFF2-40B4-BE49-F238E27FC236}">
                <a16:creationId xmlns:a16="http://schemas.microsoft.com/office/drawing/2014/main" id="{C76C8AA8-62B2-461F-804F-FC0A5AE4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3" name="count-n-0">
            <a:extLst xmlns:a="http://schemas.openxmlformats.org/drawingml/2006/main">
              <a:ext uri="{FF2B5EF4-FFF2-40B4-BE49-F238E27FC236}">
                <a16:creationId xmlns:a16="http://schemas.microsoft.com/office/drawing/2014/main" id="{58102E7F-51C1-42BA-88C4-D4CC8C9E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count-b-0">
            <a:extLst xmlns:a="http://schemas.openxmlformats.org/drawingml/2006/main">
              <a:ext uri="{FF2B5EF4-FFF2-40B4-BE49-F238E27FC236}">
                <a16:creationId xmlns:a16="http://schemas.microsoft.com/office/drawing/2014/main" id="{BC5A48AF-E95D-4A90-A160-0EA5D03C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integration services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workforce-identity services</a:t>
            </a:r>
          </a:p>
        </p:txBody>
      </p:sp>
      <p:sp>
        <p:nvSpPr>
          <p:cNvPr id="5" name="count-div-0">
            <a:extLst xmlns:a="http://schemas.openxmlformats.org/drawingml/2006/main">
              <a:ext uri="{FF2B5EF4-FFF2-40B4-BE49-F238E27FC236}">
                <a16:creationId xmlns:a16="http://schemas.microsoft.com/office/drawing/2014/main" id="{D879644B-64DC-448B-8AF1-3DCB4937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14500"/>
            <a:ext cx="0" cy="3381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ount-h-1">
            <a:extLst xmlns:a="http://schemas.openxmlformats.org/drawingml/2006/main">
              <a:ext uri="{FF2B5EF4-FFF2-40B4-BE49-F238E27FC236}">
                <a16:creationId xmlns:a16="http://schemas.microsoft.com/office/drawing/2014/main" id="{39260EF2-354C-4A8C-A1EE-D5F108B7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ORIGINAL CATALOGUE</a:t>
            </a:r>
          </a:p>
        </p:txBody>
      </p:sp>
      <p:sp>
        <p:nvSpPr>
          <p:cNvPr id="7" name="count-n-1">
            <a:extLst xmlns:a="http://schemas.openxmlformats.org/drawingml/2006/main">
              <a:ext uri="{FF2B5EF4-FFF2-40B4-BE49-F238E27FC236}">
                <a16:creationId xmlns:a16="http://schemas.microsoft.com/office/drawing/2014/main" id="{536A5000-D097-41D4-8B63-0BFBB558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43125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" name="count-b-1">
            <a:extLst xmlns:a="http://schemas.openxmlformats.org/drawingml/2006/main">
              <a:ext uri="{FF2B5EF4-FFF2-40B4-BE49-F238E27FC236}">
                <a16:creationId xmlns:a16="http://schemas.microsoft.com/office/drawing/2014/main" id="{C7459BD8-FA38-4D31-ACE9-3D9AA3B3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 logic/state services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edge BFFs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routing layer</a:t>
            </a:r>
          </a:p>
        </p:txBody>
      </p:sp>
      <p:sp>
        <p:nvSpPr>
          <p:cNvPr id="9" name="count-div-1">
            <a:extLst xmlns:a="http://schemas.openxmlformats.org/drawingml/2006/main">
              <a:ext uri="{FF2B5EF4-FFF2-40B4-BE49-F238E27FC236}">
                <a16:creationId xmlns:a16="http://schemas.microsoft.com/office/drawing/2014/main" id="{80C5901A-5546-42DE-9004-5CDC8B85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14500"/>
            <a:ext cx="0" cy="3381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ount-h-2">
            <a:extLst xmlns:a="http://schemas.openxmlformats.org/drawingml/2006/main">
              <a:ext uri="{FF2B5EF4-FFF2-40B4-BE49-F238E27FC236}">
                <a16:creationId xmlns:a16="http://schemas.microsoft.com/office/drawing/2014/main" id="{E48D06B1-CAD1-46B9-95AA-0329060E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RECONCILED TARGET</a:t>
            </a:r>
          </a:p>
        </p:txBody>
      </p:sp>
      <p:sp>
        <p:nvSpPr>
          <p:cNvPr id="11" name="count-n-2">
            <a:extLst xmlns:a="http://schemas.openxmlformats.org/drawingml/2006/main">
              <a:ext uri="{FF2B5EF4-FFF2-40B4-BE49-F238E27FC236}">
                <a16:creationId xmlns:a16="http://schemas.microsoft.com/office/drawing/2014/main" id="{5247A700-0F5E-42AF-9584-C3700339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43125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21–22</a:t>
            </a:r>
          </a:p>
        </p:txBody>
      </p:sp>
      <p:sp>
        <p:nvSpPr>
          <p:cNvPr id="12" name="count-b-2">
            <a:extLst xmlns:a="http://schemas.openxmlformats.org/drawingml/2006/main">
              <a:ext uri="{FF2B5EF4-FFF2-40B4-BE49-F238E27FC236}">
                <a16:creationId xmlns:a16="http://schemas.microsoft.com/office/drawing/2014/main" id="{9364FC19-EC89-4F87-91A6-1275A552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242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Identity reconciliation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 separate persistence deployable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Pending Q-01 and Q-03</a:t>
            </a:r>
          </a:p>
        </p:txBody>
      </p:sp>
      <p:sp>
        <p:nvSpPr>
          <p:cNvPr id="13" name="count-message">
            <a:extLst xmlns:a="http://schemas.openxmlformats.org/drawingml/2006/main">
              <a:ext uri="{FF2B5EF4-FFF2-40B4-BE49-F238E27FC236}">
                <a16:creationId xmlns:a16="http://schemas.microsoft.com/office/drawing/2014/main" id="{B15C8101-A669-40EE-AAE7-156D3676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 capability boundaries and sequencing. Finalize the exact deployable count only after the BFF and persistence decisions.</a:t>
            </a:r>
          </a:p>
        </p:txBody>
      </p:sp>
      <p:sp>
        <p:nvSpPr>
          <p:cNvPr id="14" name="footer-6">
            <a:extLst xmlns:a="http://schemas.openxmlformats.org/drawingml/2006/main">
              <a:ext uri="{FF2B5EF4-FFF2-40B4-BE49-F238E27FC236}">
                <a16:creationId xmlns:a16="http://schemas.microsoft.com/office/drawing/2014/main" id="{3BEFAE5C-EC64-48E8-8561-BB2326CD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4029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7">
            <a:extLst xmlns:a="http://schemas.openxmlformats.org/drawingml/2006/main">
              <a:ext uri="{FF2B5EF4-FFF2-40B4-BE49-F238E27FC236}">
                <a16:creationId xmlns:a16="http://schemas.microsoft.com/office/drawing/2014/main" id="{0A49A825-224F-4110-8D70-94263ED0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1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bank-owned journey supports in-platform and redirect sales</a:t>
            </a:r>
          </a:p>
        </p:txBody>
      </p:sp>
      <p:sp>
        <p:nvSpPr>
          <p:cNvPr id="2" name="wf-channel">
            <a:extLst xmlns:a="http://schemas.openxmlformats.org/drawingml/2006/main">
              <a:ext uri="{FF2B5EF4-FFF2-40B4-BE49-F238E27FC236}">
                <a16:creationId xmlns:a16="http://schemas.microsoft.com/office/drawing/2014/main" id="{7F4A1AAD-5CFC-4218-9449-1FD2F6ED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190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RM or customer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channel [P]</a:t>
            </a:r>
          </a:p>
        </p:txBody>
      </p:sp>
      <p:sp>
        <p:nvSpPr>
          <p:cNvPr id="3" name="wf-identity">
            <a:extLst xmlns:a="http://schemas.openxmlformats.org/drawingml/2006/main">
              <a:ext uri="{FF2B5EF4-FFF2-40B4-BE49-F238E27FC236}">
                <a16:creationId xmlns:a16="http://schemas.microsoft.com/office/drawing/2014/main" id="{CEB0C275-B352-460B-9AF4-5284D728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9075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Identity +</a:t>
            </a:r>
          </a:p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authorization [A/I]</a:t>
            </a:r>
          </a:p>
        </p:txBody>
      </p:sp>
      <p:sp>
        <p:nvSpPr>
          <p:cNvPr id="4" name="wf-journey">
            <a:extLst xmlns:a="http://schemas.openxmlformats.org/drawingml/2006/main">
              <a:ext uri="{FF2B5EF4-FFF2-40B4-BE49-F238E27FC236}">
                <a16:creationId xmlns:a16="http://schemas.microsoft.com/office/drawing/2014/main" id="{E9084A16-6B9C-41D5-A0C6-F7C9F174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+ lead +</a:t>
            </a:r>
          </a:p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journey [P]</a:t>
            </a:r>
          </a:p>
        </p:txBody>
      </p:sp>
      <p:sp>
        <p:nvSpPr>
          <p:cNvPr id="5" name="wf-gates">
            <a:extLst xmlns:a="http://schemas.openxmlformats.org/drawingml/2006/main">
              <a:ext uri="{FF2B5EF4-FFF2-40B4-BE49-F238E27FC236}">
                <a16:creationId xmlns:a16="http://schemas.microsoft.com/office/drawing/2014/main" id="{14D3E50B-7F69-4851-8BAB-5DFF61A2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76450"/>
            <a:ext cx="1104900" cy="952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E0E0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613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Consent +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suitability [P]</a:t>
            </a:r>
          </a:p>
        </p:txBody>
      </p:sp>
      <p:sp>
        <p:nvSpPr>
          <p:cNvPr id="6" name="wf-cat">
            <a:extLst xmlns:a="http://schemas.openxmlformats.org/drawingml/2006/main">
              <a:ext uri="{FF2B5EF4-FFF2-40B4-BE49-F238E27FC236}">
                <a16:creationId xmlns:a16="http://schemas.microsoft.com/office/drawing/2014/main" id="{DCEB28A3-F0C4-4A81-8A32-480C6704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1381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Catalogue +</a:t>
            </a:r>
          </a:p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recommendation [P]</a:t>
            </a:r>
          </a:p>
        </p:txBody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590675" y="25527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90875" y="25527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810125" y="25527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200775" y="255270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sp>
        <p:nvSpPr>
          <p:cNvPr id="11" name="wf-ga">
            <a:extLst xmlns:a="http://schemas.openxmlformats.org/drawingml/2006/main">
              <a:ext uri="{FF2B5EF4-FFF2-40B4-BE49-F238E27FC236}">
                <a16:creationId xmlns:a16="http://schemas.microsoft.com/office/drawing/2014/main" id="{2AEDA4CD-DDAD-44F9-9E69-84FA073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3095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 A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Quote → proposal/UW → customer payment → policy</a:t>
            </a:r>
          </a:p>
        </p:txBody>
      </p:sp>
      <p:sp>
        <p:nvSpPr>
          <p:cNvPr id="12" name="wf-gb">
            <a:extLst xmlns:a="http://schemas.openxmlformats.org/drawingml/2006/main">
              <a:ext uri="{FF2B5EF4-FFF2-40B4-BE49-F238E27FC236}">
                <a16:creationId xmlns:a16="http://schemas.microsoft.com/office/drawing/2014/main" id="{06D80C8B-78BC-4EB2-9F66-89D2F5FD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3095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5C647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 B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 recommendation + audit, then redirect externally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858125" y="1990725"/>
            <a:ext cx="428625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58125" y="2552700"/>
            <a:ext cx="428625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sp>
        <p:nvSpPr>
          <p:cNvPr id="15" name="wf-hub">
            <a:extLst xmlns:a="http://schemas.openxmlformats.org/drawingml/2006/main">
              <a:ext uri="{FF2B5EF4-FFF2-40B4-BE49-F238E27FC236}">
                <a16:creationId xmlns:a16="http://schemas.microsoft.com/office/drawing/2014/main" id="{6E65467D-D00D-4D97-B85F-751C48CB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Integration Hub [P] → 1SB adapter [I] → 1SB / insurers [X]</a:t>
            </a:r>
          </a:p>
        </p:txBody>
      </p:sp>
      <p:cxnSp>
        <p:nvCxnSpPr>
          <p:cNvPr id="38" name=""/>
          <p:cNvCxnSpPr>
            <a:stCxn xmlns:a="http://schemas.openxmlformats.org/drawingml/2006/main" id="11" idx="2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9144000" y="2409825"/>
            <a:ext cx="690563" cy="17907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sp>
        <p:nvSpPr>
          <p:cNvPr id="17" name="wf-sold">
            <a:extLst xmlns:a="http://schemas.openxmlformats.org/drawingml/2006/main">
              <a:ext uri="{FF2B5EF4-FFF2-40B4-BE49-F238E27FC236}">
                <a16:creationId xmlns:a16="http://schemas.microsoft.com/office/drawing/2014/main" id="{93820AB9-35A9-4F32-B7CE-8C72C682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10125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SOLD = issued + bank confirmed + reconcilable + ops-trackable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7058025" y="4200525"/>
            <a:ext cx="2314575" cy="8953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6794F"/>
            </a:solidFill>
            <a:prstDash val="solid"/>
            <a:tailEnd type="arrow" w="sm" len="sm"/>
          </a:ln>
        </p:spPr>
      </p:cxnSp>
      <p:sp>
        <p:nvSpPr>
          <p:cNvPr id="19" name="wf-event-rail">
            <a:extLst xmlns:a="http://schemas.openxmlformats.org/drawingml/2006/main">
              <a:ext uri="{FF2B5EF4-FFF2-40B4-BE49-F238E27FC236}">
                <a16:creationId xmlns:a16="http://schemas.microsoft.com/office/drawing/2014/main" id="{4C7147C0-A260-404D-90BA-D1F5E5E2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dash"/>
          </a:ln>
        </p:spPr>
      </p:sp>
      <p:sp>
        <p:nvSpPr>
          <p:cNvPr id="20" name="wf-event-label">
            <a:extLst xmlns:a="http://schemas.openxmlformats.org/drawingml/2006/main">
              <a:ext uri="{FF2B5EF4-FFF2-40B4-BE49-F238E27FC236}">
                <a16:creationId xmlns:a16="http://schemas.microsoft.com/office/drawing/2014/main" id="{DDCC80CB-5309-4BF3-94C8-BC2D0298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PROPOSED ASYNC EVENT RAIL   →   Audit evidence   →   Notifications   →   Reporting/MIS   →   Journey resume</a:t>
            </a:r>
          </a:p>
        </p:txBody>
      </p:sp>
      <p:sp>
        <p:nvSpPr>
          <p:cNvPr id="21" name="eyebrow-7">
            <a:extLst xmlns:a="http://schemas.openxmlformats.org/drawingml/2006/main">
              <a:ext uri="{FF2B5EF4-FFF2-40B4-BE49-F238E27FC236}">
                <a16:creationId xmlns:a16="http://schemas.microsoft.com/office/drawing/2014/main" id="{E7C0D67E-C7B2-4C77-BAAF-A68DB9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TARGET WORKFLOW · MERMAID SOURCE IN DOC-007</a:t>
            </a:r>
          </a:p>
        </p:txBody>
      </p:sp>
      <p:sp>
        <p:nvSpPr>
          <p:cNvPr id="22" name="footer-7">
            <a:extLst xmlns:a="http://schemas.openxmlformats.org/drawingml/2006/main">
              <a:ext uri="{FF2B5EF4-FFF2-40B4-BE49-F238E27FC236}">
                <a16:creationId xmlns:a16="http://schemas.microsoft.com/office/drawing/2014/main" id="{55E1C7B4-83EA-474E-8C7F-D0F3DAB1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3207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8">
            <a:extLst xmlns:a="http://schemas.openxmlformats.org/drawingml/2006/main">
              <a:ext uri="{FF2B5EF4-FFF2-40B4-BE49-F238E27FC236}">
                <a16:creationId xmlns:a16="http://schemas.microsoft.com/office/drawing/2014/main" id="{0B43BEFD-6141-4FC2-B76A-A7296010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Provider work pauses safely and resumes from durable state</a:t>
            </a:r>
          </a:p>
        </p:txBody>
      </p:sp>
      <p:sp>
        <p:nvSpPr>
          <p:cNvPr id="2" name="async-l-0">
            <a:extLst xmlns:a="http://schemas.openxmlformats.org/drawingml/2006/main">
              <a:ext uri="{FF2B5EF4-FFF2-40B4-BE49-F238E27FC236}">
                <a16:creationId xmlns:a16="http://schemas.microsoft.com/office/drawing/2014/main" id="{7AB45366-77D3-47BD-A255-985B3860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USER / BFF</a:t>
            </a:r>
          </a:p>
        </p:txBody>
      </p:sp>
      <p:sp>
        <p:nvSpPr>
          <p:cNvPr id="3" name="async-line-0">
            <a:extLst xmlns:a="http://schemas.openxmlformats.org/drawingml/2006/main">
              <a:ext uri="{FF2B5EF4-FFF2-40B4-BE49-F238E27FC236}">
                <a16:creationId xmlns:a16="http://schemas.microsoft.com/office/drawing/2014/main" id="{C6BC20C5-940A-47C4-A818-0E70B013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24050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async-l-1">
            <a:extLst xmlns:a="http://schemas.openxmlformats.org/drawingml/2006/main">
              <a:ext uri="{FF2B5EF4-FFF2-40B4-BE49-F238E27FC236}">
                <a16:creationId xmlns:a16="http://schemas.microsoft.com/office/drawing/2014/main" id="{5C14E0B3-23B4-45EC-9D13-2669C741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JOURNEY + DOMAIN</a:t>
            </a:r>
          </a:p>
        </p:txBody>
      </p:sp>
      <p:sp>
        <p:nvSpPr>
          <p:cNvPr id="5" name="async-line-1">
            <a:extLst xmlns:a="http://schemas.openxmlformats.org/drawingml/2006/main">
              <a:ext uri="{FF2B5EF4-FFF2-40B4-BE49-F238E27FC236}">
                <a16:creationId xmlns:a16="http://schemas.microsoft.com/office/drawing/2014/main" id="{5781A125-DAE5-467E-AB88-81C479DA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33675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sync-l-2">
            <a:extLst xmlns:a="http://schemas.openxmlformats.org/drawingml/2006/main">
              <a:ext uri="{FF2B5EF4-FFF2-40B4-BE49-F238E27FC236}">
                <a16:creationId xmlns:a16="http://schemas.microsoft.com/office/drawing/2014/main" id="{63C00A35-F396-4D2D-8147-F7F30A32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7" name="async-line-2">
            <a:extLst xmlns:a="http://schemas.openxmlformats.org/drawingml/2006/main">
              <a:ext uri="{FF2B5EF4-FFF2-40B4-BE49-F238E27FC236}">
                <a16:creationId xmlns:a16="http://schemas.microsoft.com/office/drawing/2014/main" id="{54B554CA-5EC7-4699-B40A-D1E3DA59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sync-l-3">
            <a:extLst xmlns:a="http://schemas.openxmlformats.org/drawingml/2006/main">
              <a:ext uri="{FF2B5EF4-FFF2-40B4-BE49-F238E27FC236}">
                <a16:creationId xmlns:a16="http://schemas.microsoft.com/office/drawing/2014/main" id="{6E1ABEE8-572B-4062-8BD5-B7FD94CD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EXTERNAL PROVIDER</a:t>
            </a:r>
          </a:p>
        </p:txBody>
      </p:sp>
      <p:sp>
        <p:nvSpPr>
          <p:cNvPr id="9" name="async-line-3">
            <a:extLst xmlns:a="http://schemas.openxmlformats.org/drawingml/2006/main">
              <a:ext uri="{FF2B5EF4-FFF2-40B4-BE49-F238E27FC236}">
                <a16:creationId xmlns:a16="http://schemas.microsoft.com/office/drawing/2014/main" id="{F19FEC93-E6EA-437A-A26E-F7555425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52925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async-l-4">
            <a:extLst xmlns:a="http://schemas.openxmlformats.org/drawingml/2006/main">
              <a:ext uri="{FF2B5EF4-FFF2-40B4-BE49-F238E27FC236}">
                <a16:creationId xmlns:a16="http://schemas.microsoft.com/office/drawing/2014/main" id="{A4BEC7B3-7EF8-492B-B0A6-B10A37FD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EVENT + SIDE EFFECTS</a:t>
            </a:r>
          </a:p>
        </p:txBody>
      </p:sp>
      <p:sp>
        <p:nvSpPr>
          <p:cNvPr id="11" name="async-line-4">
            <a:extLst xmlns:a="http://schemas.openxmlformats.org/drawingml/2006/main">
              <a:ext uri="{FF2B5EF4-FFF2-40B4-BE49-F238E27FC236}">
                <a16:creationId xmlns:a16="http://schemas.microsoft.com/office/drawing/2014/main" id="{DAEAC21A-9A5F-4701-8699-848336A4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62550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sync-stage-0">
            <a:extLst xmlns:a="http://schemas.openxmlformats.org/drawingml/2006/main">
              <a:ext uri="{FF2B5EF4-FFF2-40B4-BE49-F238E27FC236}">
                <a16:creationId xmlns:a16="http://schemas.microsoft.com/office/drawing/2014/main" id="{9872EFFC-149D-4E99-A4FE-09B4662E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66875"/>
            <a:ext cx="102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quote</a:t>
            </a:r>
          </a:p>
        </p:txBody>
      </p:sp>
      <p:sp>
        <p:nvSpPr>
          <p:cNvPr id="13" name="async-stage-1">
            <a:extLst xmlns:a="http://schemas.openxmlformats.org/drawingml/2006/main">
              <a:ext uri="{FF2B5EF4-FFF2-40B4-BE49-F238E27FC236}">
                <a16:creationId xmlns:a16="http://schemas.microsoft.com/office/drawing/2014/main" id="{C9A0548B-D87E-4B7E-AAE2-7EEB21F7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102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Persist job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return 202</a:t>
            </a:r>
          </a:p>
        </p:txBody>
      </p:sp>
      <p:sp>
        <p:nvSpPr>
          <p:cNvPr id="14" name="async-stage-2">
            <a:extLst xmlns:a="http://schemas.openxmlformats.org/drawingml/2006/main">
              <a:ext uri="{FF2B5EF4-FFF2-40B4-BE49-F238E27FC236}">
                <a16:creationId xmlns:a16="http://schemas.microsoft.com/office/drawing/2014/main" id="{EBF7A596-A8E2-4F1B-9CE1-E25CE638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86125"/>
            <a:ext cx="102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Route bank-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canonical request</a:t>
            </a:r>
          </a:p>
        </p:txBody>
      </p:sp>
      <p:sp>
        <p:nvSpPr>
          <p:cNvPr id="15" name="async-stage-3">
            <a:extLst xmlns:a="http://schemas.openxmlformats.org/drawingml/2006/main">
              <a:ext uri="{FF2B5EF4-FFF2-40B4-BE49-F238E27FC236}">
                <a16:creationId xmlns:a16="http://schemas.microsoft.com/office/drawing/2014/main" id="{2279FAD3-D93A-4417-A870-94356983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02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Provider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16" name="async-stage-4">
            <a:extLst xmlns:a="http://schemas.openxmlformats.org/drawingml/2006/main">
              <a:ext uri="{FF2B5EF4-FFF2-40B4-BE49-F238E27FC236}">
                <a16:creationId xmlns:a16="http://schemas.microsoft.com/office/drawing/2014/main" id="{1B65A8C2-E20F-479E-BF3C-93B4D6CF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86125"/>
            <a:ext cx="102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738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Callback / poll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completion</a:t>
            </a:r>
          </a:p>
        </p:txBody>
      </p:sp>
      <p:sp>
        <p:nvSpPr>
          <p:cNvPr id="17" name="async-stage-5">
            <a:extLst xmlns:a="http://schemas.openxmlformats.org/drawingml/2006/main">
              <a:ext uri="{FF2B5EF4-FFF2-40B4-BE49-F238E27FC236}">
                <a16:creationId xmlns:a16="http://schemas.microsoft.com/office/drawing/2014/main" id="{FFCE854C-ED6A-4BC8-B6CE-E5B25A3A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05375"/>
            <a:ext cx="102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948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Publish result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resume</a:t>
            </a:r>
          </a:p>
        </p:txBody>
      </p:sp>
      <p:sp>
        <p:nvSpPr>
          <p:cNvPr id="18" name="async-stage-6">
            <a:extLst xmlns:a="http://schemas.openxmlformats.org/drawingml/2006/main">
              <a:ext uri="{FF2B5EF4-FFF2-40B4-BE49-F238E27FC236}">
                <a16:creationId xmlns:a16="http://schemas.microsoft.com/office/drawing/2014/main" id="{4D0C8C0A-75E4-4AAA-8188-FC6322B5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0"/>
            <a:ext cx="102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stage</a:t>
            </a:r>
          </a:p>
        </p:txBody>
      </p:sp>
      <p:cxnSp>
        <p:nvCxnSpPr>
          <p:cNvPr id="4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362325" y="1933575"/>
            <a:ext cx="352425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43450" y="2743200"/>
            <a:ext cx="352425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124575" y="3552825"/>
            <a:ext cx="352425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505700" y="3552825"/>
            <a:ext cx="352425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dash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886825" y="3552825"/>
            <a:ext cx="352425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dash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10267950" y="2743200"/>
            <a:ext cx="352425" cy="2428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dash"/>
            <a:tailEnd type="arrow" w="sm" len="sm"/>
          </a:ln>
        </p:spPr>
      </p:cxnSp>
      <p:sp>
        <p:nvSpPr>
          <p:cNvPr id="25" name="async-repeats">
            <a:extLst xmlns:a="http://schemas.openxmlformats.org/drawingml/2006/main">
              <a:ext uri="{FF2B5EF4-FFF2-40B4-BE49-F238E27FC236}">
                <a16:creationId xmlns:a16="http://schemas.microsoft.com/office/drawing/2014/main" id="{6079B500-BD1F-4744-8582-158730FB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57875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6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acknowledgement → pause → callback/poll → resume pattern governs quote, underwriting and issuance.</a:t>
            </a:r>
          </a:p>
        </p:txBody>
      </p:sp>
      <p:sp>
        <p:nvSpPr>
          <p:cNvPr id="26" name="eyebrow-8">
            <a:extLst xmlns:a="http://schemas.openxmlformats.org/drawingml/2006/main">
              <a:ext uri="{FF2B5EF4-FFF2-40B4-BE49-F238E27FC236}">
                <a16:creationId xmlns:a16="http://schemas.microsoft.com/office/drawing/2014/main" id="{AFB70C68-B079-4AB0-A050-9C9C7E80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QUOTE-TO-POLICY WORKFLOW · MERMAID SOURCE IN DOC-007</a:t>
            </a:r>
          </a:p>
        </p:txBody>
      </p:sp>
      <p:sp>
        <p:nvSpPr>
          <p:cNvPr id="27" name="footer-8">
            <a:extLst xmlns:a="http://schemas.openxmlformats.org/drawingml/2006/main">
              <a:ext uri="{FF2B5EF4-FFF2-40B4-BE49-F238E27FC236}">
                <a16:creationId xmlns:a16="http://schemas.microsoft.com/office/drawing/2014/main" id="{635B4835-1CA0-4187-A5D3-8D0874EE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340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9">
            <a:extLst xmlns:a="http://schemas.openxmlformats.org/drawingml/2006/main">
              <a:ext uri="{FF2B5EF4-FFF2-40B4-BE49-F238E27FC236}">
                <a16:creationId xmlns:a16="http://schemas.microsoft.com/office/drawing/2014/main" id="{4B5F3F63-7399-48FA-BDAF-C828E1AF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1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Tokens stop at the BFF; business authorization stays bank-owned</a:t>
            </a:r>
          </a:p>
        </p:txBody>
      </p:sp>
      <p:sp>
        <p:nvSpPr>
          <p:cNvPr id="2" name="id-flutter">
            <a:extLst xmlns:a="http://schemas.openxmlformats.org/drawingml/2006/main">
              <a:ext uri="{FF2B5EF4-FFF2-40B4-BE49-F238E27FC236}">
                <a16:creationId xmlns:a16="http://schemas.microsoft.com/office/drawing/2014/main" id="{0E16E36B-2FCE-4FD0-BCAA-DE793E9A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Flutter / browser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opaque handle only</a:t>
            </a:r>
          </a:p>
        </p:txBody>
      </p:sp>
      <p:sp>
        <p:nvSpPr>
          <p:cNvPr id="3" name="id-bff">
            <a:extLst xmlns:a="http://schemas.openxmlformats.org/drawingml/2006/main">
              <a:ext uri="{FF2B5EF4-FFF2-40B4-BE49-F238E27FC236}">
                <a16:creationId xmlns:a16="http://schemas.microsoft.com/office/drawing/2014/main" id="{6F7CB86D-12BC-4DF0-B7E1-EA9BC107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workforce-access-bff [I]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encrypted session vault</a:t>
            </a:r>
          </a:p>
        </p:txBody>
      </p:sp>
      <p:sp>
        <p:nvSpPr>
          <p:cNvPr id="4" name="id-adapter">
            <a:extLst xmlns:a="http://schemas.openxmlformats.org/drawingml/2006/main">
              <a:ext uri="{FF2B5EF4-FFF2-40B4-BE49-F238E27FC236}">
                <a16:creationId xmlns:a16="http://schemas.microsoft.com/office/drawing/2014/main" id="{9FEECD5C-932E-4CFA-8242-B63499DC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19250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IdP adapter [I]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provider-neutral contract</a:t>
            </a:r>
          </a:p>
        </p:txBody>
      </p:sp>
      <p:sp>
        <p:nvSpPr>
          <p:cNvPr id="5" name="id-keycloak">
            <a:extLst xmlns:a="http://schemas.openxmlformats.org/drawingml/2006/main">
              <a:ext uri="{FF2B5EF4-FFF2-40B4-BE49-F238E27FC236}">
                <a16:creationId xmlns:a16="http://schemas.microsoft.com/office/drawing/2014/main" id="{006B57CF-F51B-463B-A16A-F6143CF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Keycloak [I]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credentials + ceremonies</a:t>
            </a:r>
          </a:p>
        </p:txBody>
      </p:sp>
      <p:sp>
        <p:nvSpPr>
          <p:cNvPr id="6" name="id-authz">
            <a:extLst xmlns:a="http://schemas.openxmlformats.org/drawingml/2006/main">
              <a:ext uri="{FF2B5EF4-FFF2-40B4-BE49-F238E27FC236}">
                <a16:creationId xmlns:a16="http://schemas.microsoft.com/office/drawing/2014/main" id="{31982332-15C7-4890-999D-331B1A51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76625"/>
            <a:ext cx="1952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Authorization PDP [I]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RBAC + ABAC + scope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default deny</a:t>
            </a:r>
          </a:p>
        </p:txBody>
      </p:sp>
      <p:sp>
        <p:nvSpPr>
          <p:cNvPr id="7" name="id-domain">
            <a:extLst xmlns:a="http://schemas.openxmlformats.org/drawingml/2006/main">
              <a:ext uri="{FF2B5EF4-FFF2-40B4-BE49-F238E27FC236}">
                <a16:creationId xmlns:a16="http://schemas.microsoft.com/office/drawing/2014/main" id="{A44AA6CD-EE32-4BD4-BE4F-518A58A1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718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BFF + domain PEPs [P]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re-check sensitive actions</a:t>
            </a:r>
          </a:p>
        </p:txBody>
      </p:sp>
      <p:cxnSp>
        <p:nvCxnSpPr>
          <p:cNvPr id="2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019300" y="28479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sm" len="sm"/>
          </a:ln>
        </p:spPr>
      </p:cxnSp>
      <p:cxnSp>
        <p:nvCxnSpPr>
          <p:cNvPr id="2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4476750" y="2038350"/>
            <a:ext cx="457200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886575" y="20383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26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2847975"/>
            <a:ext cx="45720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94F"/>
            </a:solidFill>
            <a:prstDash val="solid"/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886575" y="3981450"/>
            <a:ext cx="4476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94F"/>
            </a:solidFill>
            <a:prstDash val="solid"/>
            <a:tailEnd type="arrow" w="sm" len="sm"/>
          </a:ln>
        </p:spPr>
      </p:cxnSp>
      <p:sp>
        <p:nvSpPr>
          <p:cNvPr id="13" name="id-never">
            <a:extLst xmlns:a="http://schemas.openxmlformats.org/drawingml/2006/main">
              <a:ext uri="{FF2B5EF4-FFF2-40B4-BE49-F238E27FC236}">
                <a16:creationId xmlns:a16="http://schemas.microsoft.com/office/drawing/2014/main" id="{94D92493-538E-438B-A29B-9A7FE78D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E0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NEVER: expose OAuth access/refresh tokens to Flutter, expose Keycloak directly, or use the IdP as the business authorization source of truth.</a:t>
            </a:r>
          </a:p>
        </p:txBody>
      </p:sp>
      <p:sp>
        <p:nvSpPr>
          <p:cNvPr id="14" name="eyebrow-9">
            <a:extLst xmlns:a="http://schemas.openxmlformats.org/drawingml/2006/main">
              <a:ext uri="{FF2B5EF4-FFF2-40B4-BE49-F238E27FC236}">
                <a16:creationId xmlns:a16="http://schemas.microsoft.com/office/drawing/2014/main" id="{68C38601-5F7F-4335-8437-EA6C00CA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WORKFORCE IDENTITY WORKFLOW · ACCEPTED / IMPLEMENTED FOUNDATION</a:t>
            </a:r>
          </a:p>
        </p:txBody>
      </p:sp>
      <p:sp>
        <p:nvSpPr>
          <p:cNvPr id="15" name="footer-9">
            <a:extLst xmlns:a="http://schemas.openxmlformats.org/drawingml/2006/main">
              <a:ext uri="{FF2B5EF4-FFF2-40B4-BE49-F238E27FC236}">
                <a16:creationId xmlns:a16="http://schemas.microsoft.com/office/drawing/2014/main" id="{B0573E4D-FECE-46EE-B1F5-82027F7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432839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0">
            <a:extLst xmlns:a="http://schemas.openxmlformats.org/drawingml/2006/main">
              <a:ext uri="{FF2B5EF4-FFF2-40B4-BE49-F238E27FC236}">
                <a16:creationId xmlns:a16="http://schemas.microsoft.com/office/drawing/2014/main" id="{E49AB7E0-4866-4BFD-BE54-4070830D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6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 ownership drives the backend, cache and communication choice</a:t>
            </a:r>
          </a:p>
        </p:txBody>
      </p:sp>
      <p:sp>
        <p:nvSpPr>
          <p:cNvPr id="2" name="dch-0">
            <a:extLst xmlns:a="http://schemas.openxmlformats.org/drawingml/2006/main">
              <a:ext uri="{FF2B5EF4-FFF2-40B4-BE49-F238E27FC236}">
                <a16:creationId xmlns:a16="http://schemas.microsoft.com/office/drawing/2014/main" id="{B1B80BA5-ECC2-4F9E-83FB-D7A7D58D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AUTHORITATIVE STATE</a:t>
            </a:r>
          </a:p>
        </p:txBody>
      </p:sp>
      <p:sp>
        <p:nvSpPr>
          <p:cNvPr id="3" name="dcv-0">
            <a:extLst xmlns:a="http://schemas.openxmlformats.org/drawingml/2006/main">
              <a:ext uri="{FF2B5EF4-FFF2-40B4-BE49-F238E27FC236}">
                <a16:creationId xmlns:a16="http://schemas.microsoft.com/office/drawing/2014/main" id="{CE8B59AA-7116-4FA4-8F44-9512877E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7162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dcb-0">
            <a:extLst xmlns:a="http://schemas.openxmlformats.org/drawingml/2006/main">
              <a:ext uri="{FF2B5EF4-FFF2-40B4-BE49-F238E27FC236}">
                <a16:creationId xmlns:a16="http://schemas.microsoft.com/office/drawing/2014/main" id="{B788BDF8-51AA-4ECB-9F87-05E69FB7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3337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Aurora PostgreSQL [P]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Relational, long-lived business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DynamoDB [P]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High-churn journey/job/routing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S3 [P]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Documents, archive and reporting lake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integration store [I]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PostgreSQL through bank-persistence only</a:t>
            </a:r>
          </a:p>
        </p:txBody>
      </p:sp>
      <p:sp>
        <p:nvSpPr>
          <p:cNvPr id="5" name="dch-1">
            <a:extLst xmlns:a="http://schemas.openxmlformats.org/drawingml/2006/main">
              <a:ext uri="{FF2B5EF4-FFF2-40B4-BE49-F238E27FC236}">
                <a16:creationId xmlns:a16="http://schemas.microsoft.com/office/drawing/2014/main" id="{6671A1FA-C8D2-4C0B-87F3-EACFC354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EPHEMERAL ACCELERATION</a:t>
            </a:r>
          </a:p>
        </p:txBody>
      </p:sp>
      <p:sp>
        <p:nvSpPr>
          <p:cNvPr id="6" name="dcv-1">
            <a:extLst xmlns:a="http://schemas.openxmlformats.org/drawingml/2006/main">
              <a:ext uri="{FF2B5EF4-FFF2-40B4-BE49-F238E27FC236}">
                <a16:creationId xmlns:a16="http://schemas.microsoft.com/office/drawing/2014/main" id="{23F401F3-A16C-4156-9B89-53C7110B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7162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dcb-1">
            <a:extLst xmlns:a="http://schemas.openxmlformats.org/drawingml/2006/main">
              <a:ext uri="{FF2B5EF4-FFF2-40B4-BE49-F238E27FC236}">
                <a16:creationId xmlns:a16="http://schemas.microsoft.com/office/drawing/2014/main" id="{C2551F77-6B04-4800-85F8-DBEF6773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43125"/>
            <a:ext cx="33337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Redis [P]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Sessions, idempotency and read-through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in-process caches [I]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1SB master 4h; schema 1h; idempotency process lifetime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Rule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cache is never the system of record; TTL and invalidation are explicit</a:t>
            </a:r>
          </a:p>
        </p:txBody>
      </p:sp>
      <p:sp>
        <p:nvSpPr>
          <p:cNvPr id="8" name="dch-2">
            <a:extLst xmlns:a="http://schemas.openxmlformats.org/drawingml/2006/main">
              <a:ext uri="{FF2B5EF4-FFF2-40B4-BE49-F238E27FC236}">
                <a16:creationId xmlns:a16="http://schemas.microsoft.com/office/drawing/2014/main" id="{C773EEF4-9D8E-462B-B305-C7290C7B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COMMUNICATION</a:t>
            </a:r>
          </a:p>
        </p:txBody>
      </p:sp>
      <p:sp>
        <p:nvSpPr>
          <p:cNvPr id="9" name="dcb-2">
            <a:extLst xmlns:a="http://schemas.openxmlformats.org/drawingml/2006/main">
              <a:ext uri="{FF2B5EF4-FFF2-40B4-BE49-F238E27FC236}">
                <a16:creationId xmlns:a16="http://schemas.microsoft.com/office/drawing/2014/main" id="{9D3FCC57-B8D4-476C-8F1A-A04A3E89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3337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REST/JSON [I/P]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User-waiting and private service calls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OIDC + PKCE [A/I]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Workforce login; tokens terminate at BFF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MSK / SNS / SQS [P]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Durable events, fan-out and tasks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Webhook/poll [I/P]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Provider and payment completion</a:t>
            </a:r>
          </a:p>
        </p:txBody>
      </p:sp>
      <p:sp>
        <p:nvSpPr>
          <p:cNvPr id="10" name="dc-rule">
            <a:extLst xmlns:a="http://schemas.openxmlformats.org/drawingml/2006/main">
              <a:ext uri="{FF2B5EF4-FFF2-40B4-BE49-F238E27FC236}">
                <a16:creationId xmlns:a16="http://schemas.microsoft.com/office/drawing/2014/main" id="{42C67093-7A19-4D02-A069-D8A8B423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10250"/>
            <a:ext cx="910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E0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 cross-service JDBC. No future business domain may turn bank-persistence-service into a shared database.</a:t>
            </a:r>
          </a:p>
        </p:txBody>
      </p:sp>
      <p:sp>
        <p:nvSpPr>
          <p:cNvPr id="11" name="footer-10">
            <a:extLst xmlns:a="http://schemas.openxmlformats.org/drawingml/2006/main">
              <a:ext uri="{FF2B5EF4-FFF2-40B4-BE49-F238E27FC236}">
                <a16:creationId xmlns:a16="http://schemas.microsoft.com/office/drawing/2014/main" id="{966B2CFF-BD9F-4D15-BC95-89C72E7E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00640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1">
            <a:extLst xmlns:a="http://schemas.openxmlformats.org/drawingml/2006/main">
              <a:ext uri="{FF2B5EF4-FFF2-40B4-BE49-F238E27FC236}">
                <a16:creationId xmlns:a16="http://schemas.microsoft.com/office/drawing/2014/main" id="{356C0DBC-1CFB-46F9-A044-D7462AA0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23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Trust boundaries and operability are architecture conditions, not later add-ons</a:t>
            </a:r>
          </a:p>
        </p:txBody>
      </p:sp>
      <p:sp>
        <p:nvSpPr>
          <p:cNvPr id="2" name="sec-num-0">
            <a:extLst xmlns:a="http://schemas.openxmlformats.org/drawingml/2006/main">
              <a:ext uri="{FF2B5EF4-FFF2-40B4-BE49-F238E27FC236}">
                <a16:creationId xmlns:a16="http://schemas.microsoft.com/office/drawing/2014/main" id="{1715E6B9-69BA-4301-BDB0-DF8FD00D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7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sec-box-0">
            <a:extLst xmlns:a="http://schemas.openxmlformats.org/drawingml/2006/main">
              <a:ext uri="{FF2B5EF4-FFF2-40B4-BE49-F238E27FC236}">
                <a16:creationId xmlns:a16="http://schemas.microsoft.com/office/drawing/2014/main" id="{6497EF3C-4836-4236-8D82-EBB111CA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10239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71450" tIns="11430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 EDGE</a:t>
            </a:r>
          </a:p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WAF, TLS, throttling, validation, generic auth errors</a:t>
            </a:r>
          </a:p>
        </p:txBody>
      </p:sp>
      <p:sp>
        <p:nvSpPr>
          <p:cNvPr id="4" name="sec-num-1">
            <a:extLst xmlns:a="http://schemas.openxmlformats.org/drawingml/2006/main">
              <a:ext uri="{FF2B5EF4-FFF2-40B4-BE49-F238E27FC236}">
                <a16:creationId xmlns:a16="http://schemas.microsoft.com/office/drawing/2014/main" id="{038E7186-546E-498E-AA54-7F7AC2EA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57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ec-box-1">
            <a:extLst xmlns:a="http://schemas.openxmlformats.org/drawingml/2006/main">
              <a:ext uri="{FF2B5EF4-FFF2-40B4-BE49-F238E27FC236}">
                <a16:creationId xmlns:a16="http://schemas.microsoft.com/office/drawing/2014/main" id="{2AA32A4A-C67F-4916-A025-0DE2B889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10239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171450" tIns="11430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IDENTITY + SERVICE</a:t>
            </a:r>
          </a:p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Opaque client session; workload identity; mTLS/service auth; default deny</a:t>
            </a:r>
          </a:p>
        </p:txBody>
      </p:sp>
      <p:sp>
        <p:nvSpPr>
          <p:cNvPr id="6" name="sec-num-2">
            <a:extLst xmlns:a="http://schemas.openxmlformats.org/drawingml/2006/main">
              <a:ext uri="{FF2B5EF4-FFF2-40B4-BE49-F238E27FC236}">
                <a16:creationId xmlns:a16="http://schemas.microsoft.com/office/drawing/2014/main" id="{50EF7147-267D-48C6-B969-D45182A8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7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sec-box-2">
            <a:extLst xmlns:a="http://schemas.openxmlformats.org/drawingml/2006/main">
              <a:ext uri="{FF2B5EF4-FFF2-40B4-BE49-F238E27FC236}">
                <a16:creationId xmlns:a16="http://schemas.microsoft.com/office/drawing/2014/main" id="{F7D88957-9613-4615-B71A-03F26B1F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10239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171450" tIns="11430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+ PROVIDERS</a:t>
            </a:r>
          </a:p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KMS/encryption; Secrets Manager; fixed egress; no PII or tokens in logs</a:t>
            </a:r>
          </a:p>
        </p:txBody>
      </p:sp>
      <p:sp>
        <p:nvSpPr>
          <p:cNvPr id="8" name="sec-num-3">
            <a:extLst xmlns:a="http://schemas.openxmlformats.org/drawingml/2006/main">
              <a:ext uri="{FF2B5EF4-FFF2-40B4-BE49-F238E27FC236}">
                <a16:creationId xmlns:a16="http://schemas.microsoft.com/office/drawing/2014/main" id="{EC513F14-53B6-4FA6-9EFB-7D0A43F9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57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sec-box-3">
            <a:extLst xmlns:a="http://schemas.openxmlformats.org/drawingml/2006/main">
              <a:ext uri="{FF2B5EF4-FFF2-40B4-BE49-F238E27FC236}">
                <a16:creationId xmlns:a16="http://schemas.microsoft.com/office/drawing/2014/main" id="{C3A47B0C-A011-4D60-98AC-384955FA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10239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171450" tIns="11430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+ RECOVERY</a:t>
            </a:r>
          </a:p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Correlated immutable audit; metrics/traces/logs; replay/DLQ; backup, restore and rollback</a:t>
            </a:r>
          </a:p>
        </p:txBody>
      </p:sp>
      <p:sp>
        <p:nvSpPr>
          <p:cNvPr id="10" name="sec-pending">
            <a:extLst xmlns:a="http://schemas.openxmlformats.org/drawingml/2006/main">
              <a:ext uri="{FF2B5EF4-FFF2-40B4-BE49-F238E27FC236}">
                <a16:creationId xmlns:a16="http://schemas.microsoft.com/office/drawing/2014/main" id="{D4EADA8F-0797-48DF-8EDD-F4F51C83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578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Human Security and Risk/Compliance sign-off remains mandatory for identity, consent, audit, retention, residency and production topology.</a:t>
            </a:r>
          </a:p>
        </p:txBody>
      </p:sp>
      <p:sp>
        <p:nvSpPr>
          <p:cNvPr id="11" name="footer-11">
            <a:extLst xmlns:a="http://schemas.openxmlformats.org/drawingml/2006/main">
              <a:ext uri="{FF2B5EF4-FFF2-40B4-BE49-F238E27FC236}">
                <a16:creationId xmlns:a16="http://schemas.microsoft.com/office/drawing/2014/main" id="{F3C95F5C-FD84-4DAF-8EC1-8C9EA15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8535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12">
            <a:extLst xmlns:a="http://schemas.openxmlformats.org/drawingml/2006/main">
              <a:ext uri="{FF2B5EF4-FFF2-40B4-BE49-F238E27FC236}">
                <a16:creationId xmlns:a16="http://schemas.microsoft.com/office/drawing/2014/main" id="{E2DCD309-B675-427E-8D74-BE982D6D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 capability growth through real seams before breadth</a:t>
            </a:r>
          </a:p>
        </p:txBody>
      </p:sp>
      <p:sp>
        <p:nvSpPr>
          <p:cNvPr id="2" name="road-p-0">
            <a:extLst xmlns:a="http://schemas.openxmlformats.org/drawingml/2006/main">
              <a:ext uri="{FF2B5EF4-FFF2-40B4-BE49-F238E27FC236}">
                <a16:creationId xmlns:a16="http://schemas.microsoft.com/office/drawing/2014/main" id="{EC0404E0-3DBF-4A07-99BA-AC6249CE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3" name="road-h-0">
            <a:extLst xmlns:a="http://schemas.openxmlformats.org/drawingml/2006/main">
              <a:ext uri="{FF2B5EF4-FFF2-40B4-BE49-F238E27FC236}">
                <a16:creationId xmlns:a16="http://schemas.microsoft.com/office/drawing/2014/main" id="{73D71FD1-7A65-42F9-871E-1987476C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WALKING SKELETON</a:t>
            </a:r>
          </a:p>
        </p:txBody>
      </p:sp>
      <p:sp>
        <p:nvSpPr>
          <p:cNvPr id="4" name="road-b-0">
            <a:extLst xmlns:a="http://schemas.openxmlformats.org/drawingml/2006/main">
              <a:ext uri="{FF2B5EF4-FFF2-40B4-BE49-F238E27FC236}">
                <a16:creationId xmlns:a16="http://schemas.microsoft.com/office/drawing/2014/main" id="{24B4AA82-FD60-4121-BD80-B32F3DBC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2476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real Life/Term round-trip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Edge → journey → hub → 1SB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Contract, identity and telemetry floor</a:t>
            </a:r>
          </a:p>
        </p:txBody>
      </p:sp>
      <p:sp>
        <p:nvSpPr>
          <p:cNvPr id="5" name="road-div-0">
            <a:extLst xmlns:a="http://schemas.openxmlformats.org/drawingml/2006/main">
              <a:ext uri="{FF2B5EF4-FFF2-40B4-BE49-F238E27FC236}">
                <a16:creationId xmlns:a16="http://schemas.microsoft.com/office/drawing/2014/main" id="{A567F8A7-3383-4155-92F6-4DD5D408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76400"/>
            <a:ext cx="0" cy="3514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oad-arrow-0">
            <a:extLst xmlns:a="http://schemas.openxmlformats.org/drawingml/2006/main">
              <a:ext uri="{FF2B5EF4-FFF2-40B4-BE49-F238E27FC236}">
                <a16:creationId xmlns:a16="http://schemas.microsoft.com/office/drawing/2014/main" id="{E74D7AEA-7BA1-4FB7-90E7-9870F221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road-p-1">
            <a:extLst xmlns:a="http://schemas.openxmlformats.org/drawingml/2006/main">
              <a:ext uri="{FF2B5EF4-FFF2-40B4-BE49-F238E27FC236}">
                <a16:creationId xmlns:a16="http://schemas.microsoft.com/office/drawing/2014/main" id="{4EAFC495-6711-4CFC-99C6-879FDCEA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954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8" name="road-h-1">
            <a:extLst xmlns:a="http://schemas.openxmlformats.org/drawingml/2006/main">
              <a:ext uri="{FF2B5EF4-FFF2-40B4-BE49-F238E27FC236}">
                <a16:creationId xmlns:a16="http://schemas.microsoft.com/office/drawing/2014/main" id="{AE3B3B50-6366-4641-A9B5-49961652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MANDATORY SALE PATH</a:t>
            </a:r>
          </a:p>
        </p:txBody>
      </p:sp>
      <p:sp>
        <p:nvSpPr>
          <p:cNvPr id="9" name="road-b-1">
            <a:extLst xmlns:a="http://schemas.openxmlformats.org/drawingml/2006/main">
              <a:ext uri="{FF2B5EF4-FFF2-40B4-BE49-F238E27FC236}">
                <a16:creationId xmlns:a16="http://schemas.microsoft.com/office/drawing/2014/main" id="{499E15EF-02AF-44E8-9BF1-05A1A3F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95625"/>
            <a:ext cx="2476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Consent + suitability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Quote + proposal/UW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payment + policy issuance</a:t>
            </a:r>
          </a:p>
        </p:txBody>
      </p:sp>
      <p:sp>
        <p:nvSpPr>
          <p:cNvPr id="10" name="road-div-1">
            <a:extLst xmlns:a="http://schemas.openxmlformats.org/drawingml/2006/main">
              <a:ext uri="{FF2B5EF4-FFF2-40B4-BE49-F238E27FC236}">
                <a16:creationId xmlns:a16="http://schemas.microsoft.com/office/drawing/2014/main" id="{D63D8982-007E-4FB0-A5B6-AD3BAAD4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76400"/>
            <a:ext cx="0" cy="3514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road-arrow-1">
            <a:extLst xmlns:a="http://schemas.openxmlformats.org/drawingml/2006/main">
              <a:ext uri="{FF2B5EF4-FFF2-40B4-BE49-F238E27FC236}">
                <a16:creationId xmlns:a16="http://schemas.microsoft.com/office/drawing/2014/main" id="{81A72A11-2859-43F6-84C8-78C8D947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197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oad-p-2">
            <a:extLst xmlns:a="http://schemas.openxmlformats.org/drawingml/2006/main">
              <a:ext uri="{FF2B5EF4-FFF2-40B4-BE49-F238E27FC236}">
                <a16:creationId xmlns:a16="http://schemas.microsoft.com/office/drawing/2014/main" id="{72CF857E-ACA1-4E25-9015-E45E5C25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3" name="road-h-2">
            <a:extLst xmlns:a="http://schemas.openxmlformats.org/drawingml/2006/main">
              <a:ext uri="{FF2B5EF4-FFF2-40B4-BE49-F238E27FC236}">
                <a16:creationId xmlns:a16="http://schemas.microsoft.com/office/drawing/2014/main" id="{456A07E8-06DA-4F52-AD51-B950F530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HARDEN + ASSURE</a:t>
            </a:r>
          </a:p>
        </p:txBody>
      </p:sp>
      <p:sp>
        <p:nvSpPr>
          <p:cNvPr id="14" name="road-b-2">
            <a:extLst xmlns:a="http://schemas.openxmlformats.org/drawingml/2006/main">
              <a:ext uri="{FF2B5EF4-FFF2-40B4-BE49-F238E27FC236}">
                <a16:creationId xmlns:a16="http://schemas.microsoft.com/office/drawing/2014/main" id="{CBA258A4-28F0-4841-96C0-FFBECA3E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95625"/>
            <a:ext cx="2476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Compliance and audit evidence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UAT, performance and coverage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Runbooks, recovery and DR proof</a:t>
            </a:r>
          </a:p>
        </p:txBody>
      </p:sp>
      <p:sp>
        <p:nvSpPr>
          <p:cNvPr id="15" name="road-div-2">
            <a:extLst xmlns:a="http://schemas.openxmlformats.org/drawingml/2006/main">
              <a:ext uri="{FF2B5EF4-FFF2-40B4-BE49-F238E27FC236}">
                <a16:creationId xmlns:a16="http://schemas.microsoft.com/office/drawing/2014/main" id="{CE6138A4-5BFE-449D-B625-B61D4876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76400"/>
            <a:ext cx="0" cy="3514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road-arrow-2">
            <a:extLst xmlns:a="http://schemas.openxmlformats.org/drawingml/2006/main">
              <a:ext uri="{FF2B5EF4-FFF2-40B4-BE49-F238E27FC236}">
                <a16:creationId xmlns:a16="http://schemas.microsoft.com/office/drawing/2014/main" id="{E1CE55D7-F7E1-45C3-8B1C-DBC8D978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197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road-p-3">
            <a:extLst xmlns:a="http://schemas.openxmlformats.org/drawingml/2006/main">
              <a:ext uri="{FF2B5EF4-FFF2-40B4-BE49-F238E27FC236}">
                <a16:creationId xmlns:a16="http://schemas.microsoft.com/office/drawing/2014/main" id="{5EBC7046-E31A-4499-B4A2-E8F7932C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18" name="road-h-3">
            <a:extLst xmlns:a="http://schemas.openxmlformats.org/drawingml/2006/main">
              <a:ext uri="{FF2B5EF4-FFF2-40B4-BE49-F238E27FC236}">
                <a16:creationId xmlns:a16="http://schemas.microsoft.com/office/drawing/2014/main" id="{A4F72172-2A50-4473-A7A8-42509A38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EXPAND SAFELY</a:t>
            </a:r>
          </a:p>
        </p:txBody>
      </p:sp>
      <p:sp>
        <p:nvSpPr>
          <p:cNvPr id="19" name="road-b-3">
            <a:extLst xmlns:a="http://schemas.openxmlformats.org/drawingml/2006/main">
              <a:ext uri="{FF2B5EF4-FFF2-40B4-BE49-F238E27FC236}">
                <a16:creationId xmlns:a16="http://schemas.microsoft.com/office/drawing/2014/main" id="{B386FBFD-9C78-48C4-ACC6-97C59D44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95625"/>
            <a:ext cx="2476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Lead and MIS breadth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Additional Life products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Direct-insurer replaceability</a:t>
            </a:r>
          </a:p>
        </p:txBody>
      </p:sp>
      <p:sp>
        <p:nvSpPr>
          <p:cNvPr id="20" name="road-condition">
            <a:extLst xmlns:a="http://schemas.openxmlformats.org/drawingml/2006/main">
              <a:ext uri="{FF2B5EF4-FFF2-40B4-BE49-F238E27FC236}">
                <a16:creationId xmlns:a16="http://schemas.microsoft.com/office/drawing/2014/main" id="{7C21E327-10A7-4493-8E45-CD4E278E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746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phase starts only when its contracts, evidence, owners and required human approvals satisfy Definition of Ready.</a:t>
            </a:r>
          </a:p>
        </p:txBody>
      </p:sp>
      <p:sp>
        <p:nvSpPr>
          <p:cNvPr id="21" name="footer-12">
            <a:extLst xmlns:a="http://schemas.openxmlformats.org/drawingml/2006/main">
              <a:ext uri="{FF2B5EF4-FFF2-40B4-BE49-F238E27FC236}">
                <a16:creationId xmlns:a16="http://schemas.microsoft.com/office/drawing/2014/main" id="{E26FBE68-4A39-4862-BE48-241ABC8D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70832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3">
            <a:extLst xmlns:a="http://schemas.openxmlformats.org/drawingml/2006/main">
              <a:ext uri="{FF2B5EF4-FFF2-40B4-BE49-F238E27FC236}">
                <a16:creationId xmlns:a16="http://schemas.microsoft.com/office/drawing/2014/main" id="{E0AE3EA8-53F9-457E-BB0E-396FD451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Ten decisions need named owners before the baseline can bind</a:t>
            </a:r>
          </a:p>
        </p:txBody>
      </p:sp>
      <p:sp>
        <p:nvSpPr>
          <p:cNvPr id="2" name="open-h-0">
            <a:extLst xmlns:a="http://schemas.openxmlformats.org/drawingml/2006/main">
              <a:ext uri="{FF2B5EF4-FFF2-40B4-BE49-F238E27FC236}">
                <a16:creationId xmlns:a16="http://schemas.microsoft.com/office/drawing/2014/main" id="{99E886CC-A58A-49B6-80C0-17827B79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BOUNDARIES</a:t>
            </a:r>
          </a:p>
        </p:txBody>
      </p:sp>
      <p:sp>
        <p:nvSpPr>
          <p:cNvPr id="3" name="open-b-0">
            <a:extLst xmlns:a="http://schemas.openxmlformats.org/drawingml/2006/main">
              <a:ext uri="{FF2B5EF4-FFF2-40B4-BE49-F238E27FC236}">
                <a16:creationId xmlns:a16="http://schemas.microsoft.com/office/drawing/2014/main" id="{A3872265-0180-4194-9EB9-A5B01F6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Q-01  Workforce vs RM BFF composition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Q-03  Persistence scope and final count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Q-07  Customer BFF and identity phase</a:t>
            </a:r>
          </a:p>
        </p:txBody>
      </p:sp>
      <p:sp>
        <p:nvSpPr>
          <p:cNvPr id="4" name="open-o-0">
            <a:extLst xmlns:a="http://schemas.openxmlformats.org/drawingml/2006/main">
              <a:ext uri="{FF2B5EF4-FFF2-40B4-BE49-F238E27FC236}">
                <a16:creationId xmlns:a16="http://schemas.microsoft.com/office/drawing/2014/main" id="{B7D1ED5D-4B29-494E-82D8-5753C406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Owners: PO · Architect · Security · Data</a:t>
            </a:r>
          </a:p>
        </p:txBody>
      </p:sp>
      <p:sp>
        <p:nvSpPr>
          <p:cNvPr id="5" name="open-h-1">
            <a:extLst xmlns:a="http://schemas.openxmlformats.org/drawingml/2006/main">
              <a:ext uri="{FF2B5EF4-FFF2-40B4-BE49-F238E27FC236}">
                <a16:creationId xmlns:a16="http://schemas.microsoft.com/office/drawing/2014/main" id="{09ADE6C2-39D7-4F13-BBFC-355AF424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6" name="open-b-1">
            <a:extLst xmlns:a="http://schemas.openxmlformats.org/drawingml/2006/main">
              <a:ext uri="{FF2B5EF4-FFF2-40B4-BE49-F238E27FC236}">
                <a16:creationId xmlns:a16="http://schemas.microsoft.com/office/drawing/2014/main" id="{3E49ABFF-A526-4A80-86D3-623B5860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Q-02  EKS/account/environment topology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Q-04  MSK/SNS/SQS roles + governance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Q-08  Service mesh or no mesh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Q-09  CI/CD and GitOps toolchain</a:t>
            </a:r>
          </a:p>
        </p:txBody>
      </p:sp>
      <p:sp>
        <p:nvSpPr>
          <p:cNvPr id="7" name="open-o-1">
            <a:extLst xmlns:a="http://schemas.openxmlformats.org/drawingml/2006/main">
              <a:ext uri="{FF2B5EF4-FFF2-40B4-BE49-F238E27FC236}">
                <a16:creationId xmlns:a16="http://schemas.microsoft.com/office/drawing/2014/main" id="{EC8115A6-4F49-48D8-8A6C-9432C9EA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Owners: Architect · Technical · Ops · Security</a:t>
            </a:r>
          </a:p>
        </p:txBody>
      </p:sp>
      <p:sp>
        <p:nvSpPr>
          <p:cNvPr id="8" name="open-h-2">
            <a:extLst xmlns:a="http://schemas.openxmlformats.org/drawingml/2006/main">
              <a:ext uri="{FF2B5EF4-FFF2-40B4-BE49-F238E27FC236}">
                <a16:creationId xmlns:a16="http://schemas.microsoft.com/office/drawing/2014/main" id="{9944A688-3FCF-4F79-B157-B33BD52E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DATA + COMPLIANCE</a:t>
            </a:r>
          </a:p>
        </p:txBody>
      </p:sp>
      <p:sp>
        <p:nvSpPr>
          <p:cNvPr id="9" name="open-b-2">
            <a:extLst xmlns:a="http://schemas.openxmlformats.org/drawingml/2006/main">
              <a:ext uri="{FF2B5EF4-FFF2-40B4-BE49-F238E27FC236}">
                <a16:creationId xmlns:a16="http://schemas.microsoft.com/office/drawing/2014/main" id="{CDECE4AF-107F-4AD7-8BE0-65F61980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Q-05  Audit-store evolution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Q-06  Regions, residency, retention, Object Lock</a:t>
            </a:r>
          </a:p>
        </p:txBody>
      </p:sp>
      <p:sp>
        <p:nvSpPr>
          <p:cNvPr id="10" name="open-o-2">
            <a:extLst xmlns:a="http://schemas.openxmlformats.org/drawingml/2006/main">
              <a:ext uri="{FF2B5EF4-FFF2-40B4-BE49-F238E27FC236}">
                <a16:creationId xmlns:a16="http://schemas.microsoft.com/office/drawing/2014/main" id="{3C431893-027F-4F46-B63E-9491D156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Owners: Compliance · Security · Architect · Data</a:t>
            </a:r>
          </a:p>
        </p:txBody>
      </p:sp>
      <p:sp>
        <p:nvSpPr>
          <p:cNvPr id="11" name="open-h-3">
            <a:extLst xmlns:a="http://schemas.openxmlformats.org/drawingml/2006/main">
              <a:ext uri="{FF2B5EF4-FFF2-40B4-BE49-F238E27FC236}">
                <a16:creationId xmlns:a16="http://schemas.microsoft.com/office/drawing/2014/main" id="{3D56099E-4074-4C18-905C-19C6CE42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SERVICE LEVEL</a:t>
            </a:r>
          </a:p>
        </p:txBody>
      </p:sp>
      <p:sp>
        <p:nvSpPr>
          <p:cNvPr id="12" name="open-b-3">
            <a:extLst xmlns:a="http://schemas.openxmlformats.org/drawingml/2006/main">
              <a:ext uri="{FF2B5EF4-FFF2-40B4-BE49-F238E27FC236}">
                <a16:creationId xmlns:a16="http://schemas.microsoft.com/office/drawing/2014/main" id="{E5B45E14-4698-4B68-A24E-1CA0EB51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Q-10  Availability, latency, RTO/RPO, capacity and cost</a:t>
            </a:r>
          </a:p>
        </p:txBody>
      </p:sp>
      <p:sp>
        <p:nvSpPr>
          <p:cNvPr id="13" name="open-o-3">
            <a:extLst xmlns:a="http://schemas.openxmlformats.org/drawingml/2006/main">
              <a:ext uri="{FF2B5EF4-FFF2-40B4-BE49-F238E27FC236}">
                <a16:creationId xmlns:a16="http://schemas.microsoft.com/office/drawing/2014/main" id="{B182E31B-EE46-4C07-984B-EAEA5DD2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Owners: PO · Architect · QA · Ops</a:t>
            </a:r>
          </a:p>
        </p:txBody>
      </p:sp>
      <p:sp>
        <p:nvSpPr>
          <p:cNvPr id="14" name="open-warning">
            <a:extLst xmlns:a="http://schemas.openxmlformats.org/drawingml/2006/main">
              <a:ext uri="{FF2B5EF4-FFF2-40B4-BE49-F238E27FC236}">
                <a16:creationId xmlns:a16="http://schemas.microsoft.com/office/drawing/2014/main" id="{37735D1F-B138-47A5-8982-25637F16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53125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6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Silence is not approval. Every condition needs a decision, accountable owner, evidence and due gate.</a:t>
            </a:r>
          </a:p>
        </p:txBody>
      </p:sp>
      <p:sp>
        <p:nvSpPr>
          <p:cNvPr id="15" name="footer-13">
            <a:extLst xmlns:a="http://schemas.openxmlformats.org/drawingml/2006/main">
              <a:ext uri="{FF2B5EF4-FFF2-40B4-BE49-F238E27FC236}">
                <a16:creationId xmlns:a16="http://schemas.microsoft.com/office/drawing/2014/main" id="{84760680-103A-46F5-B0CC-E80B5FBD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007758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14">
            <a:extLst xmlns:a="http://schemas.openxmlformats.org/drawingml/2006/main">
              <a:ext uri="{FF2B5EF4-FFF2-40B4-BE49-F238E27FC236}">
                <a16:creationId xmlns:a16="http://schemas.microsoft.com/office/drawing/2014/main" id="{BCCF5DCF-2CF5-4C82-8C22-91299CB3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semantic change updates the approved design first</a:t>
            </a:r>
          </a:p>
        </p:txBody>
      </p:sp>
      <p:sp>
        <p:nvSpPr>
          <p:cNvPr id="2" name="gov-0">
            <a:extLst xmlns:a="http://schemas.openxmlformats.org/drawingml/2006/main">
              <a:ext uri="{FF2B5EF4-FFF2-40B4-BE49-F238E27FC236}">
                <a16:creationId xmlns:a16="http://schemas.microsoft.com/office/drawing/2014/main" id="{F04A4ED9-82E8-45FD-B74E-1BA7CF14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Conditional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3" name="gov-1">
            <a:extLst xmlns:a="http://schemas.openxmlformats.org/drawingml/2006/main">
              <a:ext uri="{FF2B5EF4-FFF2-40B4-BE49-F238E27FC236}">
                <a16:creationId xmlns:a16="http://schemas.microsoft.com/office/drawing/2014/main" id="{951CB81A-2D1B-4D30-98AB-C86879A2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524125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 owner +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4" name="gov-2">
            <a:extLst xmlns:a="http://schemas.openxmlformats.org/drawingml/2006/main">
              <a:ext uri="{FF2B5EF4-FFF2-40B4-BE49-F238E27FC236}">
                <a16:creationId xmlns:a16="http://schemas.microsoft.com/office/drawing/2014/main" id="{0E53E4D8-C0D0-4AB3-A35C-0A4FCCB8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24125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ADR / contract /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LLD update</a:t>
            </a:r>
          </a:p>
        </p:txBody>
      </p:sp>
      <p:sp>
        <p:nvSpPr>
          <p:cNvPr id="5" name="gov-3">
            <a:extLst xmlns:a="http://schemas.openxmlformats.org/drawingml/2006/main">
              <a:ext uri="{FF2B5EF4-FFF2-40B4-BE49-F238E27FC236}">
                <a16:creationId xmlns:a16="http://schemas.microsoft.com/office/drawing/2014/main" id="{A89A0158-A118-4FEA-BDD2-81A53462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24125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Definition of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gov-4">
            <a:extLst xmlns:a="http://schemas.openxmlformats.org/drawingml/2006/main">
              <a:ext uri="{FF2B5EF4-FFF2-40B4-BE49-F238E27FC236}">
                <a16:creationId xmlns:a16="http://schemas.microsoft.com/office/drawing/2014/main" id="{EC129B66-60CF-4EB8-9353-966CEF25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24125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 one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increment</a:t>
            </a:r>
          </a:p>
        </p:txBody>
      </p:sp>
      <p:sp>
        <p:nvSpPr>
          <p:cNvPr id="7" name="gov-5">
            <a:extLst xmlns:a="http://schemas.openxmlformats.org/drawingml/2006/main">
              <a:ext uri="{FF2B5EF4-FFF2-40B4-BE49-F238E27FC236}">
                <a16:creationId xmlns:a16="http://schemas.microsoft.com/office/drawing/2014/main" id="{2D298CE2-C28E-4458-9DCF-A17F271A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24125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+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 verdict</a:t>
            </a:r>
          </a:p>
        </p:txBody>
      </p:sp>
      <p:sp>
        <p:nvSpPr>
          <p:cNvPr id="8" name="gov-6">
            <a:extLst xmlns:a="http://schemas.openxmlformats.org/drawingml/2006/main">
              <a:ext uri="{FF2B5EF4-FFF2-40B4-BE49-F238E27FC236}">
                <a16:creationId xmlns:a16="http://schemas.microsoft.com/office/drawing/2014/main" id="{E4AD786A-2B71-4A18-8503-69F0016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24125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Release +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version baseline</a:t>
            </a:r>
          </a:p>
        </p:txBody>
      </p:sp>
      <p:cxnSp>
        <p:nvCxnSpPr>
          <p:cNvPr id="30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733550" y="29241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62325" y="29241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991100" y="29241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619875" y="29241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48650" y="29241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877425" y="29241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sp>
        <p:nvSpPr>
          <p:cNvPr id="15" name="gov-loop">
            <a:extLst xmlns:a="http://schemas.openxmlformats.org/drawingml/2006/main">
              <a:ext uri="{FF2B5EF4-FFF2-40B4-BE49-F238E27FC236}">
                <a16:creationId xmlns:a16="http://schemas.microsoft.com/office/drawing/2014/main" id="{A69EA505-AC79-4BD1-8D4B-445630AF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requirement or finding</a:t>
            </a:r>
          </a:p>
        </p:txBody>
      </p:sp>
      <p:sp>
        <p:nvSpPr>
          <p:cNvPr id="16" name="gov-triage">
            <a:extLst xmlns:a="http://schemas.openxmlformats.org/drawingml/2006/main">
              <a:ext uri="{FF2B5EF4-FFF2-40B4-BE49-F238E27FC236}">
                <a16:creationId xmlns:a16="http://schemas.microsoft.com/office/drawing/2014/main" id="{51DAE055-FADD-4E95-BC3B-5C8D690A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AIGEM triage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admit / park / reject</a:t>
            </a:r>
          </a:p>
        </p:txBody>
      </p:sp>
      <p:cxnSp>
        <p:nvCxnSpPr>
          <p:cNvPr id="38" name=""/>
          <p:cNvCxnSpPr>
            <a:stCxn xmlns:a="http://schemas.openxmlformats.org/drawingml/2006/main" id="8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239000" y="3324225"/>
            <a:ext cx="3600450" cy="1343025"/>
          </a:xfrm>
          <a:prstGeom xmlns:a="http://schemas.openxmlformats.org/drawingml/2006/main" prst="bentConnector5">
            <a:avLst>
              <a:gd name="adj1" fmla="val 0"/>
              <a:gd name="adj2" fmla="val 17021"/>
              <a:gd name="adj3" fmla="val 93651"/>
            </a:avLst>
          </a:prstGeom>
          <a:ln xmlns:a="http://schemas.openxmlformats.org/drawingml/2006/main" w="19050">
            <a:solidFill>
              <a:srgbClr val="A66A00"/>
            </a:solidFill>
            <a:prstDash val="dash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16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4324350" y="3324225"/>
            <a:ext cx="628650" cy="13430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66A00"/>
            </a:solidFill>
            <a:prstDash val="dash"/>
            <a:tailEnd type="arrow" w="sm" len="sm"/>
          </a:ln>
        </p:spPr>
      </p:cxnSp>
      <p:sp>
        <p:nvSpPr>
          <p:cNvPr id="19" name="gov-human">
            <a:extLst xmlns:a="http://schemas.openxmlformats.org/drawingml/2006/main">
              <a:ext uri="{FF2B5EF4-FFF2-40B4-BE49-F238E27FC236}">
                <a16:creationId xmlns:a16="http://schemas.microsoft.com/office/drawing/2014/main" id="{059EE4B8-1969-4758-A458-10D51688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24500"/>
            <a:ext cx="819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E0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Security and Compliance vetoes remain binding. Agents never approve stage state or human-only gates.</a:t>
            </a:r>
          </a:p>
        </p:txBody>
      </p:sp>
      <p:sp>
        <p:nvSpPr>
          <p:cNvPr id="20" name="eyebrow-14">
            <a:extLst xmlns:a="http://schemas.openxmlformats.org/drawingml/2006/main">
              <a:ext uri="{FF2B5EF4-FFF2-40B4-BE49-F238E27FC236}">
                <a16:creationId xmlns:a16="http://schemas.microsoft.com/office/drawing/2014/main" id="{6E594D1B-AEDA-4CCD-8F3E-DF29B082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CONTROLLED EVOLUTION · MERMAID SOURCE IN DOC-007</a:t>
            </a:r>
          </a:p>
        </p:txBody>
      </p:sp>
      <p:sp>
        <p:nvSpPr>
          <p:cNvPr id="21" name="footer-14">
            <a:extLst xmlns:a="http://schemas.openxmlformats.org/drawingml/2006/main">
              <a:ext uri="{FF2B5EF4-FFF2-40B4-BE49-F238E27FC236}">
                <a16:creationId xmlns:a16="http://schemas.microsoft.com/office/drawing/2014/main" id="{5C2BFE46-5990-4946-B6C1-D8565672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74068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5">
            <a:extLst xmlns:a="http://schemas.openxmlformats.org/drawingml/2006/main">
              <a:ext uri="{FF2B5EF4-FFF2-40B4-BE49-F238E27FC236}">
                <a16:creationId xmlns:a16="http://schemas.microsoft.com/office/drawing/2014/main" id="{7C347720-3503-4C95-A68B-80AB7FCC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2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requested: conditional approval with accountable follow-through</a:t>
            </a:r>
          </a:p>
        </p:txBody>
      </p:sp>
      <p:sp>
        <p:nvSpPr>
          <p:cNvPr id="2" name="final-thesis">
            <a:extLst xmlns:a="http://schemas.openxmlformats.org/drawingml/2006/main">
              <a:ext uri="{FF2B5EF4-FFF2-40B4-BE49-F238E27FC236}">
                <a16:creationId xmlns:a16="http://schemas.microsoft.com/office/drawing/2014/main" id="{96FEA9FD-7370-43C9-A5B7-CCB34AD6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 the bank-owned, provider-neutral target direction and its non-negotiable boundaries.</a:t>
            </a:r>
          </a:p>
        </p:txBody>
      </p:sp>
      <p:sp>
        <p:nvSpPr>
          <p:cNvPr id="3" name="final-opt-0">
            <a:extLst xmlns:a="http://schemas.openxmlformats.org/drawingml/2006/main">
              <a:ext uri="{FF2B5EF4-FFF2-40B4-BE49-F238E27FC236}">
                <a16:creationId xmlns:a16="http://schemas.microsoft.com/office/drawing/2014/main" id="{B9C6C1F5-1D87-46B8-9966-805313D7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42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16794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CONDITIONAL APPROVAL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 conditions, owners and due gates</a:t>
            </a:r>
          </a:p>
        </p:txBody>
      </p:sp>
      <p:sp>
        <p:nvSpPr>
          <p:cNvPr id="4" name="final-opt-1">
            <a:extLst xmlns:a="http://schemas.openxmlformats.org/drawingml/2006/main">
              <a:ext uri="{FF2B5EF4-FFF2-40B4-BE49-F238E27FC236}">
                <a16:creationId xmlns:a16="http://schemas.microsoft.com/office/drawing/2014/main" id="{FE959BB3-2E92-4BC4-82BC-FDD7EBCF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342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REWORK REQUIRED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Identify the exact decisions or evidence missing</a:t>
            </a:r>
          </a:p>
        </p:txBody>
      </p:sp>
      <p:sp>
        <p:nvSpPr>
          <p:cNvPr id="5" name="final-opt-2">
            <a:extLst xmlns:a="http://schemas.openxmlformats.org/drawingml/2006/main">
              <a:ext uri="{FF2B5EF4-FFF2-40B4-BE49-F238E27FC236}">
                <a16:creationId xmlns:a16="http://schemas.microsoft.com/office/drawing/2014/main" id="{3D23B4B4-32E7-4B8E-BA4C-5C61E0F6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2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5C647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DECLINED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 the reason and superseding direction</a:t>
            </a:r>
          </a:p>
        </p:txBody>
      </p:sp>
      <p:sp>
        <p:nvSpPr>
          <p:cNvPr id="6" name="final-next-h">
            <a:extLst xmlns:a="http://schemas.openxmlformats.org/drawingml/2006/main">
              <a:ext uri="{FF2B5EF4-FFF2-40B4-BE49-F238E27FC236}">
                <a16:creationId xmlns:a16="http://schemas.microsoft.com/office/drawing/2014/main" id="{5C0249DB-418B-47AF-A07A-5B572A46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29125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IF CONDITIONALLY APPROVED</a:t>
            </a:r>
          </a:p>
        </p:txBody>
      </p:sp>
      <p:sp>
        <p:nvSpPr>
          <p:cNvPr id="7" name="final-next">
            <a:extLst xmlns:a="http://schemas.openxmlformats.org/drawingml/2006/main">
              <a:ext uri="{FF2B5EF4-FFF2-40B4-BE49-F238E27FC236}">
                <a16:creationId xmlns:a16="http://schemas.microsoft.com/office/drawing/2014/main" id="{EC77AABC-B13A-483F-A180-2BAE905C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942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PO confirms business working decisions and sponsor validation path   ·   2. Architect assigns Q-01…Q-10 owners   ·   3. Mandatory boards record conditions   ·   4. Team produces ADRs, phased plan and walking-skeleton gate</a:t>
            </a:r>
          </a:p>
        </p:txBody>
      </p:sp>
      <p:sp>
        <p:nvSpPr>
          <p:cNvPr id="8" name="final-authority">
            <a:extLst xmlns:a="http://schemas.openxmlformats.org/drawingml/2006/main">
              <a:ext uri="{FF2B5EF4-FFF2-40B4-BE49-F238E27FC236}">
                <a16:creationId xmlns:a16="http://schemas.microsoft.com/office/drawing/2014/main" id="{9962DC61-7C04-4E7E-9E1F-F5BB7FA8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00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Detailed authority remains DOC-005. This deck and its reviews are presentation aids, not human approval evidence.</a:t>
            </a:r>
          </a:p>
        </p:txBody>
      </p:sp>
      <p:sp>
        <p:nvSpPr>
          <p:cNvPr id="9" name="footer-15">
            <a:extLst xmlns:a="http://schemas.openxmlformats.org/drawingml/2006/main">
              <a:ext uri="{FF2B5EF4-FFF2-40B4-BE49-F238E27FC236}">
                <a16:creationId xmlns:a16="http://schemas.microsoft.com/office/drawing/2014/main" id="{94EF1E4E-ACA8-43DD-982E-A26735A6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13103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2026-08-12T09:41:48.3280000Z</dcterms:created>
  <dcterms:modified xsi:type="dcterms:W3CDTF">2026-08-12T09:41:48.3280000Z</dcterms:modified>
</coreProperties>
</file>