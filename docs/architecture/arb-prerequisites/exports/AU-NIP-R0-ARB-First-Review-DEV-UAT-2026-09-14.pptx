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1 min</a:t>
            </a:r>
          </a:p>
          <a:p/>
          <a:p>
            <a:r>
              <a:t>SAY:</a:t>
            </a:r>
          </a:p>
          <a:p>
            <a:r>
              <a:t>Good morning. This is the first architecture review of the Insurance Distribution Platform.</a:t>
            </a:r>
          </a:p>
          <a:p/>
          <a:p>
            <a:r>
              <a:t>The slot is sixty minutes. I will take about thirty-five to walk the problem, the outcome we are building, and how this architecture does it. The remainder is for you — questions, observations, improvements.</a:t>
            </a:r>
          </a:p>
          <a:p/>
          <a:p>
            <a:r>
              <a:t>We are not seeking production authority today. We are seeking a recorded review of the intended design so Dev and UAT can be stood up.</a:t>
            </a:r>
          </a:p>
          <a:p/>
          <a:p>
            <a:r>
              <a:t>If a question needs a measured number we do not have, I will take it as a dated action. I will not guess an IP, a restore time, or a pentest result.</a:t>
            </a:r>
          </a:p>
          <a:p/>
          <a:p>
            <a:r>
              <a:t>IF ASKED:</a:t>
            </a:r>
          </a:p>
          <a:p>
            <a:r>
              <a:t>If someone asks whether this is production approval — no. Say it once, write it on the parking lot, keep walking.</a:t>
            </a:r>
          </a:p>
          <a:p/>
          <a:p>
            <a:r>
              <a:t>DO NOT:</a:t>
            </a:r>
          </a:p>
          <a:p>
            <a:r>
              <a:t>Do not say the architecture was designed by AI. Do not apologise for the design. Do not promise production in the same breath as Dev.</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1 min</a:t>
            </a:r>
          </a:p>
          <a:p/>
          <a:p>
            <a:r>
              <a:t>SAY:</a:t>
            </a:r>
          </a:p>
          <a:p>
            <a:r>
              <a:t>Thirty-five minutes from me so that twenty-five remain for the board. I will show the problem, the R0 outcome, then how a sale, a session, a partner call, identity, money and recovery actually work. Please hold deep dives until the discussion — I will pause after the topology picture if the room is already there.</a:t>
            </a:r>
          </a:p>
          <a:p/>
          <a:p>
            <a:r>
              <a:t>IF ASKED:</a:t>
            </a:r>
          </a:p>
          <a:p>
            <a:r>
              <a:t>If they want network first, skip to 'How a session reaches the application'. The problem slide can wait two minutes.</a:t>
            </a:r>
          </a:p>
          <a:p/>
          <a:p>
            <a:r>
              <a:t>DO NOT:</a:t>
            </a:r>
          </a:p>
          <a:p>
            <a:r>
              <a:t>Do not read a table of timings aloud. Point at the two clocks and move.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This is an insurance distribution problem, not a hosting problem. We hold a composite corporate-agency licence. If we cannot show suitability, customer consent, customer-device payment and a reconciled policy, we do not have a sale we can stand behind. That is why we are not wrapping someone else's portal.</a:t>
            </a:r>
          </a:p>
          <a:p/>
          <a:p>
            <a:r>
              <a:t>IF ASKED:</a:t>
            </a:r>
          </a:p>
          <a:p>
            <a:r>
              <a:t>Health, Motor and DIY are later horizons. Do not design them in this sitting.</a:t>
            </a:r>
          </a:p>
          <a:p/>
          <a:p>
            <a:r>
              <a:t>DO NOT:</a:t>
            </a:r>
          </a:p>
          <a:p>
            <a:r>
              <a:t>Do not invent a Product signature. Rajal owns volumes and business sign-off.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2 min</a:t>
            </a:r>
          </a:p>
          <a:p/>
          <a:p>
            <a:r>
              <a:t>SAY:</a:t>
            </a:r>
          </a:p>
          <a:p>
            <a:r>
              <a:t>R0 is narrow on purpose: one RM, one ETB customer, one Group A insurer, assisted Life. Depth over breadth. The five bars on this slide are not features — they are gates. If a shortcut skips one of them, it is not a simplification.</a:t>
            </a:r>
          </a:p>
          <a:p/>
          <a:p>
            <a:r>
              <a:t>IF ASKED:</a:t>
            </a:r>
          </a:p>
          <a:p>
            <a:r>
              <a:t>Volumes are still Product assumptions. They do not change the Dev/UAT network shape.</a:t>
            </a:r>
          </a:p>
          <a:p/>
          <a:p>
            <a:r>
              <a:t>DO NOT:</a:t>
            </a:r>
          </a:p>
          <a:p>
            <a:r>
              <a:t>Do not expand into DIY, hybrid, or a second line of business to look more complete.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5 min</a:t>
            </a:r>
          </a:p>
          <a:p/>
          <a:p>
            <a:r>
              <a:t>SAY:</a:t>
            </a:r>
          </a:p>
          <a:p>
            <a:r>
              <a:t>Forget boxes for a moment — this sequence is the architecture. Flutter never calls the aggregator, never calls the database, never calls Apigee. The customer phone appears twice: OTP and pay. If someone proposes collapsing quote and suitability into one service to look smaller, that is a control failure dressed as simplicity.</a:t>
            </a:r>
          </a:p>
          <a:p/>
          <a:p>
            <a:r>
              <a:t>IF ASKED:</a:t>
            </a:r>
          </a:p>
          <a:p>
            <a:r>
              <a:t>Why several services? Because a later Health journey must not rewrite Life. Different systems of record stay different.</a:t>
            </a:r>
          </a:p>
          <a:p/>
          <a:p>
            <a:r>
              <a:t>DO NOT:</a:t>
            </a:r>
          </a:p>
          <a:p>
            <a:r>
              <a:t>Do not call Kafka the audit log. Do not accept RM-pays-for-the-customer as a UAT exception.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4 min</a:t>
            </a:r>
          </a:p>
          <a:p/>
          <a:p>
            <a:r>
              <a:t>SAY:</a:t>
            </a:r>
          </a:p>
          <a:p>
            <a:r>
              <a:t>A session is terminated at the edge, then at API Gateway, then at an internal load balancer. You cannot curl a pod from the internet — that is intentional. If the room asks why not a public ALB, the one-line answer is: it would add a public target in front of a front door we already have. That is ADR-018. Changing it is a Deepali exposure decision, not a Dev convenience. Do not agree to a public ALB 'just for Dev'.</a:t>
            </a:r>
          </a:p>
          <a:p/>
          <a:p>
            <a:r>
              <a:t>IF ASKED:</a:t>
            </a:r>
          </a:p>
          <a:p>
            <a:r>
              <a:t>Use FAQ on public ALB. Play 2 if they insist. Play 3 if they want a redesign in the last twenty minutes.</a:t>
            </a:r>
          </a:p>
          <a:p/>
          <a:p>
            <a:r>
              <a:t>DO NOT:</a:t>
            </a:r>
          </a:p>
          <a:p>
            <a:r>
              <a:t>Do not contrast this with neighbour applications on the slide. Answer that only if asked, from the notes.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Two different outsides. Mixing them is how CIF ends up on the public internet. The adapter's base URL is the Apigee proxy, not the aggregator host. Publishing NAT Elastic IPs to 1SB allowlists the wrong host — ADR-020. I will not read out an IP list; that action sits with the Apigee team and does not block vpc-dev.</a:t>
            </a:r>
          </a:p>
          <a:p/>
          <a:p>
            <a:r>
              <a:t>IF ASKED:</a:t>
            </a:r>
          </a:p>
          <a:p>
            <a:r>
              <a:t>Apigee edition and IPs: Play 3, DEP-20260914-apg. Dev uses stubs.</a:t>
            </a:r>
          </a:p>
          <a:p/>
          <a:p>
            <a:r>
              <a:t>DO NOT:</a:t>
            </a:r>
          </a:p>
          <a:p>
            <a:r>
              <a:t>Do not promise the Apigee product exists today. Do not invent IPs.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This is the runtime picture. Three facts: we attach as a spoke — we do not build a second hub. Inbound is the path you just saw. Outbound leaves through Apigee. The picture is a rendering of the LLD. If it disagrees with an ADR, the ADR wins. I will pause here if you want to interrogate the drawing; otherwise I will keep moving so we protect discussion time.</a:t>
            </a:r>
          </a:p>
          <a:p/>
          <a:p>
            <a:r>
              <a:t>IF ASKED:</a:t>
            </a:r>
          </a:p>
          <a:p>
            <a:r>
              <a:t>If the drawing is too busy, the previous two slides are the same facts in sequence.</a:t>
            </a:r>
          </a:p>
          <a:p/>
          <a:p>
            <a:r>
              <a:t>DO NOT:</a:t>
            </a:r>
          </a:p>
          <a:p>
            <a:r>
              <a:t>Do not walk every box. Offer the LLD after the sitting.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2 min</a:t>
            </a:r>
          </a:p>
          <a:p/>
          <a:p>
            <a:r>
              <a:t>SAY:</a:t>
            </a:r>
          </a:p>
          <a:p>
            <a:r>
              <a:t>Five accounts. Dev is not a sixth account — it is a VPC inside UAT, with its own route table, namespaces and schemas, so stubs cannot ride a production CBS route. CUG is not in R0; there is no consumer for it. Production is on this picture so you can see blast radius — we are not asking to vendor it today.</a:t>
            </a:r>
          </a:p>
          <a:p/>
          <a:p>
            <a:r>
              <a:t>IF ASKED:</a:t>
            </a:r>
          </a:p>
          <a:p>
            <a:r>
              <a:t>A split Dev account is a Cloud cost exception we are not requesting. We can consume it; we are not asking for it.</a:t>
            </a:r>
          </a:p>
          <a:p/>
          <a:p>
            <a:r>
              <a:t>DO NOT:</a:t>
            </a:r>
          </a:p>
          <a:p>
            <a:r>
              <a:t>Do not offer to vendor production 'while we are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Please do not let anyone treat the search cluster as the audit pack. Search can be rebuilt. WORM cannot be shortened because we are in a hurry. We are not binding LDAP from Kubernetes to Active Directory — that would be a new credential path. VA/PT does not exist yet; we will not pentest an environment we have not been allowed to vendor.</a:t>
            </a:r>
          </a:p>
          <a:p/>
          <a:p>
            <a:r>
              <a:t>IF ASKED:</a:t>
            </a:r>
          </a:p>
          <a:p>
            <a:r>
              <a:t>CIS class is a proposal; Shailja and CISO register it. Play 2. Play 4 on pentest.</a:t>
            </a:r>
          </a:p>
          <a:p/>
          <a:p>
            <a:r>
              <a:t>DO NOT:</a:t>
            </a:r>
          </a:p>
          <a:p>
            <a:r>
              <a:t>Do not classify the system into the CIS register from this slide. Do not say pentest is next week unless a date exists.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3 min</a:t>
            </a:r>
          </a:p>
          <a:p/>
          <a:p>
            <a:r>
              <a:t>SAY:</a:t>
            </a:r>
          </a:p>
          <a:p>
            <a:r>
              <a:t>Session-create goes out through Apigee. The customer completes 3-D Secure on their own device. The callback arrives on a separate API Gateway route, not on the RM session. We do not mark sold because a payment API returned 200. We wait for reconciled. If the callback is lost, state is uncertain and we block a second attempt. Timeouts do not mint money.</a:t>
            </a:r>
          </a:p>
          <a:p/>
          <a:p>
            <a:r>
              <a:t>IF ASKED:</a:t>
            </a:r>
          </a:p>
          <a:p>
            <a:r>
              <a:t>PAN never on the RM device and never in our logs. We use the bank payment gateway; we do not replace it.</a:t>
            </a:r>
          </a:p>
          <a:p/>
          <a:p>
            <a:r>
              <a:t>DO NOT:</a:t>
            </a:r>
          </a:p>
          <a:p>
            <a:r>
              <a:t>Do not accept 'RM pays on behalf for the UAT demo' as an architecture exception.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2 min</a:t>
            </a:r>
          </a:p>
          <a:p/>
          <a:p>
            <a:r>
              <a:t>SAY:</a:t>
            </a:r>
          </a:p>
          <a:p>
            <a:r>
              <a:t>Three numbers, one caveat: we have not measured them in a drill. That is exactly why this is not the production ARB. Warm standby matches a one-hour RTO. Active-active is a different money and data problem — I will not 'fix' SOP language in this hour without Aarti and Shivanshi.</a:t>
            </a:r>
          </a:p>
          <a:p/>
          <a:p>
            <a:r>
              <a:t>IF ASKED:</a:t>
            </a:r>
          </a:p>
          <a:p>
            <a:r>
              <a:t>Play 4. NFR-DR-04 is the drill.</a:t>
            </a:r>
          </a:p>
          <a:p/>
          <a:p>
            <a:r>
              <a:t>DO NOT:</a:t>
            </a:r>
          </a:p>
          <a:p>
            <a:r>
              <a:t>Do not claim DR is proven. Do not drop Hyderabad 'to save money' without Aarti.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TIMEBOX: 2 min</a:t>
            </a:r>
          </a:p>
          <a:p/>
          <a:p>
            <a:r>
              <a:t>SAY:</a:t>
            </a:r>
          </a:p>
          <a:p>
            <a:r>
              <a:t>The decision we are requesting: record this as the intended R0 design, and allow Dev and UAT to be provisioned on this shape. Production authority, DR proof and pentest belong to a later sitting. I will stop here so we can discuss.</a:t>
            </a:r>
          </a:p>
          <a:p/>
          <a:p>
            <a:r>
              <a:t>IF ASKED:</a:t>
            </a:r>
          </a:p>
          <a:p>
            <a:r>
              <a:t>If they will only write 'approved', ask them to qualify: first review, Dev/UAT vending, production ARB still required.</a:t>
            </a:r>
          </a:p>
          <a:p/>
          <a:p>
            <a:r>
              <a:t>DO NOT:</a:t>
            </a:r>
          </a:p>
          <a:p>
            <a:r>
              <a:t>Do not leave without a written observation, even if it is 'no objection to Dev/UAT, firewall remainder with Security'.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open only if asked</a:t>
            </a:r>
          </a:p>
          <a:p/>
          <a:p>
            <a:r>
              <a:t>SAY:</a:t>
            </a:r>
          </a:p>
          <a:p>
            <a:r>
              <a:t>Open only if a network SME quizzes terms. You do not need BGP in this sitting.</a:t>
            </a:r>
          </a:p>
          <a:p/>
          <a:p>
            <a:r>
              <a:t>IF ASKED:</a:t>
            </a:r>
          </a:p>
          <a:p>
            <a:r>
              <a:t>Below this table — Play 3, with SRE and bank network.</a:t>
            </a:r>
          </a:p>
          <a:p/>
          <a:p>
            <a:r>
              <a:t>DO NOT:</a:t>
            </a:r>
          </a:p>
          <a:p>
            <a:r>
              <a:t>Do not draw BGP on a whiteboard unless SRE is speaking.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 open only if asked</a:t>
            </a:r>
          </a:p>
          <a:p/>
          <a:p>
            <a:r>
              <a:t>SAY:</a:t>
            </a:r>
          </a:p>
          <a:p>
            <a:r>
              <a:t>Memorise Play 3 and Play 5. Put them on a card in your pocket.</a:t>
            </a:r>
          </a:p>
          <a:p/>
          <a:p>
            <a:r>
              <a:t>DO NOT:</a:t>
            </a:r>
          </a:p>
          <a:p>
            <a:r>
              <a:t>Do not present this slide in the main walk.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17320"/>
            <a:ext cx="10789920" cy="365760"/>
          </a:xfrm>
          <a:prstGeom prst="rect">
            <a:avLst/>
          </a:prstGeom>
          <a:noFill/>
        </p:spPr>
        <p:txBody>
          <a:bodyPr wrap="none">
            <a:spAutoFit/>
          </a:bodyPr>
          <a:lstStyle/>
          <a:p>
            <a:r>
              <a:rPr sz="1400" b="0">
                <a:solidFill>
                  <a:srgbClr val="C4A35A"/>
                </a:solidFill>
                <a:latin typeface="Calibri"/>
              </a:rPr>
              <a:t>ARCHITECTURE REVIEW BOARD  ·  FIRST SITTING</a:t>
            </a:r>
          </a:p>
        </p:txBody>
      </p:sp>
      <p:sp>
        <p:nvSpPr>
          <p:cNvPr id="5" name="TextBox 4"/>
          <p:cNvSpPr txBox="1"/>
          <p:nvPr/>
        </p:nvSpPr>
        <p:spPr>
          <a:xfrm>
            <a:off x="640080" y="1874519"/>
            <a:ext cx="10789920" cy="1463040"/>
          </a:xfrm>
          <a:prstGeom prst="rect">
            <a:avLst/>
          </a:prstGeom>
          <a:noFill/>
        </p:spPr>
        <p:txBody>
          <a:bodyPr wrap="square">
            <a:spAutoFit/>
          </a:bodyPr>
          <a:lstStyle/>
          <a:p>
            <a:r>
              <a:rPr sz="3200" b="1">
                <a:solidFill>
                  <a:srgbClr val="FFFFFF"/>
                </a:solidFill>
                <a:latin typeface="Calibri"/>
              </a:rPr>
              <a:t>Insurance Distribution Platform</a:t>
            </a:r>
          </a:p>
          <a:p>
            <a:r>
              <a:rPr sz="1800" b="0">
                <a:solidFill>
                  <a:srgbClr val="FFFFFF"/>
                </a:solidFill>
                <a:latin typeface="Calibri"/>
              </a:rPr>
              <a:t>Assisted Life  ·  intended design for Dev and UAT</a:t>
            </a:r>
          </a:p>
        </p:txBody>
      </p:sp>
      <p:sp>
        <p:nvSpPr>
          <p:cNvPr id="6" name="Rounded Rectangle 5"/>
          <p:cNvSpPr/>
          <p:nvPr/>
        </p:nvSpPr>
        <p:spPr>
          <a:xfrm>
            <a:off x="640080" y="3977639"/>
            <a:ext cx="3200400" cy="1051560"/>
          </a:xfrm>
          <a:prstGeom prst="roundRect">
            <a:avLst>
              <a:gd name="adj" fmla="val 8000"/>
            </a:avLst>
          </a:prstGeom>
          <a:solidFill>
            <a:srgbClr val="002A55"/>
          </a:solidFill>
          <a:ln w="12700">
            <a:solidFill>
              <a:srgbClr val="C4A35A"/>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2200" b="1">
                <a:solidFill>
                  <a:srgbClr val="C4A35A"/>
                </a:solidFill>
                <a:latin typeface="Calibri"/>
              </a:rPr>
              <a:t>35 min</a:t>
            </a:r>
          </a:p>
          <a:p>
            <a:pPr algn="ctr">
              <a:spcAft>
                <a:spcPts val="400"/>
              </a:spcAft>
            </a:pPr>
            <a:r>
              <a:rPr sz="1300" b="0">
                <a:solidFill>
                  <a:srgbClr val="FFFFFF"/>
                </a:solidFill>
                <a:latin typeface="Calibri"/>
              </a:rPr>
              <a:t>Walkthrough</a:t>
            </a:r>
          </a:p>
        </p:txBody>
      </p:sp>
      <p:sp>
        <p:nvSpPr>
          <p:cNvPr id="7" name="Rounded Rectangle 6"/>
          <p:cNvSpPr/>
          <p:nvPr/>
        </p:nvSpPr>
        <p:spPr>
          <a:xfrm>
            <a:off x="4069080" y="3977639"/>
            <a:ext cx="3200400" cy="1051560"/>
          </a:xfrm>
          <a:prstGeom prst="roundRect">
            <a:avLst>
              <a:gd name="adj" fmla="val 8000"/>
            </a:avLst>
          </a:prstGeom>
          <a:solidFill>
            <a:srgbClr val="002A55"/>
          </a:solidFill>
          <a:ln w="12700">
            <a:solidFill>
              <a:srgbClr val="C4A35A"/>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2200" b="1">
                <a:solidFill>
                  <a:srgbClr val="C4A35A"/>
                </a:solidFill>
                <a:latin typeface="Calibri"/>
              </a:rPr>
              <a:t>25 min</a:t>
            </a:r>
          </a:p>
          <a:p>
            <a:pPr algn="ctr">
              <a:spcAft>
                <a:spcPts val="400"/>
              </a:spcAft>
            </a:pPr>
            <a:r>
              <a:rPr sz="1300" b="0">
                <a:solidFill>
                  <a:srgbClr val="FFFFFF"/>
                </a:solidFill>
                <a:latin typeface="Calibri"/>
              </a:rPr>
              <a:t>Discussion</a:t>
            </a:r>
          </a:p>
        </p:txBody>
      </p:sp>
      <p:sp>
        <p:nvSpPr>
          <p:cNvPr id="8" name="Rounded Rectangle 7"/>
          <p:cNvSpPr/>
          <p:nvPr/>
        </p:nvSpPr>
        <p:spPr>
          <a:xfrm>
            <a:off x="7498079" y="3977639"/>
            <a:ext cx="3200400" cy="1051560"/>
          </a:xfrm>
          <a:prstGeom prst="roundRect">
            <a:avLst>
              <a:gd name="adj" fmla="val 8000"/>
            </a:avLst>
          </a:prstGeom>
          <a:solidFill>
            <a:srgbClr val="002A55"/>
          </a:solidFill>
          <a:ln w="12700">
            <a:solidFill>
              <a:srgbClr val="C4A35A"/>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2200" b="1">
                <a:solidFill>
                  <a:srgbClr val="C4A35A"/>
                </a:solidFill>
                <a:latin typeface="Calibri"/>
              </a:rPr>
              <a:t>Not today</a:t>
            </a:r>
          </a:p>
          <a:p>
            <a:pPr algn="ctr">
              <a:spcAft>
                <a:spcPts val="400"/>
              </a:spcAft>
            </a:pPr>
            <a:r>
              <a:rPr sz="1300" b="0">
                <a:solidFill>
                  <a:srgbClr val="FFFFFF"/>
                </a:solidFill>
                <a:latin typeface="Calibri"/>
              </a:rPr>
              <a:t>Production</a:t>
            </a:r>
          </a:p>
        </p:txBody>
      </p:sp>
      <p:sp>
        <p:nvSpPr>
          <p:cNvPr id="9" name="TextBox 8"/>
          <p:cNvSpPr txBox="1"/>
          <p:nvPr/>
        </p:nvSpPr>
        <p:spPr>
          <a:xfrm>
            <a:off x="10607040" y="6537960"/>
            <a:ext cx="1325880" cy="219456"/>
          </a:xfrm>
          <a:prstGeom prst="rect">
            <a:avLst/>
          </a:prstGeom>
          <a:noFill/>
        </p:spPr>
        <p:txBody>
          <a:bodyPr wrap="none">
            <a:spAutoFit/>
          </a:bodyPr>
          <a:lstStyle/>
          <a:p>
            <a:pPr algn="r"/>
            <a:r>
              <a:rPr sz="1000" b="0">
                <a:solidFill>
                  <a:srgbClr val="C4A35A"/>
                </a:solidFill>
                <a:latin typeface="Calibri"/>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Purpose of this sitting</a:t>
            </a:r>
          </a:p>
        </p:txBody>
      </p:sp>
      <p:sp>
        <p:nvSpPr>
          <p:cNvPr id="6" name="Oval 5"/>
          <p:cNvSpPr/>
          <p:nvPr/>
        </p:nvSpPr>
        <p:spPr>
          <a:xfrm>
            <a:off x="1005840" y="1051560"/>
            <a:ext cx="4572000" cy="4572000"/>
          </a:xfrm>
          <a:prstGeom prst="ellipse">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spcAft>
                <a:spcPts val="400"/>
              </a:spcAft>
            </a:pPr>
            <a:r>
              <a:rPr sz="7200" b="1">
                <a:solidFill>
                  <a:srgbClr val="0E7490"/>
                </a:solidFill>
                <a:latin typeface="Calibri"/>
              </a:rPr>
              <a:t>35</a:t>
            </a:r>
          </a:p>
          <a:p>
            <a:pPr algn="ctr">
              <a:spcAft>
                <a:spcPts val="400"/>
              </a:spcAft>
            </a:pPr>
            <a:r>
              <a:rPr sz="1600" b="0">
                <a:solidFill>
                  <a:srgbClr val="57657A"/>
                </a:solidFill>
                <a:latin typeface="Calibri"/>
              </a:rPr>
              <a:t>minutes to walk the design</a:t>
            </a:r>
          </a:p>
        </p:txBody>
      </p:sp>
      <p:sp>
        <p:nvSpPr>
          <p:cNvPr id="7" name="Oval 6"/>
          <p:cNvSpPr/>
          <p:nvPr/>
        </p:nvSpPr>
        <p:spPr>
          <a:xfrm>
            <a:off x="6583680" y="1051560"/>
            <a:ext cx="4572000" cy="4572000"/>
          </a:xfrm>
          <a:prstGeom prst="ellipse">
            <a:avLst/>
          </a:prstGeom>
          <a:solidFill>
            <a:srgbClr val="FFFFFF"/>
          </a:solidFill>
          <a:ln w="12700">
            <a:solidFill>
              <a:srgbClr val="C4A35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ctr">
              <a:spcAft>
                <a:spcPts val="400"/>
              </a:spcAft>
            </a:pPr>
            <a:r>
              <a:rPr sz="7200" b="1">
                <a:solidFill>
                  <a:srgbClr val="C4A35A"/>
                </a:solidFill>
                <a:latin typeface="Calibri"/>
              </a:rPr>
              <a:t>25</a:t>
            </a:r>
          </a:p>
          <a:p>
            <a:pPr algn="ctr">
              <a:spcAft>
                <a:spcPts val="400"/>
              </a:spcAft>
            </a:pPr>
            <a:r>
              <a:rPr sz="1600" b="0">
                <a:solidFill>
                  <a:srgbClr val="57657A"/>
                </a:solidFill>
                <a:latin typeface="Calibri"/>
              </a:rPr>
              <a:t>minutes for the board</a:t>
            </a:r>
          </a:p>
        </p:txBody>
      </p:sp>
      <p:sp>
        <p:nvSpPr>
          <p:cNvPr id="8" name="Rectangle 7"/>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0" name="TextBox 9"/>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Why this platform exists</a:t>
            </a:r>
          </a:p>
        </p:txBody>
      </p:sp>
      <p:sp>
        <p:nvSpPr>
          <p:cNvPr id="6" name="Rounded Rectangle 5"/>
          <p:cNvSpPr/>
          <p:nvPr/>
        </p:nvSpPr>
        <p:spPr>
          <a:xfrm>
            <a:off x="365760" y="960120"/>
            <a:ext cx="5577840" cy="23317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66928" y="1161288"/>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100" b="1">
                <a:solidFill>
                  <a:srgbClr val="FFFFFF"/>
                </a:solidFill>
                <a:latin typeface="Calibri"/>
              </a:rPr>
              <a:t>01</a:t>
            </a:r>
          </a:p>
        </p:txBody>
      </p:sp>
      <p:sp>
        <p:nvSpPr>
          <p:cNvPr id="8" name="TextBox 7"/>
          <p:cNvSpPr txBox="1"/>
          <p:nvPr/>
        </p:nvSpPr>
        <p:spPr>
          <a:xfrm>
            <a:off x="1078992" y="1161288"/>
            <a:ext cx="4617720" cy="1965960"/>
          </a:xfrm>
          <a:prstGeom prst="rect">
            <a:avLst/>
          </a:prstGeom>
          <a:noFill/>
        </p:spPr>
        <p:txBody>
          <a:bodyPr wrap="square">
            <a:spAutoFit/>
          </a:bodyPr>
          <a:lstStyle/>
          <a:p>
            <a:r>
              <a:rPr sz="1800" b="1">
                <a:solidFill>
                  <a:srgbClr val="003366"/>
                </a:solidFill>
                <a:latin typeface="Calibri"/>
              </a:rPr>
              <a:t>Evidence we must own</a:t>
            </a:r>
          </a:p>
          <a:p>
            <a:pPr>
              <a:spcBef>
                <a:spcPts val="800"/>
              </a:spcBef>
            </a:pPr>
            <a:r>
              <a:rPr sz="1400" b="0">
                <a:solidFill>
                  <a:srgbClr val="1E293B"/>
                </a:solidFill>
                <a:latin typeface="Calibri"/>
              </a:rPr>
              <a:t>A complete Life sale has to leave suitability, consent, payment and issuance records that the bank can defend.</a:t>
            </a:r>
          </a:p>
        </p:txBody>
      </p:sp>
      <p:sp>
        <p:nvSpPr>
          <p:cNvPr id="9" name="Rounded Rectangle 8"/>
          <p:cNvSpPr/>
          <p:nvPr/>
        </p:nvSpPr>
        <p:spPr>
          <a:xfrm>
            <a:off x="6263640" y="960120"/>
            <a:ext cx="5577840" cy="23317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64807" y="1161288"/>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100" b="1">
                <a:solidFill>
                  <a:srgbClr val="FFFFFF"/>
                </a:solidFill>
                <a:latin typeface="Calibri"/>
              </a:rPr>
              <a:t>02</a:t>
            </a:r>
          </a:p>
        </p:txBody>
      </p:sp>
      <p:sp>
        <p:nvSpPr>
          <p:cNvPr id="11" name="TextBox 10"/>
          <p:cNvSpPr txBox="1"/>
          <p:nvPr/>
        </p:nvSpPr>
        <p:spPr>
          <a:xfrm>
            <a:off x="6976872" y="1161288"/>
            <a:ext cx="4617720" cy="1965960"/>
          </a:xfrm>
          <a:prstGeom prst="rect">
            <a:avLst/>
          </a:prstGeom>
          <a:noFill/>
        </p:spPr>
        <p:txBody>
          <a:bodyPr wrap="square">
            <a:spAutoFit/>
          </a:bodyPr>
          <a:lstStyle/>
          <a:p>
            <a:r>
              <a:rPr sz="1800" b="1">
                <a:solidFill>
                  <a:srgbClr val="003366"/>
                </a:solidFill>
                <a:latin typeface="Calibri"/>
              </a:rPr>
              <a:t>Controls that cannot be skipped</a:t>
            </a:r>
          </a:p>
          <a:p>
            <a:pPr>
              <a:spcBef>
                <a:spcPts val="800"/>
              </a:spcBef>
            </a:pPr>
            <a:r>
              <a:rPr sz="1400" b="0">
                <a:solidFill>
                  <a:srgbClr val="1E293B"/>
                </a:solidFill>
                <a:latin typeface="Calibri"/>
              </a:rPr>
              <a:t>Those records cannot be reconstructed after the fact. A missing OTP is not a paperwork issue; it is a failed sale.</a:t>
            </a:r>
          </a:p>
        </p:txBody>
      </p:sp>
      <p:sp>
        <p:nvSpPr>
          <p:cNvPr id="12" name="Rounded Rectangle 11"/>
          <p:cNvSpPr/>
          <p:nvPr/>
        </p:nvSpPr>
        <p:spPr>
          <a:xfrm>
            <a:off x="365760" y="3520440"/>
            <a:ext cx="5577840" cy="23317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 y="3721608"/>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100" b="1">
                <a:solidFill>
                  <a:srgbClr val="FFFFFF"/>
                </a:solidFill>
                <a:latin typeface="Calibri"/>
              </a:rPr>
              <a:t>03</a:t>
            </a:r>
          </a:p>
        </p:txBody>
      </p:sp>
      <p:sp>
        <p:nvSpPr>
          <p:cNvPr id="14" name="TextBox 13"/>
          <p:cNvSpPr txBox="1"/>
          <p:nvPr/>
        </p:nvSpPr>
        <p:spPr>
          <a:xfrm>
            <a:off x="1078992" y="3721608"/>
            <a:ext cx="4617720" cy="1965960"/>
          </a:xfrm>
          <a:prstGeom prst="rect">
            <a:avLst/>
          </a:prstGeom>
          <a:noFill/>
        </p:spPr>
        <p:txBody>
          <a:bodyPr wrap="square">
            <a:spAutoFit/>
          </a:bodyPr>
          <a:lstStyle/>
          <a:p>
            <a:r>
              <a:rPr sz="1800" b="1">
                <a:solidFill>
                  <a:srgbClr val="003366"/>
                </a:solidFill>
                <a:latin typeface="Calibri"/>
              </a:rPr>
              <a:t>The customer pays</a:t>
            </a:r>
          </a:p>
          <a:p>
            <a:pPr>
              <a:spcBef>
                <a:spcPts val="800"/>
              </a:spcBef>
            </a:pPr>
            <a:r>
              <a:rPr sz="1400" b="0">
                <a:solidFill>
                  <a:srgbClr val="1E293B"/>
                </a:solidFill>
                <a:latin typeface="Calibri"/>
              </a:rPr>
              <a:t>Premium on a staff device is the wrong control. The customer completes payment on the customer's device.</a:t>
            </a:r>
          </a:p>
        </p:txBody>
      </p:sp>
      <p:sp>
        <p:nvSpPr>
          <p:cNvPr id="15" name="Rounded Rectangle 14"/>
          <p:cNvSpPr/>
          <p:nvPr/>
        </p:nvSpPr>
        <p:spPr>
          <a:xfrm>
            <a:off x="6263640" y="3520440"/>
            <a:ext cx="5577840" cy="23317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64807" y="3721608"/>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100" b="1">
                <a:solidFill>
                  <a:srgbClr val="FFFFFF"/>
                </a:solidFill>
                <a:latin typeface="Calibri"/>
              </a:rPr>
              <a:t>04</a:t>
            </a:r>
          </a:p>
        </p:txBody>
      </p:sp>
      <p:sp>
        <p:nvSpPr>
          <p:cNvPr id="17" name="TextBox 16"/>
          <p:cNvSpPr txBox="1"/>
          <p:nvPr/>
        </p:nvSpPr>
        <p:spPr>
          <a:xfrm>
            <a:off x="6976872" y="3721608"/>
            <a:ext cx="4617720" cy="1965960"/>
          </a:xfrm>
          <a:prstGeom prst="rect">
            <a:avLst/>
          </a:prstGeom>
          <a:noFill/>
        </p:spPr>
        <p:txBody>
          <a:bodyPr wrap="square">
            <a:spAutoFit/>
          </a:bodyPr>
          <a:lstStyle/>
          <a:p>
            <a:r>
              <a:rPr sz="1800" b="1">
                <a:solidFill>
                  <a:srgbClr val="003366"/>
                </a:solidFill>
                <a:latin typeface="Calibri"/>
              </a:rPr>
              <a:t>A portal is not a pack</a:t>
            </a:r>
          </a:p>
          <a:p>
            <a:pPr>
              <a:spcBef>
                <a:spcPts val="800"/>
              </a:spcBef>
            </a:pPr>
            <a:r>
              <a:rPr sz="1400" b="0">
                <a:solidFill>
                  <a:srgbClr val="1E293B"/>
                </a:solidFill>
                <a:latin typeface="Calibri"/>
              </a:rPr>
              <a:t>Sending the customer to an aggregator site does not produce a bank-owned audit trail, and it does not let us replace that aggregator.</a:t>
            </a:r>
          </a:p>
        </p:txBody>
      </p:sp>
      <p:sp>
        <p:nvSpPr>
          <p:cNvPr id="18" name="Rectangle 17"/>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20" name="TextBox 19"/>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What R0 must deliver</a:t>
            </a:r>
          </a:p>
        </p:txBody>
      </p:sp>
      <p:sp>
        <p:nvSpPr>
          <p:cNvPr id="6" name="Rounded Rectangle 5"/>
          <p:cNvSpPr/>
          <p:nvPr/>
        </p:nvSpPr>
        <p:spPr>
          <a:xfrm>
            <a:off x="365760" y="1051560"/>
            <a:ext cx="11430000" cy="2148840"/>
          </a:xfrm>
          <a:prstGeom prst="roundRect">
            <a:avLst>
              <a:gd name="adj" fmla="val 8000"/>
            </a:avLst>
          </a:prstGeom>
          <a:solidFill>
            <a:srgbClr val="FFFFFF"/>
          </a:solidFill>
          <a:ln w="12700">
            <a:solidFill>
              <a:srgbClr val="C4A35A"/>
            </a:solidFill>
          </a:ln>
        </p:spPr>
        <p:style>
          <a:lnRef idx="1">
            <a:schemeClr val="accent1"/>
          </a:lnRef>
          <a:fillRef idx="3">
            <a:schemeClr val="accent1"/>
          </a:fillRef>
          <a:effectRef idx="2">
            <a:schemeClr val="accent1"/>
          </a:effectRef>
          <a:fontRef idx="minor">
            <a:schemeClr val="lt1"/>
          </a:fontRef>
        </p:style>
        <p:txBody>
          <a:bodyPr rtlCol="0" anchor="ctr" wrap="square" lIns="256032" rIns="256032" tIns="54864" bIns="54864"/>
          <a:lstStyle/>
          <a:p>
            <a:pPr algn="l">
              <a:spcAft>
                <a:spcPts val="400"/>
              </a:spcAft>
            </a:pPr>
            <a:r>
              <a:rPr sz="2000" b="1">
                <a:solidFill>
                  <a:srgbClr val="003366"/>
                </a:solidFill>
                <a:latin typeface="Calibri"/>
              </a:rPr>
              <a:t>One specified-person relationship manager completes a Term or Savings/ULIP sale to one existing customer — quote to policy — on a platform the bank owns.</a:t>
            </a:r>
          </a:p>
        </p:txBody>
      </p:sp>
      <p:sp>
        <p:nvSpPr>
          <p:cNvPr id="7" name="Rounded Rectangle 6"/>
          <p:cNvSpPr/>
          <p:nvPr/>
        </p:nvSpPr>
        <p:spPr>
          <a:xfrm>
            <a:off x="365760" y="3520440"/>
            <a:ext cx="2168956" cy="214884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500" b="1">
                <a:solidFill>
                  <a:srgbClr val="FFFFFF"/>
                </a:solidFill>
                <a:latin typeface="Calibri"/>
              </a:rPr>
              <a:t>Suitability first</a:t>
            </a:r>
          </a:p>
        </p:txBody>
      </p:sp>
      <p:sp>
        <p:nvSpPr>
          <p:cNvPr id="8" name="Rounded Rectangle 7"/>
          <p:cNvSpPr/>
          <p:nvPr/>
        </p:nvSpPr>
        <p:spPr>
          <a:xfrm>
            <a:off x="2681020" y="3520440"/>
            <a:ext cx="2168956" cy="214884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500" b="1">
                <a:solidFill>
                  <a:srgbClr val="FFFFFF"/>
                </a:solidFill>
                <a:latin typeface="Calibri"/>
              </a:rPr>
              <a:t>Customer OTP</a:t>
            </a:r>
          </a:p>
        </p:txBody>
      </p:sp>
      <p:sp>
        <p:nvSpPr>
          <p:cNvPr id="9" name="Rounded Rectangle 8"/>
          <p:cNvSpPr/>
          <p:nvPr/>
        </p:nvSpPr>
        <p:spPr>
          <a:xfrm>
            <a:off x="4996281" y="3520440"/>
            <a:ext cx="2168956" cy="214884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500" b="1">
                <a:solidFill>
                  <a:srgbClr val="FFFFFF"/>
                </a:solidFill>
                <a:latin typeface="Calibri"/>
              </a:rPr>
              <a:t>Customer-device pay</a:t>
            </a:r>
          </a:p>
        </p:txBody>
      </p:sp>
      <p:sp>
        <p:nvSpPr>
          <p:cNvPr id="10" name="Rounded Rectangle 9"/>
          <p:cNvSpPr/>
          <p:nvPr/>
        </p:nvSpPr>
        <p:spPr>
          <a:xfrm>
            <a:off x="7311542" y="3520440"/>
            <a:ext cx="2168956" cy="214884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500" b="1">
                <a:solidFill>
                  <a:srgbClr val="FFFFFF"/>
                </a:solidFill>
                <a:latin typeface="Calibri"/>
              </a:rPr>
              <a:t>Issue only when reconciled</a:t>
            </a:r>
          </a:p>
        </p:txBody>
      </p:sp>
      <p:sp>
        <p:nvSpPr>
          <p:cNvPr id="11" name="Rounded Rectangle 10"/>
          <p:cNvSpPr/>
          <p:nvPr/>
        </p:nvSpPr>
        <p:spPr>
          <a:xfrm>
            <a:off x="9626803" y="3520440"/>
            <a:ext cx="2168956" cy="214884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500" b="1">
                <a:solidFill>
                  <a:srgbClr val="FFFFFF"/>
                </a:solidFill>
                <a:latin typeface="Calibri"/>
              </a:rPr>
              <a:t>Seven-year audit</a:t>
            </a:r>
          </a:p>
        </p:txBody>
      </p:sp>
      <p:sp>
        <p:nvSpPr>
          <p:cNvPr id="12" name="Rectangle 11"/>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4" name="TextBox 13"/>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How one sale completes</a:t>
            </a:r>
          </a:p>
        </p:txBody>
      </p:sp>
      <p:sp>
        <p:nvSpPr>
          <p:cNvPr id="6" name="Rounded Rectangle 5"/>
          <p:cNvSpPr/>
          <p:nvPr/>
        </p:nvSpPr>
        <p:spPr>
          <a:xfrm>
            <a:off x="365760" y="1417320"/>
            <a:ext cx="1775459" cy="3246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97457" y="1627632"/>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400" b="1">
                <a:solidFill>
                  <a:srgbClr val="FFFFFF"/>
                </a:solidFill>
                <a:latin typeface="Calibri"/>
              </a:rPr>
              <a:t>1</a:t>
            </a:r>
          </a:p>
        </p:txBody>
      </p:sp>
      <p:sp>
        <p:nvSpPr>
          <p:cNvPr id="8" name="TextBox 7"/>
          <p:cNvSpPr txBox="1"/>
          <p:nvPr/>
        </p:nvSpPr>
        <p:spPr>
          <a:xfrm>
            <a:off x="438912" y="2194560"/>
            <a:ext cx="1629155" cy="2194560"/>
          </a:xfrm>
          <a:prstGeom prst="rect">
            <a:avLst/>
          </a:prstGeom>
          <a:noFill/>
        </p:spPr>
        <p:txBody>
          <a:bodyPr wrap="square">
            <a:spAutoFit/>
          </a:bodyPr>
          <a:lstStyle/>
          <a:p>
            <a:pPr algn="ctr"/>
            <a:r>
              <a:rPr sz="1600" b="1">
                <a:solidFill>
                  <a:srgbClr val="003366"/>
                </a:solidFill>
                <a:latin typeface="Calibri"/>
              </a:rPr>
              <a:t>Identify</a:t>
            </a:r>
          </a:p>
          <a:p>
            <a:pPr algn="ctr"/>
            <a:r>
              <a:rPr sz="1200" b="0">
                <a:solidFill>
                  <a:srgbClr val="57657A"/>
                </a:solidFill>
                <a:latin typeface="Calibri"/>
              </a:rPr>
              <a:t>CIF on the bank path</a:t>
            </a:r>
          </a:p>
        </p:txBody>
      </p:sp>
      <p:sp>
        <p:nvSpPr>
          <p:cNvPr id="9" name="Rounded Rectangle 8"/>
          <p:cNvSpPr/>
          <p:nvPr/>
        </p:nvSpPr>
        <p:spPr>
          <a:xfrm>
            <a:off x="2305812" y="1417320"/>
            <a:ext cx="1775459" cy="3246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937509" y="1627632"/>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400" b="1">
                <a:solidFill>
                  <a:srgbClr val="FFFFFF"/>
                </a:solidFill>
                <a:latin typeface="Calibri"/>
              </a:rPr>
              <a:t>2</a:t>
            </a:r>
          </a:p>
        </p:txBody>
      </p:sp>
      <p:sp>
        <p:nvSpPr>
          <p:cNvPr id="11" name="TextBox 10"/>
          <p:cNvSpPr txBox="1"/>
          <p:nvPr/>
        </p:nvSpPr>
        <p:spPr>
          <a:xfrm>
            <a:off x="2378964" y="2194560"/>
            <a:ext cx="1629155" cy="2194560"/>
          </a:xfrm>
          <a:prstGeom prst="rect">
            <a:avLst/>
          </a:prstGeom>
          <a:noFill/>
        </p:spPr>
        <p:txBody>
          <a:bodyPr wrap="square">
            <a:spAutoFit/>
          </a:bodyPr>
          <a:lstStyle/>
          <a:p>
            <a:pPr algn="ctr"/>
            <a:r>
              <a:rPr sz="1600" b="1">
                <a:solidFill>
                  <a:srgbClr val="003366"/>
                </a:solidFill>
                <a:latin typeface="Calibri"/>
              </a:rPr>
              <a:t>Suitability</a:t>
            </a:r>
          </a:p>
          <a:p>
            <a:pPr algn="ctr"/>
            <a:r>
              <a:rPr sz="1200" b="0">
                <a:solidFill>
                  <a:srgbClr val="57657A"/>
                </a:solidFill>
                <a:latin typeface="Calibri"/>
              </a:rPr>
              <a:t>No quote without it</a:t>
            </a:r>
          </a:p>
        </p:txBody>
      </p:sp>
      <p:sp>
        <p:nvSpPr>
          <p:cNvPr id="12" name="Rounded Rectangle 11"/>
          <p:cNvSpPr/>
          <p:nvPr/>
        </p:nvSpPr>
        <p:spPr>
          <a:xfrm>
            <a:off x="4245863" y="1417320"/>
            <a:ext cx="1775459" cy="3246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77561" y="1627632"/>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400" b="1">
                <a:solidFill>
                  <a:srgbClr val="FFFFFF"/>
                </a:solidFill>
                <a:latin typeface="Calibri"/>
              </a:rPr>
              <a:t>3</a:t>
            </a:r>
          </a:p>
        </p:txBody>
      </p:sp>
      <p:sp>
        <p:nvSpPr>
          <p:cNvPr id="14" name="TextBox 13"/>
          <p:cNvSpPr txBox="1"/>
          <p:nvPr/>
        </p:nvSpPr>
        <p:spPr>
          <a:xfrm>
            <a:off x="4319015" y="2194560"/>
            <a:ext cx="1629155" cy="2194560"/>
          </a:xfrm>
          <a:prstGeom prst="rect">
            <a:avLst/>
          </a:prstGeom>
          <a:noFill/>
        </p:spPr>
        <p:txBody>
          <a:bodyPr wrap="square">
            <a:spAutoFit/>
          </a:bodyPr>
          <a:lstStyle/>
          <a:p>
            <a:pPr algn="ctr"/>
            <a:r>
              <a:rPr sz="1600" b="1">
                <a:solidFill>
                  <a:srgbClr val="003366"/>
                </a:solidFill>
                <a:latin typeface="Calibri"/>
              </a:rPr>
              <a:t>Consent</a:t>
            </a:r>
          </a:p>
          <a:p>
            <a:pPr algn="ctr"/>
            <a:r>
              <a:rPr sz="1200" b="0">
                <a:solidFill>
                  <a:srgbClr val="57657A"/>
                </a:solidFill>
                <a:latin typeface="Calibri"/>
              </a:rPr>
              <a:t>OTP on the customer phone</a:t>
            </a:r>
          </a:p>
        </p:txBody>
      </p:sp>
      <p:sp>
        <p:nvSpPr>
          <p:cNvPr id="15" name="Rounded Rectangle 14"/>
          <p:cNvSpPr/>
          <p:nvPr/>
        </p:nvSpPr>
        <p:spPr>
          <a:xfrm>
            <a:off x="6185915" y="1417320"/>
            <a:ext cx="1775459" cy="3246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17613" y="1627632"/>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400" b="1">
                <a:solidFill>
                  <a:srgbClr val="FFFFFF"/>
                </a:solidFill>
                <a:latin typeface="Calibri"/>
              </a:rPr>
              <a:t>4</a:t>
            </a:r>
          </a:p>
        </p:txBody>
      </p:sp>
      <p:sp>
        <p:nvSpPr>
          <p:cNvPr id="17" name="TextBox 16"/>
          <p:cNvSpPr txBox="1"/>
          <p:nvPr/>
        </p:nvSpPr>
        <p:spPr>
          <a:xfrm>
            <a:off x="6259067" y="2194560"/>
            <a:ext cx="1629155" cy="2194560"/>
          </a:xfrm>
          <a:prstGeom prst="rect">
            <a:avLst/>
          </a:prstGeom>
          <a:noFill/>
        </p:spPr>
        <p:txBody>
          <a:bodyPr wrap="square">
            <a:spAutoFit/>
          </a:bodyPr>
          <a:lstStyle/>
          <a:p>
            <a:pPr algn="ctr"/>
            <a:r>
              <a:rPr sz="1600" b="1">
                <a:solidFill>
                  <a:srgbClr val="003366"/>
                </a:solidFill>
                <a:latin typeface="Calibri"/>
              </a:rPr>
              <a:t>Quote</a:t>
            </a:r>
          </a:p>
          <a:p>
            <a:pPr algn="ctr"/>
            <a:r>
              <a:rPr sz="1200" b="0">
                <a:solidFill>
                  <a:srgbClr val="57657A"/>
                </a:solidFill>
                <a:latin typeface="Calibri"/>
              </a:rPr>
              <a:t>Hub, then adapter</a:t>
            </a:r>
          </a:p>
        </p:txBody>
      </p:sp>
      <p:sp>
        <p:nvSpPr>
          <p:cNvPr id="18" name="Rounded Rectangle 17"/>
          <p:cNvSpPr/>
          <p:nvPr/>
        </p:nvSpPr>
        <p:spPr>
          <a:xfrm>
            <a:off x="8125967" y="1417320"/>
            <a:ext cx="1775459" cy="3246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757665" y="1627632"/>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400" b="1">
                <a:solidFill>
                  <a:srgbClr val="FFFFFF"/>
                </a:solidFill>
                <a:latin typeface="Calibri"/>
              </a:rPr>
              <a:t>5</a:t>
            </a:r>
          </a:p>
        </p:txBody>
      </p:sp>
      <p:sp>
        <p:nvSpPr>
          <p:cNvPr id="20" name="TextBox 19"/>
          <p:cNvSpPr txBox="1"/>
          <p:nvPr/>
        </p:nvSpPr>
        <p:spPr>
          <a:xfrm>
            <a:off x="8199119" y="2194560"/>
            <a:ext cx="1629155" cy="2194560"/>
          </a:xfrm>
          <a:prstGeom prst="rect">
            <a:avLst/>
          </a:prstGeom>
          <a:noFill/>
        </p:spPr>
        <p:txBody>
          <a:bodyPr wrap="square">
            <a:spAutoFit/>
          </a:bodyPr>
          <a:lstStyle/>
          <a:p>
            <a:pPr algn="ctr"/>
            <a:r>
              <a:rPr sz="1600" b="1">
                <a:solidFill>
                  <a:srgbClr val="003366"/>
                </a:solidFill>
                <a:latin typeface="Calibri"/>
              </a:rPr>
              <a:t>Pay</a:t>
            </a:r>
          </a:p>
          <a:p>
            <a:pPr algn="ctr"/>
            <a:r>
              <a:rPr sz="1200" b="0">
                <a:solidFill>
                  <a:srgbClr val="57657A"/>
                </a:solidFill>
                <a:latin typeface="Calibri"/>
              </a:rPr>
              <a:t>Customer's own device</a:t>
            </a:r>
          </a:p>
        </p:txBody>
      </p:sp>
      <p:sp>
        <p:nvSpPr>
          <p:cNvPr id="21" name="Rounded Rectangle 20"/>
          <p:cNvSpPr/>
          <p:nvPr/>
        </p:nvSpPr>
        <p:spPr>
          <a:xfrm>
            <a:off x="10066019" y="1417320"/>
            <a:ext cx="1775459" cy="3246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97717" y="1627632"/>
            <a:ext cx="384048" cy="384048"/>
          </a:xfrm>
          <a:prstGeom prst="ellipse">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 rIns="18288" tIns="54864" bIns="54864"/>
          <a:lstStyle/>
          <a:p>
            <a:pPr algn="ctr">
              <a:spcAft>
                <a:spcPts val="400"/>
              </a:spcAft>
            </a:pPr>
            <a:r>
              <a:rPr sz="1400" b="1">
                <a:solidFill>
                  <a:srgbClr val="FFFFFF"/>
                </a:solidFill>
                <a:latin typeface="Calibri"/>
              </a:rPr>
              <a:t>6</a:t>
            </a:r>
          </a:p>
        </p:txBody>
      </p:sp>
      <p:sp>
        <p:nvSpPr>
          <p:cNvPr id="23" name="TextBox 22"/>
          <p:cNvSpPr txBox="1"/>
          <p:nvPr/>
        </p:nvSpPr>
        <p:spPr>
          <a:xfrm>
            <a:off x="10139171" y="2194560"/>
            <a:ext cx="1629155" cy="2194560"/>
          </a:xfrm>
          <a:prstGeom prst="rect">
            <a:avLst/>
          </a:prstGeom>
          <a:noFill/>
        </p:spPr>
        <p:txBody>
          <a:bodyPr wrap="square">
            <a:spAutoFit/>
          </a:bodyPr>
          <a:lstStyle/>
          <a:p>
            <a:pPr algn="ctr"/>
            <a:r>
              <a:rPr sz="1600" b="1">
                <a:solidFill>
                  <a:srgbClr val="003366"/>
                </a:solidFill>
                <a:latin typeface="Calibri"/>
              </a:rPr>
              <a:t>Issue</a:t>
            </a:r>
          </a:p>
          <a:p>
            <a:pPr algn="ctr"/>
            <a:r>
              <a:rPr sz="1200" b="0">
                <a:solidFill>
                  <a:srgbClr val="57657A"/>
                </a:solidFill>
                <a:latin typeface="Calibri"/>
              </a:rPr>
              <a:t>Only after reconciled</a:t>
            </a:r>
          </a:p>
        </p:txBody>
      </p:sp>
      <p:sp>
        <p:nvSpPr>
          <p:cNvPr id="24" name="Rounded Rectangle 23"/>
          <p:cNvSpPr/>
          <p:nvPr/>
        </p:nvSpPr>
        <p:spPr>
          <a:xfrm>
            <a:off x="365760" y="5989320"/>
            <a:ext cx="11430000" cy="475488"/>
          </a:xfrm>
          <a:prstGeom prst="roundRect">
            <a:avLst>
              <a:gd name="adj" fmla="val 8000"/>
            </a:avLst>
          </a:prstGeom>
          <a:solidFill>
            <a:srgbClr val="F4F7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300" b="0">
                <a:solidFill>
                  <a:srgbClr val="57657A"/>
                </a:solidFill>
                <a:latin typeface="Calibri"/>
              </a:rPr>
              <a:t>The device holds a session, not tokens. Provider JSON stops at the adapter. HTTP 200 is not a policy.</a:t>
            </a:r>
          </a:p>
        </p:txBody>
      </p:sp>
      <p:sp>
        <p:nvSpPr>
          <p:cNvPr id="25" name="Rectangle 24"/>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27" name="TextBox 26"/>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How a session reaches the application</a:t>
            </a:r>
          </a:p>
        </p:txBody>
      </p:sp>
      <p:sp>
        <p:nvSpPr>
          <p:cNvPr id="6" name="Rounded Rectangle 5"/>
          <p:cNvSpPr/>
          <p:nvPr/>
        </p:nvSpPr>
        <p:spPr>
          <a:xfrm>
            <a:off x="320040"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Device</a:t>
            </a:r>
          </a:p>
          <a:p>
            <a:pPr algn="ctr">
              <a:spcAft>
                <a:spcPts val="400"/>
              </a:spcAft>
            </a:pPr>
            <a:r>
              <a:rPr sz="1100" b="0">
                <a:solidFill>
                  <a:srgbClr val="57657A"/>
                </a:solidFill>
                <a:latin typeface="Calibri"/>
              </a:rPr>
              <a:t>RM or customer</a:t>
            </a:r>
          </a:p>
        </p:txBody>
      </p:sp>
      <p:sp>
        <p:nvSpPr>
          <p:cNvPr id="7" name="Right Arrow 6"/>
          <p:cNvSpPr/>
          <p:nvPr/>
        </p:nvSpPr>
        <p:spPr>
          <a:xfrm>
            <a:off x="2370124"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99308"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Edge</a:t>
            </a:r>
          </a:p>
          <a:p>
            <a:pPr algn="ctr">
              <a:spcAft>
                <a:spcPts val="400"/>
              </a:spcAft>
            </a:pPr>
            <a:r>
              <a:rPr sz="1100" b="0">
                <a:solidFill>
                  <a:srgbClr val="57657A"/>
                </a:solidFill>
                <a:latin typeface="Calibri"/>
              </a:rPr>
              <a:t>CDN and WAF</a:t>
            </a:r>
          </a:p>
        </p:txBody>
      </p:sp>
      <p:sp>
        <p:nvSpPr>
          <p:cNvPr id="9" name="Right Arrow 8"/>
          <p:cNvSpPr/>
          <p:nvPr/>
        </p:nvSpPr>
        <p:spPr>
          <a:xfrm>
            <a:off x="4749393"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78577"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API Gateway</a:t>
            </a:r>
          </a:p>
          <a:p>
            <a:pPr algn="ctr">
              <a:spcAft>
                <a:spcPts val="400"/>
              </a:spcAft>
            </a:pPr>
            <a:r>
              <a:rPr sz="1100" b="0">
                <a:solidFill>
                  <a:srgbClr val="57657A"/>
                </a:solidFill>
                <a:latin typeface="Calibri"/>
              </a:rPr>
              <a:t>Schema and throttle</a:t>
            </a:r>
          </a:p>
        </p:txBody>
      </p:sp>
      <p:sp>
        <p:nvSpPr>
          <p:cNvPr id="11" name="Right Arrow 10"/>
          <p:cNvSpPr/>
          <p:nvPr/>
        </p:nvSpPr>
        <p:spPr>
          <a:xfrm>
            <a:off x="7128662"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57846"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Internal ALB</a:t>
            </a:r>
          </a:p>
          <a:p>
            <a:pPr algn="ctr">
              <a:spcAft>
                <a:spcPts val="400"/>
              </a:spcAft>
            </a:pPr>
            <a:r>
              <a:rPr sz="1100" b="0">
                <a:solidFill>
                  <a:srgbClr val="57657A"/>
                </a:solidFill>
                <a:latin typeface="Calibri"/>
              </a:rPr>
              <a:t>Private, in-VPC</a:t>
            </a:r>
          </a:p>
        </p:txBody>
      </p:sp>
      <p:sp>
        <p:nvSpPr>
          <p:cNvPr id="13" name="Right Arrow 12"/>
          <p:cNvSpPr/>
          <p:nvPr/>
        </p:nvSpPr>
        <p:spPr>
          <a:xfrm>
            <a:off x="9507931"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837115"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Application</a:t>
            </a:r>
          </a:p>
          <a:p>
            <a:pPr algn="ctr">
              <a:spcAft>
                <a:spcPts val="400"/>
              </a:spcAft>
            </a:pPr>
            <a:r>
              <a:rPr sz="1100" b="0">
                <a:solidFill>
                  <a:srgbClr val="57657A"/>
                </a:solidFill>
                <a:latin typeface="Calibri"/>
              </a:rPr>
              <a:t>Web and BFF</a:t>
            </a:r>
          </a:p>
        </p:txBody>
      </p:sp>
      <p:sp>
        <p:nvSpPr>
          <p:cNvPr id="15" name="Rounded Rectangle 14"/>
          <p:cNvSpPr/>
          <p:nvPr/>
        </p:nvSpPr>
        <p:spPr>
          <a:xfrm>
            <a:off x="365760" y="5989320"/>
            <a:ext cx="11430000" cy="475488"/>
          </a:xfrm>
          <a:prstGeom prst="roundRect">
            <a:avLst>
              <a:gd name="adj" fmla="val 8000"/>
            </a:avLst>
          </a:prstGeom>
          <a:solidFill>
            <a:srgbClr val="F4F7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300" b="0">
                <a:solidFill>
                  <a:srgbClr val="57657A"/>
                </a:solidFill>
                <a:latin typeface="Calibri"/>
              </a:rPr>
              <a:t>No public load balancer on the workload. No internet gateway on the application VPC. Payment callbacks use a separate gateway route.</a:t>
            </a:r>
          </a:p>
        </p:txBody>
      </p:sp>
      <p:sp>
        <p:nvSpPr>
          <p:cNvPr id="16" name="Rectangle 1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8" name="TextBox 17"/>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How the platform calls a partner</a:t>
            </a:r>
          </a:p>
        </p:txBody>
      </p:sp>
      <p:sp>
        <p:nvSpPr>
          <p:cNvPr id="6" name="Rounded Rectangle 5"/>
          <p:cNvSpPr/>
          <p:nvPr/>
        </p:nvSpPr>
        <p:spPr>
          <a:xfrm>
            <a:off x="320040"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Service</a:t>
            </a:r>
          </a:p>
          <a:p>
            <a:pPr algn="ctr">
              <a:spcAft>
                <a:spcPts val="400"/>
              </a:spcAft>
            </a:pPr>
            <a:r>
              <a:rPr sz="1100" b="0">
                <a:solidFill>
                  <a:srgbClr val="57657A"/>
                </a:solidFill>
                <a:latin typeface="Calibri"/>
              </a:rPr>
              <a:t>In the cluster</a:t>
            </a:r>
          </a:p>
        </p:txBody>
      </p:sp>
      <p:sp>
        <p:nvSpPr>
          <p:cNvPr id="7" name="Right Arrow 6"/>
          <p:cNvSpPr/>
          <p:nvPr/>
        </p:nvSpPr>
        <p:spPr>
          <a:xfrm>
            <a:off x="2370124"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99308"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Transit Gateway</a:t>
            </a:r>
          </a:p>
          <a:p>
            <a:pPr algn="ctr">
              <a:spcAft>
                <a:spcPts val="400"/>
              </a:spcAft>
            </a:pPr>
            <a:r>
              <a:rPr sz="1100" b="0">
                <a:solidFill>
                  <a:srgbClr val="57657A"/>
                </a:solidFill>
                <a:latin typeface="Calibri"/>
              </a:rPr>
              <a:t>Spoke attachment</a:t>
            </a:r>
          </a:p>
        </p:txBody>
      </p:sp>
      <p:sp>
        <p:nvSpPr>
          <p:cNvPr id="9" name="Right Arrow 8"/>
          <p:cNvSpPr/>
          <p:nvPr/>
        </p:nvSpPr>
        <p:spPr>
          <a:xfrm>
            <a:off x="4749393"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78577"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Firewall</a:t>
            </a:r>
          </a:p>
          <a:p>
            <a:pPr algn="ctr">
              <a:spcAft>
                <a:spcPts val="400"/>
              </a:spcAft>
            </a:pPr>
            <a:r>
              <a:rPr sz="1100" b="0">
                <a:solidFill>
                  <a:srgbClr val="57657A"/>
                </a:solidFill>
                <a:latin typeface="Calibri"/>
              </a:rPr>
              <a:t>Inspection hop</a:t>
            </a:r>
          </a:p>
        </p:txBody>
      </p:sp>
      <p:sp>
        <p:nvSpPr>
          <p:cNvPr id="11" name="Right Arrow 10"/>
          <p:cNvSpPr/>
          <p:nvPr/>
        </p:nvSpPr>
        <p:spPr>
          <a:xfrm>
            <a:off x="7128662"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457846"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Apigee</a:t>
            </a:r>
          </a:p>
          <a:p>
            <a:pPr algn="ctr">
              <a:spcAft>
                <a:spcPts val="400"/>
              </a:spcAft>
            </a:pPr>
            <a:r>
              <a:rPr sz="1100" b="0">
                <a:solidFill>
                  <a:srgbClr val="57657A"/>
                </a:solidFill>
                <a:latin typeface="Calibri"/>
              </a:rPr>
              <a:t>Outbound API plane</a:t>
            </a:r>
          </a:p>
        </p:txBody>
      </p:sp>
      <p:sp>
        <p:nvSpPr>
          <p:cNvPr id="13" name="Right Arrow 12"/>
          <p:cNvSpPr/>
          <p:nvPr/>
        </p:nvSpPr>
        <p:spPr>
          <a:xfrm>
            <a:off x="9507931" y="2496312"/>
            <a:ext cx="237744" cy="347472"/>
          </a:xfrm>
          <a:prstGeom prst="rightArrow">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837115" y="1965960"/>
            <a:ext cx="2031796" cy="14173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500" b="1">
                <a:solidFill>
                  <a:srgbClr val="003366"/>
                </a:solidFill>
                <a:latin typeface="Calibri"/>
              </a:rPr>
              <a:t>Partner</a:t>
            </a:r>
          </a:p>
          <a:p>
            <a:pPr algn="ctr">
              <a:spcAft>
                <a:spcPts val="400"/>
              </a:spcAft>
            </a:pPr>
            <a:r>
              <a:rPr sz="1100" b="0">
                <a:solidFill>
                  <a:srgbClr val="57657A"/>
                </a:solidFill>
                <a:latin typeface="Calibri"/>
              </a:rPr>
              <a:t>1SB or bank API</a:t>
            </a:r>
          </a:p>
        </p:txBody>
      </p:sp>
      <p:sp>
        <p:nvSpPr>
          <p:cNvPr id="15" name="Rounded Rectangle 14"/>
          <p:cNvSpPr/>
          <p:nvPr/>
        </p:nvSpPr>
        <p:spPr>
          <a:xfrm>
            <a:off x="365760" y="5989320"/>
            <a:ext cx="11430000" cy="475488"/>
          </a:xfrm>
          <a:prstGeom prst="roundRect">
            <a:avLst>
              <a:gd name="adj" fmla="val 8000"/>
            </a:avLst>
          </a:prstGeom>
          <a:solidFill>
            <a:srgbClr val="F4F7FB"/>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300" b="0">
                <a:solidFill>
                  <a:srgbClr val="57657A"/>
                </a:solidFill>
                <a:latin typeface="Calibri"/>
              </a:rPr>
              <a:t>The aggregator never sees a workload address. Internal bank APIs stay on the private path — they do not hairpin the public edge.</a:t>
            </a:r>
          </a:p>
        </p:txBody>
      </p:sp>
      <p:sp>
        <p:nvSpPr>
          <p:cNvPr id="16" name="Rectangle 1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8" name="TextBox 17"/>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Where a request runs</a:t>
            </a:r>
          </a:p>
        </p:txBody>
      </p:sp>
      <p:pic>
        <p:nvPicPr>
          <p:cNvPr id="6" name="Picture 5" descr="topology.png"/>
          <p:cNvPicPr>
            <a:picLocks noChangeAspect="1"/>
          </p:cNvPicPr>
          <p:nvPr/>
        </p:nvPicPr>
        <p:blipFill>
          <a:blip r:embed="rId2"/>
          <a:stretch>
            <a:fillRect/>
          </a:stretch>
        </p:blipFill>
        <p:spPr>
          <a:xfrm>
            <a:off x="320040" y="868680"/>
            <a:ext cx="11567160" cy="5577840"/>
          </a:xfrm>
          <a:prstGeom prst="rect">
            <a:avLst/>
          </a:prstGeom>
        </p:spPr>
      </p:pic>
      <p:sp>
        <p:nvSpPr>
          <p:cNvPr id="7" name="Rectangle 6"/>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9" name="TextBox 8"/>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How Dev and UAT are isolated</a:t>
            </a:r>
          </a:p>
        </p:txBody>
      </p:sp>
      <p:sp>
        <p:nvSpPr>
          <p:cNvPr id="6" name="Rounded Rectangle 5"/>
          <p:cNvSpPr/>
          <p:nvPr/>
        </p:nvSpPr>
        <p:spPr>
          <a:xfrm>
            <a:off x="365760" y="1097280"/>
            <a:ext cx="2103120" cy="219456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600" b="1">
                <a:solidFill>
                  <a:srgbClr val="003366"/>
                </a:solidFill>
                <a:latin typeface="Calibri"/>
              </a:rPr>
              <a:t>Shared</a:t>
            </a:r>
          </a:p>
          <a:p>
            <a:pPr algn="ctr">
              <a:spcAft>
                <a:spcPts val="400"/>
              </a:spcAft>
            </a:pPr>
            <a:r>
              <a:rPr sz="1200" b="0">
                <a:solidFill>
                  <a:srgbClr val="57657A"/>
                </a:solidFill>
                <a:latin typeface="Calibri"/>
              </a:rPr>
              <a:t>Images, state, runners</a:t>
            </a:r>
          </a:p>
        </p:txBody>
      </p:sp>
      <p:sp>
        <p:nvSpPr>
          <p:cNvPr id="7" name="Rounded Rectangle 6"/>
          <p:cNvSpPr/>
          <p:nvPr/>
        </p:nvSpPr>
        <p:spPr>
          <a:xfrm>
            <a:off x="2606040" y="1097280"/>
            <a:ext cx="2103120" cy="219456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600" b="1">
                <a:solidFill>
                  <a:srgbClr val="003366"/>
                </a:solidFill>
                <a:latin typeface="Calibri"/>
              </a:rPr>
              <a:t>Security</a:t>
            </a:r>
          </a:p>
          <a:p>
            <a:pPr algn="ctr">
              <a:spcAft>
                <a:spcPts val="400"/>
              </a:spcAft>
            </a:pPr>
            <a:r>
              <a:rPr sz="1200" b="0">
                <a:solidFill>
                  <a:srgbClr val="57657A"/>
                </a:solidFill>
                <a:latin typeface="Calibri"/>
              </a:rPr>
              <a:t>Trail, detection, config</a:t>
            </a:r>
          </a:p>
        </p:txBody>
      </p:sp>
      <p:sp>
        <p:nvSpPr>
          <p:cNvPr id="8" name="Rounded Rectangle 7"/>
          <p:cNvSpPr/>
          <p:nvPr/>
        </p:nvSpPr>
        <p:spPr>
          <a:xfrm>
            <a:off x="4846320" y="1097280"/>
            <a:ext cx="2103120" cy="219456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600" b="1">
                <a:solidFill>
                  <a:srgbClr val="003366"/>
                </a:solidFill>
                <a:latin typeface="Calibri"/>
              </a:rPr>
              <a:t>Network</a:t>
            </a:r>
          </a:p>
          <a:p>
            <a:pPr algn="ctr">
              <a:spcAft>
                <a:spcPts val="400"/>
              </a:spcAft>
            </a:pPr>
            <a:r>
              <a:rPr sz="1200" b="0">
                <a:solidFill>
                  <a:srgbClr val="57657A"/>
                </a:solidFill>
                <a:latin typeface="Calibri"/>
              </a:rPr>
              <a:t>Inspection, attachments</a:t>
            </a:r>
          </a:p>
        </p:txBody>
      </p:sp>
      <p:sp>
        <p:nvSpPr>
          <p:cNvPr id="9" name="Rounded Rectangle 8"/>
          <p:cNvSpPr/>
          <p:nvPr/>
        </p:nvSpPr>
        <p:spPr>
          <a:xfrm>
            <a:off x="9646920" y="1097280"/>
            <a:ext cx="2194560" cy="2194560"/>
          </a:xfrm>
          <a:prstGeom prst="roundRect">
            <a:avLst>
              <a:gd name="adj" fmla="val 8000"/>
            </a:avLst>
          </a:prstGeom>
          <a:solidFill>
            <a:srgbClr val="E2E8F0"/>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600" b="1">
                <a:solidFill>
                  <a:srgbClr val="57657A"/>
                </a:solidFill>
                <a:latin typeface="Calibri"/>
              </a:rPr>
              <a:t>Production</a:t>
            </a:r>
          </a:p>
          <a:p>
            <a:pPr algn="ctr">
              <a:spcAft>
                <a:spcPts val="400"/>
              </a:spcAft>
            </a:pPr>
            <a:r>
              <a:rPr sz="1200" b="0">
                <a:solidFill>
                  <a:srgbClr val="57657A"/>
                </a:solidFill>
                <a:latin typeface="Calibri"/>
              </a:rPr>
              <a:t>Out of scope today</a:t>
            </a:r>
          </a:p>
        </p:txBody>
      </p:sp>
      <p:sp>
        <p:nvSpPr>
          <p:cNvPr id="10" name="Rounded Rectangle 9"/>
          <p:cNvSpPr/>
          <p:nvPr/>
        </p:nvSpPr>
        <p:spPr>
          <a:xfrm>
            <a:off x="365760" y="3520440"/>
            <a:ext cx="11430000" cy="2331720"/>
          </a:xfrm>
          <a:prstGeom prst="roundRect">
            <a:avLst>
              <a:gd name="adj" fmla="val 8000"/>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54864" bIns="54864"/>
          <a:lstStyle/>
          <a:p>
            <a:pPr algn="l">
              <a:spcAft>
                <a:spcPts val="400"/>
              </a:spcAft>
            </a:pPr>
            <a:r>
              <a:rPr sz="1400" b="1">
                <a:solidFill>
                  <a:srgbClr val="0E7490"/>
                </a:solidFill>
                <a:latin typeface="Calibri"/>
              </a:rPr>
              <a:t>UAT account</a:t>
            </a:r>
          </a:p>
        </p:txBody>
      </p:sp>
      <p:sp>
        <p:nvSpPr>
          <p:cNvPr id="11" name="Rounded Rectangle 10"/>
          <p:cNvSpPr/>
          <p:nvPr/>
        </p:nvSpPr>
        <p:spPr>
          <a:xfrm>
            <a:off x="640080" y="4069080"/>
            <a:ext cx="5212080" cy="1554480"/>
          </a:xfrm>
          <a:prstGeom prst="roundRect">
            <a:avLst>
              <a:gd name="adj" fmla="val 8000"/>
            </a:avLst>
          </a:prstGeom>
          <a:solidFill>
            <a:srgbClr val="F4F7FB"/>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800" b="1">
                <a:solidFill>
                  <a:srgbClr val="003366"/>
                </a:solidFill>
                <a:latin typeface="Calibri"/>
              </a:rPr>
              <a:t>vpc-dev</a:t>
            </a:r>
          </a:p>
          <a:p>
            <a:pPr algn="ctr">
              <a:spcAft>
                <a:spcPts val="400"/>
              </a:spcAft>
            </a:pPr>
            <a:r>
              <a:rPr sz="1300" b="0">
                <a:solidFill>
                  <a:srgbClr val="57657A"/>
                </a:solidFill>
                <a:latin typeface="Calibri"/>
              </a:rPr>
              <a:t>Synthetic  ·  stubs</a:t>
            </a:r>
          </a:p>
        </p:txBody>
      </p:sp>
      <p:sp>
        <p:nvSpPr>
          <p:cNvPr id="12" name="Rounded Rectangle 11"/>
          <p:cNvSpPr/>
          <p:nvPr/>
        </p:nvSpPr>
        <p:spPr>
          <a:xfrm>
            <a:off x="6263640" y="4069080"/>
            <a:ext cx="5212080" cy="1554480"/>
          </a:xfrm>
          <a:prstGeom prst="roundRect">
            <a:avLst>
              <a:gd name="adj" fmla="val 8000"/>
            </a:avLst>
          </a:prstGeom>
          <a:solidFill>
            <a:srgbClr val="F4F7FB"/>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1800" b="1">
                <a:solidFill>
                  <a:srgbClr val="003366"/>
                </a:solidFill>
                <a:latin typeface="Calibri"/>
              </a:rPr>
              <a:t>vpc-uat</a:t>
            </a:r>
          </a:p>
          <a:p>
            <a:pPr algn="ctr">
              <a:spcAft>
                <a:spcPts val="400"/>
              </a:spcAft>
            </a:pPr>
            <a:r>
              <a:rPr sz="1300" b="0">
                <a:solidFill>
                  <a:srgbClr val="57657A"/>
                </a:solidFill>
                <a:latin typeface="Calibri"/>
              </a:rPr>
              <a:t>Masked  ·  bank UAT path</a:t>
            </a:r>
          </a:p>
        </p:txBody>
      </p:sp>
      <p:sp>
        <p:nvSpPr>
          <p:cNvPr id="13" name="Rectangle 12"/>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5" name="TextBox 14"/>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How identity, records and exposure are handled</a:t>
            </a:r>
          </a:p>
        </p:txBody>
      </p:sp>
      <p:sp>
        <p:nvSpPr>
          <p:cNvPr id="6" name="Rounded Rectangle 5"/>
          <p:cNvSpPr/>
          <p:nvPr/>
        </p:nvSpPr>
        <p:spPr>
          <a:xfrm>
            <a:off x="365760" y="960120"/>
            <a:ext cx="3657600" cy="544068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657600" cy="56692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600" b="1">
                <a:solidFill>
                  <a:srgbClr val="FFFFFF"/>
                </a:solidFill>
                <a:latin typeface="Calibri"/>
              </a:rPr>
              <a:t>Identity</a:t>
            </a:r>
          </a:p>
        </p:txBody>
      </p:sp>
      <p:sp>
        <p:nvSpPr>
          <p:cNvPr id="8" name="TextBox 7"/>
          <p:cNvSpPr txBox="1"/>
          <p:nvPr/>
        </p:nvSpPr>
        <p:spPr>
          <a:xfrm>
            <a:off x="548640" y="1691640"/>
            <a:ext cx="3291840" cy="4480560"/>
          </a:xfrm>
          <a:prstGeom prst="rect">
            <a:avLst/>
          </a:prstGeom>
          <a:noFill/>
        </p:spPr>
        <p:txBody>
          <a:bodyPr wrap="square">
            <a:spAutoFit/>
          </a:bodyPr>
          <a:lstStyle/>
          <a:p>
            <a:pPr>
              <a:spcAft>
                <a:spcPts val="1400"/>
              </a:spcAft>
            </a:pPr>
            <a:r>
              <a:rPr sz="1300" b="0">
                <a:solidFill>
                  <a:srgbClr val="1E293B"/>
                </a:solidFill>
                <a:latin typeface="Calibri"/>
              </a:rPr>
              <a:t>▸  Workforce is verified through the bank AD-verify API, privately.</a:t>
            </a:r>
          </a:p>
          <a:p>
            <a:pPr>
              <a:spcAft>
                <a:spcPts val="1400"/>
              </a:spcAft>
            </a:pPr>
            <a:r>
              <a:rPr sz="1300" b="0">
                <a:solidFill>
                  <a:srgbClr val="1E293B"/>
                </a:solidFill>
                <a:latin typeface="Calibri"/>
              </a:rPr>
              <a:t>▸  Partners live in a separate IdP. They do not enter AD.</a:t>
            </a:r>
          </a:p>
          <a:p>
            <a:pPr>
              <a:spcAft>
                <a:spcPts val="1400"/>
              </a:spcAft>
            </a:pPr>
            <a:r>
              <a:rPr sz="1300" b="0">
                <a:solidFill>
                  <a:srgbClr val="1E293B"/>
                </a:solidFill>
                <a:latin typeface="Calibri"/>
              </a:rPr>
              <a:t>▸  Pods assume IRSA roles. Humans use existing privileged access.</a:t>
            </a:r>
          </a:p>
          <a:p>
            <a:pPr>
              <a:spcAft>
                <a:spcPts val="1400"/>
              </a:spcAft>
            </a:pPr>
            <a:r>
              <a:rPr sz="1300" b="0">
                <a:solidFill>
                  <a:srgbClr val="1E293B"/>
                </a:solidFill>
                <a:latin typeface="Calibri"/>
              </a:rPr>
              <a:t>▸  The device never talks to the IdP or to Apigee.</a:t>
            </a:r>
          </a:p>
        </p:txBody>
      </p:sp>
      <p:sp>
        <p:nvSpPr>
          <p:cNvPr id="9" name="Rounded Rectangle 8"/>
          <p:cNvSpPr/>
          <p:nvPr/>
        </p:nvSpPr>
        <p:spPr>
          <a:xfrm>
            <a:off x="4224528" y="960120"/>
            <a:ext cx="3657600" cy="544068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24528" y="960120"/>
            <a:ext cx="3657600" cy="56692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600" b="1">
                <a:solidFill>
                  <a:srgbClr val="FFFFFF"/>
                </a:solidFill>
                <a:latin typeface="Calibri"/>
              </a:rPr>
              <a:t>Records</a:t>
            </a:r>
          </a:p>
        </p:txBody>
      </p:sp>
      <p:sp>
        <p:nvSpPr>
          <p:cNvPr id="11" name="TextBox 10"/>
          <p:cNvSpPr txBox="1"/>
          <p:nvPr/>
        </p:nvSpPr>
        <p:spPr>
          <a:xfrm>
            <a:off x="4407408" y="1691640"/>
            <a:ext cx="3291840" cy="4480560"/>
          </a:xfrm>
          <a:prstGeom prst="rect">
            <a:avLst/>
          </a:prstGeom>
          <a:noFill/>
        </p:spPr>
        <p:txBody>
          <a:bodyPr wrap="square">
            <a:spAutoFit/>
          </a:bodyPr>
          <a:lstStyle/>
          <a:p>
            <a:pPr>
              <a:spcAft>
                <a:spcPts val="1400"/>
              </a:spcAft>
            </a:pPr>
            <a:r>
              <a:rPr sz="1300" b="0">
                <a:solidFill>
                  <a:srgbClr val="1E293B"/>
                </a:solidFill>
                <a:latin typeface="Calibri"/>
              </a:rPr>
              <a:t>▸  India only: Mumbai primary, Hyderabad standby.</a:t>
            </a:r>
          </a:p>
          <a:p>
            <a:pPr>
              <a:spcAft>
                <a:spcPts val="1400"/>
              </a:spcAft>
            </a:pPr>
            <a:r>
              <a:rPr sz="1300" b="0">
                <a:solidFill>
                  <a:srgbClr val="1E293B"/>
                </a:solidFill>
                <a:latin typeface="Calibri"/>
              </a:rPr>
              <a:t>▸  One Aurora cluster, schema per bounded context.</a:t>
            </a:r>
          </a:p>
          <a:p>
            <a:pPr>
              <a:spcAft>
                <a:spcPts val="1400"/>
              </a:spcAft>
            </a:pPr>
            <a:r>
              <a:rPr sz="1300" b="0">
                <a:solidFill>
                  <a:srgbClr val="1E293B"/>
                </a:solidFill>
                <a:latin typeface="Calibri"/>
              </a:rPr>
              <a:t>▸  Audit is insert-only plus object lock — seven years.</a:t>
            </a:r>
          </a:p>
          <a:p>
            <a:pPr>
              <a:spcAft>
                <a:spcPts val="1400"/>
              </a:spcAft>
            </a:pPr>
            <a:r>
              <a:rPr sz="1300" b="0">
                <a:solidFill>
                  <a:srgbClr val="1E293B"/>
                </a:solidFill>
                <a:latin typeface="Calibri"/>
              </a:rPr>
              <a:t>▸  Search and logs are operational. They are not evidence.</a:t>
            </a:r>
          </a:p>
        </p:txBody>
      </p:sp>
      <p:sp>
        <p:nvSpPr>
          <p:cNvPr id="12" name="Rounded Rectangle 11"/>
          <p:cNvSpPr/>
          <p:nvPr/>
        </p:nvSpPr>
        <p:spPr>
          <a:xfrm>
            <a:off x="8083296" y="960120"/>
            <a:ext cx="3657600" cy="544068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960120"/>
            <a:ext cx="3657600" cy="56692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600" b="1">
                <a:solidFill>
                  <a:srgbClr val="FFFFFF"/>
                </a:solidFill>
                <a:latin typeface="Calibri"/>
              </a:rPr>
              <a:t>Exposure</a:t>
            </a:r>
          </a:p>
        </p:txBody>
      </p:sp>
      <p:sp>
        <p:nvSpPr>
          <p:cNvPr id="14" name="TextBox 13"/>
          <p:cNvSpPr txBox="1"/>
          <p:nvPr/>
        </p:nvSpPr>
        <p:spPr>
          <a:xfrm>
            <a:off x="8266175" y="1691640"/>
            <a:ext cx="3291840" cy="4480560"/>
          </a:xfrm>
          <a:prstGeom prst="rect">
            <a:avLst/>
          </a:prstGeom>
          <a:noFill/>
        </p:spPr>
        <p:txBody>
          <a:bodyPr wrap="square">
            <a:spAutoFit/>
          </a:bodyPr>
          <a:lstStyle/>
          <a:p>
            <a:pPr>
              <a:spcAft>
                <a:spcPts val="1400"/>
              </a:spcAft>
            </a:pPr>
            <a:r>
              <a:rPr sz="1300" b="0">
                <a:solidFill>
                  <a:srgbClr val="1E293B"/>
                </a:solidFill>
                <a:latin typeface="Calibri"/>
              </a:rPr>
              <a:t>▸  Seven trust boundaries from device to partner.</a:t>
            </a:r>
          </a:p>
          <a:p>
            <a:pPr>
              <a:spcAft>
                <a:spcPts val="1400"/>
              </a:spcAft>
            </a:pPr>
            <a:r>
              <a:rPr sz="1300" b="0">
                <a:solidFill>
                  <a:srgbClr val="1E293B"/>
                </a:solidFill>
                <a:latin typeface="Calibri"/>
              </a:rPr>
              <a:t>▸  No public ALB. No internet gateway on the workload.</a:t>
            </a:r>
          </a:p>
          <a:p>
            <a:pPr>
              <a:spcAft>
                <a:spcPts val="1400"/>
              </a:spcAft>
            </a:pPr>
            <a:r>
              <a:rPr sz="1300" b="0">
                <a:solidFill>
                  <a:srgbClr val="1E293B"/>
                </a:solidFill>
                <a:latin typeface="Calibri"/>
              </a:rPr>
              <a:t>▸  Secrets from the manager, not from images.</a:t>
            </a:r>
          </a:p>
          <a:p>
            <a:pPr>
              <a:spcAft>
                <a:spcPts val="1400"/>
              </a:spcAft>
            </a:pPr>
            <a:r>
              <a:rPr sz="1300" b="0">
                <a:solidFill>
                  <a:srgbClr val="1E293B"/>
                </a:solidFill>
                <a:latin typeface="Calibri"/>
              </a:rPr>
              <a:t>▸  SAST is in CI now. Pentest is a later sitting.</a:t>
            </a:r>
          </a:p>
        </p:txBody>
      </p:sp>
      <p:sp>
        <p:nvSpPr>
          <p:cNvPr id="15" name="Rectangle 14"/>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7" name="TextBox 16"/>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How premium is collected</a:t>
            </a:r>
          </a:p>
        </p:txBody>
      </p:sp>
      <p:pic>
        <p:nvPicPr>
          <p:cNvPr id="6" name="Picture 5" descr="payment.png"/>
          <p:cNvPicPr>
            <a:picLocks noChangeAspect="1"/>
          </p:cNvPicPr>
          <p:nvPr/>
        </p:nvPicPr>
        <p:blipFill>
          <a:blip r:embed="rId2"/>
          <a:stretch>
            <a:fillRect/>
          </a:stretch>
        </p:blipFill>
        <p:spPr>
          <a:xfrm>
            <a:off x="320040" y="868680"/>
            <a:ext cx="11567160" cy="5577840"/>
          </a:xfrm>
          <a:prstGeom prst="rect">
            <a:avLst/>
          </a:prstGeom>
        </p:spPr>
      </p:pic>
      <p:sp>
        <p:nvSpPr>
          <p:cNvPr id="7" name="Rectangle 6"/>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9" name="TextBox 8"/>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Continuity — designed, not yet drilled</a:t>
            </a:r>
          </a:p>
        </p:txBody>
      </p:sp>
      <p:sp>
        <p:nvSpPr>
          <p:cNvPr id="6" name="Oval 5"/>
          <p:cNvSpPr/>
          <p:nvPr/>
        </p:nvSpPr>
        <p:spPr>
          <a:xfrm>
            <a:off x="365760" y="1051560"/>
            <a:ext cx="3246120" cy="3246120"/>
          </a:xfrm>
          <a:prstGeom prst="ellipse">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3600" b="1">
                <a:solidFill>
                  <a:srgbClr val="0E7490"/>
                </a:solidFill>
                <a:latin typeface="Calibri"/>
              </a:rPr>
              <a:t>≤ 1 h</a:t>
            </a:r>
          </a:p>
          <a:p>
            <a:pPr algn="ctr">
              <a:spcAft>
                <a:spcPts val="400"/>
              </a:spcAft>
            </a:pPr>
            <a:r>
              <a:rPr sz="1400" b="0">
                <a:solidFill>
                  <a:srgbClr val="57657A"/>
                </a:solidFill>
                <a:latin typeface="Calibri"/>
              </a:rPr>
              <a:t>Recovery time</a:t>
            </a:r>
          </a:p>
        </p:txBody>
      </p:sp>
      <p:sp>
        <p:nvSpPr>
          <p:cNvPr id="7" name="Oval 6"/>
          <p:cNvSpPr/>
          <p:nvPr/>
        </p:nvSpPr>
        <p:spPr>
          <a:xfrm>
            <a:off x="3794760" y="1051560"/>
            <a:ext cx="3246120" cy="3246120"/>
          </a:xfrm>
          <a:prstGeom prst="ellipse">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3600" b="1">
                <a:solidFill>
                  <a:srgbClr val="0E7490"/>
                </a:solidFill>
                <a:latin typeface="Calibri"/>
              </a:rPr>
              <a:t>≤ 5 min</a:t>
            </a:r>
          </a:p>
          <a:p>
            <a:pPr algn="ctr">
              <a:spcAft>
                <a:spcPts val="400"/>
              </a:spcAft>
            </a:pPr>
            <a:r>
              <a:rPr sz="1400" b="0">
                <a:solidFill>
                  <a:srgbClr val="57657A"/>
                </a:solidFill>
                <a:latin typeface="Calibri"/>
              </a:rPr>
              <a:t>Transactional RPO</a:t>
            </a:r>
          </a:p>
        </p:txBody>
      </p:sp>
      <p:sp>
        <p:nvSpPr>
          <p:cNvPr id="8" name="Oval 7"/>
          <p:cNvSpPr/>
          <p:nvPr/>
        </p:nvSpPr>
        <p:spPr>
          <a:xfrm>
            <a:off x="7223760" y="1051560"/>
            <a:ext cx="3246120" cy="3246120"/>
          </a:xfrm>
          <a:prstGeom prst="ellipse">
            <a:avLst/>
          </a:prstGeom>
          <a:solidFill>
            <a:srgbClr val="FFFFFF"/>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spcAft>
                <a:spcPts val="400"/>
              </a:spcAft>
            </a:pPr>
            <a:r>
              <a:rPr sz="3600" b="1">
                <a:solidFill>
                  <a:srgbClr val="0E7490"/>
                </a:solidFill>
                <a:latin typeface="Calibri"/>
              </a:rPr>
              <a:t>0</a:t>
            </a:r>
          </a:p>
          <a:p>
            <a:pPr algn="ctr">
              <a:spcAft>
                <a:spcPts val="400"/>
              </a:spcAft>
            </a:pPr>
            <a:r>
              <a:rPr sz="1400" b="0">
                <a:solidFill>
                  <a:srgbClr val="57657A"/>
                </a:solidFill>
                <a:latin typeface="Calibri"/>
              </a:rPr>
              <a:t>Audit RPO</a:t>
            </a:r>
          </a:p>
        </p:txBody>
      </p:sp>
      <p:pic>
        <p:nvPicPr>
          <p:cNvPr id="9" name="Picture 8" descr="dr.png"/>
          <p:cNvPicPr>
            <a:picLocks noChangeAspect="1"/>
          </p:cNvPicPr>
          <p:nvPr/>
        </p:nvPicPr>
        <p:blipFill>
          <a:blip r:embed="rId2"/>
          <a:stretch>
            <a:fillRect/>
          </a:stretch>
        </p:blipFill>
        <p:spPr>
          <a:xfrm>
            <a:off x="365760" y="4434840"/>
            <a:ext cx="11430000" cy="2011680"/>
          </a:xfrm>
          <a:prstGeom prst="rect">
            <a:avLst/>
          </a:prstGeom>
        </p:spPr>
      </p:pic>
      <p:sp>
        <p:nvSpPr>
          <p:cNvPr id="10" name="TextBox 9"/>
          <p:cNvSpPr txBox="1"/>
          <p:nvPr/>
        </p:nvSpPr>
        <p:spPr>
          <a:xfrm>
            <a:off x="411480" y="4434840"/>
            <a:ext cx="11338560" cy="457200"/>
          </a:xfrm>
          <a:prstGeom prst="rect">
            <a:avLst/>
          </a:prstGeom>
          <a:noFill/>
        </p:spPr>
        <p:txBody>
          <a:bodyPr wrap="none">
            <a:spAutoFit/>
          </a:bodyPr>
          <a:lstStyle/>
          <a:p/>
        </p:txBody>
      </p:sp>
      <p:sp>
        <p:nvSpPr>
          <p:cNvPr id="11" name="Rectangle 10"/>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3" name="TextBox 12"/>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Decision requested</a:t>
            </a:r>
          </a:p>
        </p:txBody>
      </p:sp>
      <p:sp>
        <p:nvSpPr>
          <p:cNvPr id="6" name="Rounded Rectangle 5"/>
          <p:cNvSpPr/>
          <p:nvPr/>
        </p:nvSpPr>
        <p:spPr>
          <a:xfrm>
            <a:off x="365760" y="1005840"/>
            <a:ext cx="3611880" cy="3977639"/>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05840"/>
            <a:ext cx="3611880" cy="640080"/>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800" b="1">
                <a:solidFill>
                  <a:srgbClr val="FFFFFF"/>
                </a:solidFill>
                <a:latin typeface="Calibri"/>
              </a:rPr>
              <a:t>Review</a:t>
            </a:r>
          </a:p>
        </p:txBody>
      </p:sp>
      <p:sp>
        <p:nvSpPr>
          <p:cNvPr id="8" name="TextBox 7"/>
          <p:cNvSpPr txBox="1"/>
          <p:nvPr/>
        </p:nvSpPr>
        <p:spPr>
          <a:xfrm>
            <a:off x="566928" y="1920240"/>
            <a:ext cx="3200400" cy="2743200"/>
          </a:xfrm>
          <a:prstGeom prst="rect">
            <a:avLst/>
          </a:prstGeom>
          <a:noFill/>
        </p:spPr>
        <p:txBody>
          <a:bodyPr wrap="square">
            <a:spAutoFit/>
          </a:bodyPr>
          <a:lstStyle/>
          <a:p>
            <a:r>
              <a:rPr sz="1600" b="0">
                <a:solidFill>
                  <a:srgbClr val="1E293B"/>
                </a:solidFill>
                <a:latin typeface="Calibri"/>
              </a:rPr>
              <a:t>Record this as the intended R0 design for the Insurance Distribution Platform.</a:t>
            </a:r>
          </a:p>
        </p:txBody>
      </p:sp>
      <p:sp>
        <p:nvSpPr>
          <p:cNvPr id="9" name="Rounded Rectangle 8"/>
          <p:cNvSpPr/>
          <p:nvPr/>
        </p:nvSpPr>
        <p:spPr>
          <a:xfrm>
            <a:off x="4297680" y="1005840"/>
            <a:ext cx="3611880" cy="3977639"/>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0" y="1005840"/>
            <a:ext cx="3611880" cy="640080"/>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800" b="1">
                <a:solidFill>
                  <a:srgbClr val="FFFFFF"/>
                </a:solidFill>
                <a:latin typeface="Calibri"/>
              </a:rPr>
              <a:t>Proceed</a:t>
            </a:r>
          </a:p>
        </p:txBody>
      </p:sp>
      <p:sp>
        <p:nvSpPr>
          <p:cNvPr id="11" name="TextBox 10"/>
          <p:cNvSpPr txBox="1"/>
          <p:nvPr/>
        </p:nvSpPr>
        <p:spPr>
          <a:xfrm>
            <a:off x="4498848" y="1920240"/>
            <a:ext cx="3200400" cy="2743200"/>
          </a:xfrm>
          <a:prstGeom prst="rect">
            <a:avLst/>
          </a:prstGeom>
          <a:noFill/>
        </p:spPr>
        <p:txBody>
          <a:bodyPr wrap="square">
            <a:spAutoFit/>
          </a:bodyPr>
          <a:lstStyle/>
          <a:p>
            <a:r>
              <a:rPr sz="1600" b="0">
                <a:solidFill>
                  <a:srgbClr val="1E293B"/>
                </a:solidFill>
                <a:latin typeface="Calibri"/>
              </a:rPr>
              <a:t>Allow Dev and UAT to be provisioned on this shape — two VPCs in the UAT account.</a:t>
            </a:r>
          </a:p>
        </p:txBody>
      </p:sp>
      <p:sp>
        <p:nvSpPr>
          <p:cNvPr id="12" name="Rounded Rectangle 11"/>
          <p:cNvSpPr/>
          <p:nvPr/>
        </p:nvSpPr>
        <p:spPr>
          <a:xfrm>
            <a:off x="8229600" y="1005840"/>
            <a:ext cx="3611880" cy="3977639"/>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1005840"/>
            <a:ext cx="3611880" cy="640080"/>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800" b="1">
                <a:solidFill>
                  <a:srgbClr val="FFFFFF"/>
                </a:solidFill>
                <a:latin typeface="Calibri"/>
              </a:rPr>
              <a:t>Capture</a:t>
            </a:r>
          </a:p>
        </p:txBody>
      </p:sp>
      <p:sp>
        <p:nvSpPr>
          <p:cNvPr id="14" name="TextBox 13"/>
          <p:cNvSpPr txBox="1"/>
          <p:nvPr/>
        </p:nvSpPr>
        <p:spPr>
          <a:xfrm>
            <a:off x="8430768" y="1920240"/>
            <a:ext cx="3200400" cy="2743200"/>
          </a:xfrm>
          <a:prstGeom prst="rect">
            <a:avLst/>
          </a:prstGeom>
          <a:noFill/>
        </p:spPr>
        <p:txBody>
          <a:bodyPr wrap="square">
            <a:spAutoFit/>
          </a:bodyPr>
          <a:lstStyle/>
          <a:p>
            <a:r>
              <a:rPr sz="1600" b="0">
                <a:solidFill>
                  <a:srgbClr val="1E293B"/>
                </a:solidFill>
                <a:latin typeface="Calibri"/>
              </a:rPr>
              <a:t>Write observations as dated actions. A question is not a blocker unless you name it as one.</a:t>
            </a:r>
          </a:p>
        </p:txBody>
      </p:sp>
      <p:sp>
        <p:nvSpPr>
          <p:cNvPr id="15" name="Rounded Rectangle 14"/>
          <p:cNvSpPr/>
          <p:nvPr/>
        </p:nvSpPr>
        <p:spPr>
          <a:xfrm>
            <a:off x="365760" y="5166360"/>
            <a:ext cx="11430000" cy="1234440"/>
          </a:xfrm>
          <a:prstGeom prst="roundRect">
            <a:avLst>
              <a:gd name="adj" fmla="val 8000"/>
            </a:avLst>
          </a:prstGeom>
          <a:solidFill>
            <a:srgbClr val="FEF3C7"/>
          </a:solidFill>
          <a:ln w="12700">
            <a:solidFill>
              <a:srgbClr val="C4A35A"/>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ctr">
              <a:spcAft>
                <a:spcPts val="400"/>
              </a:spcAft>
            </a:pPr>
            <a:r>
              <a:rPr sz="1600" b="1">
                <a:solidFill>
                  <a:srgbClr val="003366"/>
                </a:solidFill>
                <a:latin typeface="Calibri"/>
              </a:rPr>
              <a:t>Later sitting — production apply · timed restore · CIS register · VA/PT</a:t>
            </a:r>
          </a:p>
        </p:txBody>
      </p:sp>
      <p:sp>
        <p:nvSpPr>
          <p:cNvPr id="16" name="Rectangle 1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8" name="TextBox 17"/>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Appendix — network terms</a:t>
            </a:r>
          </a:p>
        </p:txBody>
      </p:sp>
      <p:sp>
        <p:nvSpPr>
          <p:cNvPr id="6" name="Rounded Rectangle 5"/>
          <p:cNvSpPr/>
          <p:nvPr/>
        </p:nvSpPr>
        <p:spPr>
          <a:xfrm>
            <a:off x="365760" y="960120"/>
            <a:ext cx="3017520" cy="658368"/>
          </a:xfrm>
          <a:prstGeom prst="roundRect">
            <a:avLst>
              <a:gd name="adj" fmla="val 8000"/>
            </a:avLst>
          </a:prstGeom>
          <a:solidFill>
            <a:srgbClr val="003366"/>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Transit Gateway</a:t>
            </a:r>
          </a:p>
        </p:txBody>
      </p:sp>
      <p:sp>
        <p:nvSpPr>
          <p:cNvPr id="7" name="Rounded Rectangle 6"/>
          <p:cNvSpPr/>
          <p:nvPr/>
        </p:nvSpPr>
        <p:spPr>
          <a:xfrm>
            <a:off x="3520440" y="960120"/>
            <a:ext cx="8275320" cy="658368"/>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400"/>
              </a:spcAft>
            </a:pPr>
            <a:r>
              <a:rPr sz="1400" b="0">
                <a:solidFill>
                  <a:srgbClr val="1E293B"/>
                </a:solidFill>
                <a:latin typeface="Calibri"/>
              </a:rPr>
              <a:t>The estate roundabout. We attach a spoke.</a:t>
            </a:r>
          </a:p>
        </p:txBody>
      </p:sp>
      <p:sp>
        <p:nvSpPr>
          <p:cNvPr id="8" name="Rounded Rectangle 7"/>
          <p:cNvSpPr/>
          <p:nvPr/>
        </p:nvSpPr>
        <p:spPr>
          <a:xfrm>
            <a:off x="365760" y="1709928"/>
            <a:ext cx="3017520" cy="658368"/>
          </a:xfrm>
          <a:prstGeom prst="roundRect">
            <a:avLst>
              <a:gd name="adj" fmla="val 8000"/>
            </a:avLst>
          </a:prstGeom>
          <a:solidFill>
            <a:srgbClr val="003366"/>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Internet gateway</a:t>
            </a:r>
          </a:p>
        </p:txBody>
      </p:sp>
      <p:sp>
        <p:nvSpPr>
          <p:cNvPr id="9" name="Rounded Rectangle 8"/>
          <p:cNvSpPr/>
          <p:nvPr/>
        </p:nvSpPr>
        <p:spPr>
          <a:xfrm>
            <a:off x="3520440" y="1709928"/>
            <a:ext cx="8275320" cy="658368"/>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400"/>
              </a:spcAft>
            </a:pPr>
            <a:r>
              <a:rPr sz="1400" b="0">
                <a:solidFill>
                  <a:srgbClr val="1E293B"/>
                </a:solidFill>
                <a:latin typeface="Calibri"/>
              </a:rPr>
              <a:t>Public door of a VPC. Not on the workload.</a:t>
            </a:r>
          </a:p>
        </p:txBody>
      </p:sp>
      <p:sp>
        <p:nvSpPr>
          <p:cNvPr id="10" name="Rounded Rectangle 9"/>
          <p:cNvSpPr/>
          <p:nvPr/>
        </p:nvSpPr>
        <p:spPr>
          <a:xfrm>
            <a:off x="365760" y="2459736"/>
            <a:ext cx="3017520" cy="658368"/>
          </a:xfrm>
          <a:prstGeom prst="roundRect">
            <a:avLst>
              <a:gd name="adj" fmla="val 8000"/>
            </a:avLst>
          </a:prstGeom>
          <a:solidFill>
            <a:srgbClr val="003366"/>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NAT gateway</a:t>
            </a:r>
          </a:p>
        </p:txBody>
      </p:sp>
      <p:sp>
        <p:nvSpPr>
          <p:cNvPr id="11" name="Rounded Rectangle 10"/>
          <p:cNvSpPr/>
          <p:nvPr/>
        </p:nvSpPr>
        <p:spPr>
          <a:xfrm>
            <a:off x="3520440" y="2459736"/>
            <a:ext cx="8275320" cy="658368"/>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400"/>
              </a:spcAft>
            </a:pPr>
            <a:r>
              <a:rPr sz="1400" b="0">
                <a:solidFill>
                  <a:srgbClr val="1E293B"/>
                </a:solidFill>
                <a:latin typeface="Calibri"/>
              </a:rPr>
              <a:t>Lets private pods start outbound. Not the 1SB allowlist.</a:t>
            </a:r>
          </a:p>
        </p:txBody>
      </p:sp>
      <p:sp>
        <p:nvSpPr>
          <p:cNvPr id="12" name="Rounded Rectangle 11"/>
          <p:cNvSpPr/>
          <p:nvPr/>
        </p:nvSpPr>
        <p:spPr>
          <a:xfrm>
            <a:off x="365760" y="3209544"/>
            <a:ext cx="3017520" cy="658368"/>
          </a:xfrm>
          <a:prstGeom prst="roundRect">
            <a:avLst>
              <a:gd name="adj" fmla="val 8000"/>
            </a:avLst>
          </a:prstGeom>
          <a:solidFill>
            <a:srgbClr val="003366"/>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Network Firewall</a:t>
            </a:r>
          </a:p>
        </p:txBody>
      </p:sp>
      <p:sp>
        <p:nvSpPr>
          <p:cNvPr id="13" name="Rounded Rectangle 12"/>
          <p:cNvSpPr/>
          <p:nvPr/>
        </p:nvSpPr>
        <p:spPr>
          <a:xfrm>
            <a:off x="3520440" y="3209544"/>
            <a:ext cx="8275320" cy="658368"/>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400"/>
              </a:spcAft>
            </a:pPr>
            <a:r>
              <a:rPr sz="1400" b="0">
                <a:solidFill>
                  <a:srgbClr val="1E293B"/>
                </a:solidFill>
                <a:latin typeface="Calibri"/>
              </a:rPr>
              <a:t>Inspection on the outbound hop. Security accepts remainder.</a:t>
            </a:r>
          </a:p>
        </p:txBody>
      </p:sp>
      <p:sp>
        <p:nvSpPr>
          <p:cNvPr id="14" name="Rounded Rectangle 13"/>
          <p:cNvSpPr/>
          <p:nvPr/>
        </p:nvSpPr>
        <p:spPr>
          <a:xfrm>
            <a:off x="365760" y="3959352"/>
            <a:ext cx="3017520" cy="658368"/>
          </a:xfrm>
          <a:prstGeom prst="roundRect">
            <a:avLst>
              <a:gd name="adj" fmla="val 8000"/>
            </a:avLst>
          </a:prstGeom>
          <a:solidFill>
            <a:srgbClr val="003366"/>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Internal ALB</a:t>
            </a:r>
          </a:p>
        </p:txBody>
      </p:sp>
      <p:sp>
        <p:nvSpPr>
          <p:cNvPr id="15" name="Rounded Rectangle 14"/>
          <p:cNvSpPr/>
          <p:nvPr/>
        </p:nvSpPr>
        <p:spPr>
          <a:xfrm>
            <a:off x="3520440" y="3959352"/>
            <a:ext cx="8275320" cy="658368"/>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400"/>
              </a:spcAft>
            </a:pPr>
            <a:r>
              <a:rPr sz="1400" b="0">
                <a:solidFill>
                  <a:srgbClr val="1E293B"/>
                </a:solidFill>
                <a:latin typeface="Calibri"/>
              </a:rPr>
              <a:t>The only load balancer inside the VPC.</a:t>
            </a:r>
          </a:p>
        </p:txBody>
      </p:sp>
      <p:sp>
        <p:nvSpPr>
          <p:cNvPr id="16" name="Rounded Rectangle 15"/>
          <p:cNvSpPr/>
          <p:nvPr/>
        </p:nvSpPr>
        <p:spPr>
          <a:xfrm>
            <a:off x="365760" y="4709160"/>
            <a:ext cx="3017520" cy="658368"/>
          </a:xfrm>
          <a:prstGeom prst="roundRect">
            <a:avLst>
              <a:gd name="adj" fmla="val 8000"/>
            </a:avLst>
          </a:prstGeom>
          <a:solidFill>
            <a:srgbClr val="003366"/>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API Gateway</a:t>
            </a:r>
          </a:p>
        </p:txBody>
      </p:sp>
      <p:sp>
        <p:nvSpPr>
          <p:cNvPr id="17" name="Rounded Rectangle 16"/>
          <p:cNvSpPr/>
          <p:nvPr/>
        </p:nvSpPr>
        <p:spPr>
          <a:xfrm>
            <a:off x="3520440" y="4709160"/>
            <a:ext cx="8275320" cy="658368"/>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400"/>
              </a:spcAft>
            </a:pPr>
            <a:r>
              <a:rPr sz="1400" b="0">
                <a:solidFill>
                  <a:srgbClr val="1E293B"/>
                </a:solidFill>
                <a:latin typeface="Calibri"/>
              </a:rPr>
              <a:t>Inbound AWS front door. Not Apigee.</a:t>
            </a:r>
          </a:p>
        </p:txBody>
      </p:sp>
      <p:sp>
        <p:nvSpPr>
          <p:cNvPr id="18" name="Rounded Rectangle 17"/>
          <p:cNvSpPr/>
          <p:nvPr/>
        </p:nvSpPr>
        <p:spPr>
          <a:xfrm>
            <a:off x="365760" y="5458968"/>
            <a:ext cx="3017520" cy="658368"/>
          </a:xfrm>
          <a:prstGeom prst="roundRect">
            <a:avLst>
              <a:gd name="adj" fmla="val 8000"/>
            </a:avLst>
          </a:prstGeom>
          <a:solidFill>
            <a:srgbClr val="003366"/>
          </a:solidFill>
          <a:ln w="12700">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Apigee</a:t>
            </a:r>
          </a:p>
        </p:txBody>
      </p:sp>
      <p:sp>
        <p:nvSpPr>
          <p:cNvPr id="19" name="Rounded Rectangle 18"/>
          <p:cNvSpPr/>
          <p:nvPr/>
        </p:nvSpPr>
        <p:spPr>
          <a:xfrm>
            <a:off x="3520440" y="5458968"/>
            <a:ext cx="8275320" cy="658368"/>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54864" bIns="54864"/>
          <a:lstStyle/>
          <a:p>
            <a:pPr algn="l">
              <a:spcAft>
                <a:spcPts val="400"/>
              </a:spcAft>
            </a:pPr>
            <a:r>
              <a:rPr sz="1400" b="0">
                <a:solidFill>
                  <a:srgbClr val="1E293B"/>
                </a:solidFill>
                <a:latin typeface="Calibri"/>
              </a:rPr>
              <a:t>Outbound API plane for 1SB and bank APIs.</a:t>
            </a:r>
          </a:p>
        </p:txBody>
      </p:sp>
      <p:sp>
        <p:nvSpPr>
          <p:cNvPr id="20" name="Rectangle 19"/>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22" name="TextBox 21"/>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8368"/>
            <a:ext cx="12191695" cy="64008"/>
          </a:xfrm>
          <a:prstGeom prst="rect">
            <a:avLst/>
          </a:prstGeom>
          <a:solidFill>
            <a:srgbClr val="C4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11430000" cy="438912"/>
          </a:xfrm>
          <a:prstGeom prst="rect">
            <a:avLst/>
          </a:prstGeom>
          <a:noFill/>
        </p:spPr>
        <p:txBody>
          <a:bodyPr wrap="none">
            <a:spAutoFit/>
          </a:bodyPr>
          <a:lstStyle/>
          <a:p>
            <a:r>
              <a:rPr sz="2200" b="1">
                <a:solidFill>
                  <a:srgbClr val="FFFFFF"/>
                </a:solidFill>
                <a:latin typeface="Calibri"/>
              </a:rPr>
              <a:t>Appendix — if you do not have the number</a:t>
            </a:r>
          </a:p>
        </p:txBody>
      </p:sp>
      <p:sp>
        <p:nvSpPr>
          <p:cNvPr id="6" name="Rounded Rectangle 5"/>
          <p:cNvSpPr/>
          <p:nvPr/>
        </p:nvSpPr>
        <p:spPr>
          <a:xfrm>
            <a:off x="365760" y="960120"/>
            <a:ext cx="3200400" cy="96012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1 — Cite and stop</a:t>
            </a:r>
          </a:p>
        </p:txBody>
      </p:sp>
      <p:sp>
        <p:nvSpPr>
          <p:cNvPr id="7" name="Rounded Rectangle 6"/>
          <p:cNvSpPr/>
          <p:nvPr/>
        </p:nvSpPr>
        <p:spPr>
          <a:xfrm>
            <a:off x="3703320" y="960120"/>
            <a:ext cx="8092440" cy="960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200" b="0">
                <a:solidFill>
                  <a:srgbClr val="1E293B"/>
                </a:solidFill>
                <a:latin typeface="Calibri"/>
              </a:rPr>
              <a:t>That decision is recorded in ADR-0XX. I will not re-litigate it from memory. Happy to walk the clause after the sitting if needed.</a:t>
            </a:r>
          </a:p>
        </p:txBody>
      </p:sp>
      <p:sp>
        <p:nvSpPr>
          <p:cNvPr id="8" name="Rounded Rectangle 7"/>
          <p:cNvSpPr/>
          <p:nvPr/>
        </p:nvSpPr>
        <p:spPr>
          <a:xfrm>
            <a:off x="365760" y="2011680"/>
            <a:ext cx="3200400" cy="96012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2 — Name the owner</a:t>
            </a:r>
          </a:p>
        </p:txBody>
      </p:sp>
      <p:sp>
        <p:nvSpPr>
          <p:cNvPr id="9" name="Rounded Rectangle 8"/>
          <p:cNvSpPr/>
          <p:nvPr/>
        </p:nvSpPr>
        <p:spPr>
          <a:xfrm>
            <a:off x="3703320" y="2011680"/>
            <a:ext cx="8092440" cy="960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200" b="0">
                <a:solidFill>
                  <a:srgbClr val="1E293B"/>
                </a:solidFill>
                <a:latin typeface="Calibri"/>
              </a:rPr>
              <a:t>The structure is Architecture's. The remaining acceptance sits with [Deepali / Shivanshi / bank network / Apigee team]. I will not speak for their residual.</a:t>
            </a:r>
          </a:p>
        </p:txBody>
      </p:sp>
      <p:sp>
        <p:nvSpPr>
          <p:cNvPr id="10" name="Rounded Rectangle 9"/>
          <p:cNvSpPr/>
          <p:nvPr/>
        </p:nvSpPr>
        <p:spPr>
          <a:xfrm>
            <a:off x="365760" y="3063240"/>
            <a:ext cx="3200400" cy="96012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3 — Action, dated, non-blocking</a:t>
            </a:r>
          </a:p>
        </p:txBody>
      </p:sp>
      <p:sp>
        <p:nvSpPr>
          <p:cNvPr id="11" name="Rounded Rectangle 10"/>
          <p:cNvSpPr/>
          <p:nvPr/>
        </p:nvSpPr>
        <p:spPr>
          <a:xfrm>
            <a:off x="3703320" y="3063240"/>
            <a:ext cx="8092440" cy="960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200" b="0">
                <a:solidFill>
                  <a:srgbClr val="1E293B"/>
                </a:solidFill>
                <a:latin typeface="Calibri"/>
              </a:rPr>
              <a:t>Fair question. I do not have a measured answer in the room and I will not invent one. Action: we return by [date] with [owner]. That item does not change the Dev/UAT VPC shape we are asking you to review today.</a:t>
            </a:r>
          </a:p>
        </p:txBody>
      </p:sp>
      <p:sp>
        <p:nvSpPr>
          <p:cNvPr id="12" name="Rounded Rectangle 11"/>
          <p:cNvSpPr/>
          <p:nvPr/>
        </p:nvSpPr>
        <p:spPr>
          <a:xfrm>
            <a:off x="365760" y="4114800"/>
            <a:ext cx="3200400" cy="96012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4 — Later sitting</a:t>
            </a:r>
          </a:p>
        </p:txBody>
      </p:sp>
      <p:sp>
        <p:nvSpPr>
          <p:cNvPr id="13" name="Rounded Rectangle 12"/>
          <p:cNvSpPr/>
          <p:nvPr/>
        </p:nvSpPr>
        <p:spPr>
          <a:xfrm>
            <a:off x="3703320" y="4114800"/>
            <a:ext cx="8092440" cy="960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200" b="0">
                <a:solidFill>
                  <a:srgbClr val="1E293B"/>
                </a:solidFill>
                <a:latin typeface="Calibri"/>
              </a:rPr>
              <a:t>That is a production, DR-readiness or VA-PT question. We will bring evidence to the second ARB. Today is the intended design, so Dev and UAT can be stood up.</a:t>
            </a:r>
          </a:p>
        </p:txBody>
      </p:sp>
      <p:sp>
        <p:nvSpPr>
          <p:cNvPr id="14" name="Rounded Rectangle 13"/>
          <p:cNvSpPr/>
          <p:nvPr/>
        </p:nvSpPr>
        <p:spPr>
          <a:xfrm>
            <a:off x="365760" y="5166360"/>
            <a:ext cx="3200400" cy="960120"/>
          </a:xfrm>
          <a:prstGeom prst="roundRect">
            <a:avLst>
              <a:gd name="adj" fmla="val 8000"/>
            </a:avLst>
          </a:prstGeom>
          <a:solidFill>
            <a:srgbClr val="0E7490"/>
          </a:solidFill>
          <a:ln w="12700">
            <a:solidFill>
              <a:srgbClr val="0E749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ctr">
              <a:spcAft>
                <a:spcPts val="400"/>
              </a:spcAft>
            </a:pPr>
            <a:r>
              <a:rPr sz="1300" b="1">
                <a:solidFill>
                  <a:srgbClr val="FFFFFF"/>
                </a:solidFill>
                <a:latin typeface="Calibri"/>
              </a:rPr>
              <a:t>5 — Never guess</a:t>
            </a:r>
          </a:p>
        </p:txBody>
      </p:sp>
      <p:sp>
        <p:nvSpPr>
          <p:cNvPr id="15" name="Rounded Rectangle 14"/>
          <p:cNvSpPr/>
          <p:nvPr/>
        </p:nvSpPr>
        <p:spPr>
          <a:xfrm>
            <a:off x="3703320" y="5166360"/>
            <a:ext cx="8092440" cy="960120"/>
          </a:xfrm>
          <a:prstGeom prst="roundRect">
            <a:avLst>
              <a:gd name="adj" fmla="val 8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46304" rIns="146304" tIns="54864" bIns="54864"/>
          <a:lstStyle/>
          <a:p>
            <a:pPr algn="l">
              <a:spcAft>
                <a:spcPts val="400"/>
              </a:spcAft>
            </a:pPr>
            <a:r>
              <a:rPr sz="1200" b="0">
                <a:solidFill>
                  <a:srgbClr val="1E293B"/>
                </a:solidFill>
                <a:latin typeface="Calibri"/>
              </a:rPr>
              <a:t>I will not guess an IP, a pentest result, a restore-drill time, or a CIS register class. Guessing those in this room would be the actual control failure.</a:t>
            </a:r>
          </a:p>
        </p:txBody>
      </p:sp>
      <p:sp>
        <p:nvSpPr>
          <p:cNvPr id="16" name="Rectangle 15"/>
          <p:cNvSpPr/>
          <p:nvPr/>
        </p:nvSpPr>
        <p:spPr>
          <a:xfrm>
            <a:off x="0" y="6601968"/>
            <a:ext cx="12191695" cy="25603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620256"/>
            <a:ext cx="10241280" cy="219456"/>
          </a:xfrm>
          <a:prstGeom prst="rect">
            <a:avLst/>
          </a:prstGeom>
          <a:noFill/>
        </p:spPr>
        <p:txBody>
          <a:bodyPr wrap="none">
            <a:spAutoFit/>
          </a:bodyPr>
          <a:lstStyle/>
          <a:p>
            <a:r>
              <a:rPr sz="900" b="0">
                <a:solidFill>
                  <a:srgbClr val="FFFFFF"/>
                </a:solidFill>
                <a:latin typeface="Calibri"/>
              </a:rPr>
              <a:t>First review · Dev &amp; UAT · not production · not DR-ready · not VA/PT</a:t>
            </a:r>
          </a:p>
        </p:txBody>
      </p:sp>
      <p:sp>
        <p:nvSpPr>
          <p:cNvPr id="18" name="TextBox 17"/>
          <p:cNvSpPr txBox="1"/>
          <p:nvPr/>
        </p:nvSpPr>
        <p:spPr>
          <a:xfrm>
            <a:off x="10607040" y="6620256"/>
            <a:ext cx="1325880" cy="219456"/>
          </a:xfrm>
          <a:prstGeom prst="rect">
            <a:avLst/>
          </a:prstGeom>
          <a:noFill/>
        </p:spPr>
        <p:txBody>
          <a:bodyPr wrap="none">
            <a:spAutoFit/>
          </a:bodyPr>
          <a:lstStyle/>
          <a:p>
            <a:pPr algn="r"/>
            <a:r>
              <a:rPr sz="900" b="0">
                <a:solidFill>
                  <a:srgbClr val="C4A35A"/>
                </a:solidFill>
                <a:latin typeface="Calibri"/>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