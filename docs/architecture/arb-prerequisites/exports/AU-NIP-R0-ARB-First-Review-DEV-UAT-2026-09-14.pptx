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TIMEBOX: 3 min</a:t>
            </a:r>
          </a:p>
          <a:p/>
          <a:p>
            <a:r>
              <a:t>SAY:</a:t>
            </a:r>
          </a:p>
          <a:p>
            <a:r>
              <a:t>Thank you. This is the first Architecture Review Board sitting for the Insurance Distribution Platform — NIP.</a:t>
            </a:r>
          </a:p>
          <a:p/>
          <a:p>
            <a:r>
              <a:t>We are not here for production go-live, and we are not here for DR-ready sign-off. Those will be later, fuller sittings.</a:t>
            </a:r>
          </a:p>
          <a:p/>
          <a:p>
            <a:r>
              <a:t>Today we ask you to review the architecture we intend to build, confirm it is aligned with bank platform standards, and allow us to stand up Dev and UAT — Dev lives inside the UAT AWS account — so engineering can proceed.</a:t>
            </a:r>
          </a:p>
          <a:p/>
          <a:p>
            <a:r>
              <a:t>I will walk one complete sale, then the cloud and network shape, then security, identity, data, audit, and DR as designed. I will be explicit about what is already bank-standard, what is different and why, and what we are still waiting on from other teams.</a:t>
            </a:r>
          </a:p>
          <a:p/>
          <a:p>
            <a:r>
              <a:t>If a question needs a measured answer we do not have in the room — for example an Apigee IP list — I will record it as an action rather than guess. That kind of item should not block the Dev/UAT environment shape.</a:t>
            </a:r>
          </a:p>
          <a:p/>
          <a:p>
            <a:r>
              <a:t>Sixty minutes. Comments welcome. We will park anything that belongs to the production ARB.</a:t>
            </a:r>
          </a:p>
          <a:p/>
          <a:p>
            <a:r>
              <a:t>IF ASKED:</a:t>
            </a:r>
          </a:p>
          <a:p>
            <a:r>
              <a:t>If someone asks 'is this production approval?' — No. Say it twice. Write it on the parking lot.</a:t>
            </a:r>
          </a:p>
          <a:p/>
          <a:p>
            <a:r>
              <a:t>DO NOT:</a:t>
            </a:r>
          </a:p>
          <a:p>
            <a:r>
              <a:t>Do not say 'AI designed this'. Do not say 'we need production'. Do not apologise for the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TIMEBOX: 3 min</a:t>
            </a:r>
          </a:p>
          <a:p/>
          <a:p>
            <a:r>
              <a:t>SAY:</a:t>
            </a:r>
          </a:p>
          <a:p>
            <a:r>
              <a:t>Please look at the two columns in your mind: today versus later. Today is design review plus Dev/UAT. Later is production and DR. If a comment is really a production control, I will park it for the second sitting so we do not spend the hour there.</a:t>
            </a:r>
          </a:p>
          <a:p/>
          <a:p>
            <a:r>
              <a:t>IF ASKED:</a:t>
            </a:r>
          </a:p>
          <a:p>
            <a:r>
              <a:t>If they say 'we only ARB once' — we still cannot evidence DR or VA/PT today. We are asking for a staged review, which matches how landing zones are vended.</a:t>
            </a:r>
          </a:p>
          <a:p/>
          <a:p>
            <a:r>
              <a:t>DO NOT:</a:t>
            </a:r>
          </a:p>
          <a:p>
            <a:r>
              <a:t>Do not accept 'approve everything now'. Do not accept 'come back when prod-ready' if that blocks Dev/UAT — that is the chicken-and-egg.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TIMEBOX: 1 min</a:t>
            </a:r>
          </a:p>
          <a:p/>
          <a:p>
            <a:r>
              <a:t>SAY:</a:t>
            </a:r>
          </a:p>
          <a:p>
            <a:r>
              <a:t>I will keep moving. Please park deep dives. Appendix slides at the back are glossary and FAQ — we open them only if needed.</a:t>
            </a:r>
          </a:p>
          <a:p/>
          <a:p>
            <a:r>
              <a:t>IF ASKED:</a:t>
            </a:r>
          </a:p>
          <a:p>
            <a:r>
              <a:t>If they want to jump to network first — agree. Skip to the front-door slide. The sale trace can wait 2 minutes.</a:t>
            </a:r>
          </a:p>
          <a:p/>
          <a:p>
            <a:r>
              <a:t>DO NOT:</a:t>
            </a:r>
          </a:p>
          <a:p>
            <a:r>
              <a:t>Do not read this table aloud line by line.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TIMEBOX: 4 min</a:t>
            </a:r>
          </a:p>
          <a:p/>
          <a:p>
            <a:r>
              <a:t>SAY:</a:t>
            </a:r>
          </a:p>
          <a:p>
            <a:r>
              <a:t>This is an insurance distribution platform owned by the bank, not a 1SilverBullet skin. 1SB is a provider route we can replace. The RM never pays on the RM device. The customer pays on the customer's device. If we get that wrong, we do not have an IRDAI-safe journey.</a:t>
            </a:r>
          </a:p>
          <a:p/>
          <a:p>
            <a:r>
              <a:t>IF ASKED:</a:t>
            </a:r>
          </a:p>
          <a:p>
            <a:r>
              <a:t>Health / Motor / DIY are later horizons. Do not design them in this hour. H1–H3 are direction, not this submission.</a:t>
            </a:r>
          </a:p>
          <a:p/>
          <a:p>
            <a:r>
              <a:t>DO NOT:</a:t>
            </a:r>
          </a:p>
          <a:p>
            <a:r>
              <a:t>Do not invent a business BRD signature. Rajal owns Product sign-off.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TIMEBOX: 5 min</a:t>
            </a:r>
          </a:p>
          <a:p/>
          <a:p>
            <a:r>
              <a:t>SAY:</a:t>
            </a:r>
          </a:p>
          <a:p>
            <a:r>
              <a:t>Forget boxes for one minute. This trace IS the architecture. Flutter never calls 1SB, never calls RDS, never calls Apigee. Customer phone appears twice: OTP and pay. If someone proposes a shortcut that skips suitability, consent, customer-device pay, or audit-before-sold — that is not a simplification, that is a control failure.</a:t>
            </a:r>
          </a:p>
          <a:p/>
          <a:p>
            <a:r>
              <a:t>IF ASKED:</a:t>
            </a:r>
          </a:p>
          <a:p>
            <a:r>
              <a:t>Why so many services? Because Health later must not rewrite Life. Quote and suitability are different systems of record. We will not merge them to look smaller on a slide.</a:t>
            </a:r>
          </a:p>
          <a:p/>
          <a:p>
            <a:r>
              <a:t>DO NOT:</a:t>
            </a:r>
          </a:p>
          <a:p>
            <a:r>
              <a:t>Do not demo a god-service. Do not say Kafka is the audit log.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TIMEBOX: 6 min</a:t>
            </a:r>
          </a:p>
          <a:p/>
          <a:p>
            <a:r>
              <a:t>SAY:</a:t>
            </a:r>
          </a:p>
          <a:p>
            <a:r>
              <a:t>This will attract the most questions. The one-line answer: a public ALB in front of API Gateway is an extra attack surface and an extra hop the insurance platform does not need. Cloudflare and F5 are already the bank perimeter, and they are SaaS — they do not sit in our VPC. Internal ALB is the only load balancer inside the VPC. If the room wants the neighbour app's Public ALB copied, that is a change to ADR-018, not a tweak. It would also require Deepali, not just Architecture.</a:t>
            </a:r>
          </a:p>
          <a:p/>
          <a:p>
            <a:r>
              <a:t>IF ASKED:</a:t>
            </a:r>
          </a:p>
          <a:p>
            <a:r>
              <a:t>Use FAQ 1–3. If they insist, Play 2: Deepali owns the exposure outcome. Play 3: we will not redesign the front door in the last twenty minutes.</a:t>
            </a:r>
          </a:p>
          <a:p/>
          <a:p>
            <a:r>
              <a:t>DO NOT:</a:t>
            </a:r>
          </a:p>
          <a:p>
            <a:r>
              <a:t>Do not agree to 'just a public ALB for Dev'. Dev that is public is a prod-shaped hole with synthetic data until someone puts a real CIF in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TIMEBOX: 4 min</a:t>
            </a:r>
          </a:p>
          <a:p/>
          <a:p>
            <a:r>
              <a:t>SAY:</a:t>
            </a:r>
          </a:p>
          <a:p>
            <a:r>
              <a:t>This is the R0 topology. Please notice three things. One: we attach as a spoke to the existing AU-CTO-NETWORK Transit Gateway — we do not build a second hub, a second Direct Connect, or a FortiGate pair in our VPC. Two: inbound is Cloudflare / F5 / API Gateway. Three: outbound leaves via Apigee. The picture is a rendering of the LLD. If it disagrees with an ADR, the ADR wins.</a:t>
            </a:r>
          </a:p>
          <a:p/>
          <a:p>
            <a:r>
              <a:t>IF ASKED:</a:t>
            </a:r>
          </a:p>
          <a:p>
            <a:r>
              <a:t>If they cannot read the picture, go to the next two slides which are the same facts in words.</a:t>
            </a:r>
          </a:p>
          <a:p/>
          <a:p>
            <a:r>
              <a:t>DO NOT:</a:t>
            </a:r>
          </a:p>
          <a:p>
            <a:r>
              <a:t>Do not apologise that it is busy. Offer the LLD after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TIMEBOX: 5 min</a:t>
            </a:r>
          </a:p>
          <a:p/>
          <a:p>
            <a:r>
              <a:t>SAY:</a:t>
            </a:r>
          </a:p>
          <a:p>
            <a:r>
              <a:t>Two different outsides. Mixing them is how CIF ends up on the public internet. Bank systems stay private. Internet partners go through Apigee. If someone says 'just whitelist our NAT IPs like last year' — that allowlists the wrong host. 1SB will see Apigee, not our NAT.</a:t>
            </a:r>
          </a:p>
          <a:p/>
          <a:p>
            <a:r>
              <a:t>IF ASKED:</a:t>
            </a:r>
          </a:p>
          <a:p>
            <a:r>
              <a:t>Apigee edition and exact IPs are still with the Apigee team (DEP-20260914-apg). Play 3. Dev can use stubs; UAT needs the private path or a dated exception — Shivanshi.</a:t>
            </a:r>
          </a:p>
          <a:p/>
          <a:p>
            <a:r>
              <a:t>DO NOT:</a:t>
            </a:r>
          </a:p>
          <a:p>
            <a:r>
              <a:t>Do not read out an IP. Do not promise the Apigee product exists today.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TIMEBOX: 3 min</a:t>
            </a:r>
          </a:p>
          <a:p/>
          <a:p>
            <a:r>
              <a:t>SAY:</a:t>
            </a:r>
          </a:p>
          <a:p>
            <a:r>
              <a:t>Bank onboarding default is Prod, CUG, UAT, with Dev inside UAT. We are not asking for a separate Dev account. We are not asking for CUG at R0 — waiver, do not provision. Isolation is two VPCs, namespaces, schemas, Valkey prefixes, Apigee products. That is how we keep cost down without mixing stub CBS and real CBS.</a:t>
            </a:r>
          </a:p>
          <a:p/>
          <a:p>
            <a:r>
              <a:t>IF ASKED:</a:t>
            </a:r>
          </a:p>
          <a:p>
            <a:r>
              <a:t>If Cloud wants a split Dev account — that is a cost exception they own. We can consume it; we are not requesting it. CUG has no R0 consumer.</a:t>
            </a:r>
          </a:p>
          <a:p/>
          <a:p>
            <a:r>
              <a:t>DO NOT:</a:t>
            </a:r>
          </a:p>
          <a:p>
            <a:r>
              <a:t>Do not offer to vendor prod in the same request 'while we are here'.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TIMEBOX: 4 min</a:t>
            </a:r>
          </a:p>
          <a:p/>
          <a:p>
            <a:r>
              <a:t>SAY:</a:t>
            </a:r>
          </a:p>
          <a:p>
            <a:r>
              <a:t>If Security asks 'where is the VA/PT report?' the honest answer is: there is none, and we will not claim there is. Dev/UAT can be stood up with SAST in CI. Production ARB will not. Please do not hold Dev/UAT for a pentest of an environment that does not exist yet.</a:t>
            </a:r>
          </a:p>
          <a:p/>
          <a:p>
            <a:r>
              <a:t>IF ASKED:</a:t>
            </a:r>
          </a:p>
          <a:p>
            <a:r>
              <a:t>Play 4 on pentest. Play 2 on ADR-010 firewall remainder.</a:t>
            </a:r>
          </a:p>
          <a:p/>
          <a:p>
            <a:r>
              <a:t>DO NOT:</a:t>
            </a:r>
          </a:p>
          <a:p>
            <a:r>
              <a:t>Do not say 'we will pentest next week' unless Swapnali/Deepali have a date.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TIMEBOX: 3 min</a:t>
            </a:r>
          </a:p>
          <a:p/>
          <a:p>
            <a:r>
              <a:t>SAY:</a:t>
            </a:r>
          </a:p>
          <a:p>
            <a:r>
              <a:t>The sentence that must survive this slide: we are not binding LDAP from Kubernetes to Active Directory. That would be a new attack path the bank does not need. AD-verify is an API the bank already has.</a:t>
            </a:r>
          </a:p>
          <a:p/>
          <a:p>
            <a:r>
              <a:t>IF ASKED:</a:t>
            </a:r>
          </a:p>
          <a:p>
            <a:r>
              <a:t>Password-in-NIP vs Fireframe SSO is a joint item with Deepali (ID-11). Play 2. It does not change VPC vending.</a:t>
            </a:r>
          </a:p>
          <a:p/>
          <a:p>
            <a:r>
              <a:t>DO NOT:</a:t>
            </a:r>
          </a:p>
          <a:p>
            <a:r>
              <a:t>Do not offer to 'just LDAP for Dev'.</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TIMEBOX: 3 min</a:t>
            </a:r>
          </a:p>
          <a:p/>
          <a:p>
            <a:r>
              <a:t>SAY:</a:t>
            </a:r>
          </a:p>
          <a:p>
            <a:r>
              <a:t>Please do not let anyone treat Kibana as the audit pack. Search can be rebuilt. WORM cannot be shortened because we are in a hurry to decommission.</a:t>
            </a:r>
          </a:p>
          <a:p/>
          <a:p>
            <a:r>
              <a:t>IF ASKED:</a:t>
            </a:r>
          </a:p>
          <a:p>
            <a:r>
              <a:t>CIS class is proposed Critical; Shailja + CISO register it. Architecture does not. Play 2. Dev/UAT still uses the same control set — we do not build a weaker Dev.</a:t>
            </a:r>
          </a:p>
          <a:p/>
          <a:p>
            <a:r>
              <a:t>DO NOT:</a:t>
            </a:r>
          </a:p>
          <a:p>
            <a:r>
              <a:t>Do not classify the system into the bank CIS register from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TIMEBOX: 3 min</a:t>
            </a:r>
          </a:p>
          <a:p/>
          <a:p>
            <a:r>
              <a:t>SAY:</a:t>
            </a:r>
          </a:p>
          <a:p>
            <a:r>
              <a:t>Session-create goes out through Apigee. The customer completes 3-D Secure on their own device. The callback comes in on a separate API Gateway route, not on Priya's session. We do not mark SOLD because a payment API returned 200. We wait for RECONCILED. If the callback is lost, state is UNCERTAIN and we block a second attempt. Timeouts do not mint money.</a:t>
            </a:r>
          </a:p>
          <a:p/>
          <a:p>
            <a:r>
              <a:t>IF ASKED:</a:t>
            </a:r>
          </a:p>
          <a:p>
            <a:r>
              <a:t>PAN never on the RM device and never in our logs. PG is the bank's existing payment gateway — we do not replace it.</a:t>
            </a:r>
          </a:p>
          <a:p/>
          <a:p>
            <a:r>
              <a:t>DO NOT:</a:t>
            </a:r>
          </a:p>
          <a:p>
            <a:r>
              <a:t>Do not accept 'RM can pay on behalf for UAT demo' as an architecture exception.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TIMEBOX: 3 min</a:t>
            </a:r>
          </a:p>
          <a:p/>
          <a:p>
            <a:r>
              <a:t>SAY:</a:t>
            </a:r>
          </a:p>
          <a:p>
            <a:r>
              <a:t>Warm standby in Hyderabad. RTO ≤ 1 hour, transactional RPO ≤ 5 minutes, audit RPO 0. Cache, MSK and OpenSearch are not replicated — by design. A DR region with no path to CBS cannot sell. We have not run the timed restore drill. That drill is a production/DR ARB evidence item (NFR-DR-04). Today we are not claiming DR-ready.</a:t>
            </a:r>
          </a:p>
          <a:p/>
          <a:p>
            <a:r>
              <a:t>IF ASKED:</a:t>
            </a:r>
          </a:p>
          <a:p>
            <a:r>
              <a:t>Why not active-active? Bank SOP language for some tiers is active-active. We do not 'fix' that without an RIA tier and Aarti/Shivanshi. Warm standby matches RTO 1 hour. Play 4.</a:t>
            </a:r>
          </a:p>
          <a:p/>
          <a:p>
            <a:r>
              <a:t>DO NOT:</a:t>
            </a:r>
          </a:p>
          <a:p>
            <a:r>
              <a:t>Do not say DR is proven. Do not skip Hyderabad in the design 'to save money' without Aarti.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TIMEBOX: 4 min</a:t>
            </a:r>
          </a:p>
          <a:p/>
          <a:p>
            <a:r>
              <a:t>SAY:</a:t>
            </a:r>
          </a:p>
          <a:p>
            <a:r>
              <a:t>Read the red lines as the only things that might look 'new'. Public ALB is the neighbour pattern we refused. CUG we are not buying. Separate Dev account we are not asking for. Everything else is attach-don't-clone. If ARB can live with those three differences, Dev/UAT can be vended without an architecture rewrite.</a:t>
            </a:r>
          </a:p>
          <a:p/>
          <a:p>
            <a:r>
              <a:t>IF ASKED:</a:t>
            </a:r>
          </a:p>
          <a:p>
            <a:r>
              <a:t>If they reject API Gateway inbound — that is a redesign, Deepali+Mahesh, not a hallway decision. Record it. Do not improvise a Public ALB 'for now'.</a:t>
            </a:r>
          </a:p>
          <a:p/>
          <a:p>
            <a:r>
              <a:t>DO NOT:</a:t>
            </a:r>
          </a:p>
          <a:p>
            <a:r>
              <a:t>Do not present differences as rebellion. Present them as recorded ADRs with owners.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TIMEBOX: 3 min</a:t>
            </a:r>
          </a:p>
          <a:p/>
          <a:p>
            <a:r>
              <a:t>SAY:</a:t>
            </a:r>
          </a:p>
          <a:p>
            <a:r>
              <a:t>We did not pick a fashion stack. We picked what the estate already runs and what keeps 1SB behind an adapter. A stack argument that does not change a control is a later conversation.</a:t>
            </a:r>
          </a:p>
          <a:p/>
          <a:p>
            <a:r>
              <a:t>IF ASKED:</a:t>
            </a:r>
          </a:p>
          <a:p>
            <a:r>
              <a:t>FAQ on Lambda, Istio, Mongo, Kafka-as-audit. Play 1 with the cheat sheet.</a:t>
            </a:r>
          </a:p>
          <a:p/>
          <a:p>
            <a:r>
              <a:t>DO NOT:</a:t>
            </a:r>
          </a:p>
          <a:p>
            <a:r>
              <a:t>Do not bash other teams' stacks. Do not agree to Istio 'because prod will need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TIMEBOX: 4 min</a:t>
            </a:r>
          </a:p>
          <a:p/>
          <a:p>
            <a:r>
              <a:t>SAY:</a:t>
            </a:r>
          </a:p>
          <a:p>
            <a:r>
              <a:t>Nothing on this list is a reason to refuse two VPCs in the UAT account. Several are reasons to refuse production. Please keep those in different columns. The pack, PDF, Excel and this deck are the evidence index. Humans still sign CIS, Board 4, T4, VA/PT.</a:t>
            </a:r>
          </a:p>
          <a:p/>
          <a:p>
            <a:r>
              <a:t>IF ASKED:</a:t>
            </a:r>
          </a:p>
          <a:p>
            <a:r>
              <a:t>If they want every row green before Dev — that is production-ARB logic applied too early. Play 4.</a:t>
            </a:r>
          </a:p>
          <a:p/>
          <a:p>
            <a:r>
              <a:t>DO NOT:</a:t>
            </a:r>
          </a:p>
          <a:p>
            <a:r>
              <a:t>Do not mark VA/PT or CIS as done.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TIMEBOX: 3 min</a:t>
            </a:r>
          </a:p>
          <a:p/>
          <a:p>
            <a:r>
              <a:t>SAY:</a:t>
            </a:r>
          </a:p>
          <a:p>
            <a:r>
              <a:t>To close: we are asking for a first-review observation on this architecture, and a non-objection to vendor Dev-inside-UAT and UAT VPCs attaching to the existing bank network.</a:t>
            </a:r>
          </a:p>
          <a:p/>
          <a:p>
            <a:r>
              <a:t>We are not asking for production, DR-ready, CIS classification, or a VA/PT waiver.</a:t>
            </a:r>
          </a:p>
          <a:p/>
          <a:p>
            <a:r>
              <a:t>Observations and improvements are welcome. Anything that needs numbers we do not have, we will take as a dated action. Thank you.</a:t>
            </a:r>
          </a:p>
          <a:p/>
          <a:p>
            <a:r>
              <a:t>IF ASKED:</a:t>
            </a:r>
          </a:p>
          <a:p>
            <a:r>
              <a:t>If they will only write 'approved' — ask them to qualify: 'first review, Dev/UAT vending, production ARB still required'. Unqualified 'approved' is how we get blamed later.</a:t>
            </a:r>
          </a:p>
          <a:p/>
          <a:p>
            <a:r>
              <a:t>DO NOT:</a:t>
            </a:r>
          </a:p>
          <a:p>
            <a:r>
              <a:t>Do not leave without a written observation, even if it is 'no objection to Dev/UAT subject to Deepali on firewall remainder'.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TIMEBOX: 2 min</a:t>
            </a:r>
          </a:p>
          <a:p/>
          <a:p>
            <a:r>
              <a:t>SAY:</a:t>
            </a:r>
          </a:p>
          <a:p>
            <a:r>
              <a:t>I will write every new question here with an owner. If it does not change CIDRs, attachments, or 'no public ALB', it does not block vending.</a:t>
            </a:r>
          </a:p>
          <a:p/>
          <a:p>
            <a:r>
              <a:t>DO NOT:</a:t>
            </a:r>
          </a:p>
          <a:p>
            <a:r>
              <a:t>Do not let the parking lot become a redesign workshop.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 open only if asked</a:t>
            </a:r>
          </a:p>
          <a:p/>
          <a:p>
            <a:r>
              <a:t>SAY:</a:t>
            </a:r>
          </a:p>
          <a:p>
            <a:r>
              <a:t>We stop the main sitting here unless you want the glossary.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 open only if asked</a:t>
            </a:r>
          </a:p>
          <a:p/>
          <a:p>
            <a:r>
              <a:t>SAY:</a:t>
            </a:r>
          </a:p>
          <a:p>
            <a:r>
              <a:t>If a network SME quizzes you, stay on this table. You do not need to configure BGP in this meeting.</a:t>
            </a:r>
          </a:p>
          <a:p/>
          <a:p>
            <a:r>
              <a:t>IF ASKED:</a:t>
            </a:r>
          </a:p>
          <a:p>
            <a:r>
              <a:t>If they go below this — Play 3, Shivanshi + bank network.</a:t>
            </a:r>
          </a:p>
          <a:p/>
          <a:p>
            <a:r>
              <a:t>DO NOT:</a:t>
            </a:r>
          </a:p>
          <a:p>
            <a:r>
              <a:t>Do not draw BGP on a whiteboard unless Shivanshi is speaking.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 open only if asked</a:t>
            </a:r>
          </a:p>
          <a:p/>
          <a:p>
            <a:r>
              <a:t>SAY:</a:t>
            </a:r>
          </a:p>
          <a:p>
            <a:r>
              <a:t>These five sentences are how you stay professional without blocking Dev/UAT. Memorise Play 3 and Play 5.</a:t>
            </a:r>
          </a:p>
          <a:p/>
          <a:p>
            <a:r>
              <a:t>DO NOT:</a:t>
            </a:r>
          </a:p>
          <a:p>
            <a:r>
              <a:t>Do not read this slide in the main hour unless you are using a play live.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 open only if asked</a:t>
            </a:r>
          </a:p>
          <a:p/>
          <a:p>
            <a:r>
              <a:t>SAY:</a:t>
            </a:r>
          </a:p>
          <a:p>
            <a:r>
              <a:t>Flip here only if the room is circling. Full answers are in the FAQ workbook — 35 questions.</a:t>
            </a:r>
          </a:p>
          <a:p/>
          <a:p>
            <a:r>
              <a:t>DO NOT:</a:t>
            </a:r>
          </a:p>
          <a:p>
            <a:r>
              <a:t>Do not invent a 36th answer on the whiteboard.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286000"/>
            <a:ext cx="12191695" cy="73152"/>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051560"/>
            <a:ext cx="10972800" cy="1097280"/>
          </a:xfrm>
          <a:prstGeom prst="rect">
            <a:avLst/>
          </a:prstGeom>
          <a:noFill/>
        </p:spPr>
        <p:txBody>
          <a:bodyPr wrap="none">
            <a:spAutoFit/>
          </a:bodyPr>
          <a:lstStyle/>
          <a:p>
            <a:r>
              <a:rPr sz="1800" b="0">
                <a:solidFill>
                  <a:srgbClr val="C4A35A"/>
                </a:solidFill>
                <a:latin typeface="Calibri"/>
              </a:rPr>
              <a:t>Architecture Review Board — first sitting</a:t>
            </a:r>
          </a:p>
        </p:txBody>
      </p:sp>
      <p:sp>
        <p:nvSpPr>
          <p:cNvPr id="5" name="TextBox 4"/>
          <p:cNvSpPr txBox="1"/>
          <p:nvPr/>
        </p:nvSpPr>
        <p:spPr>
          <a:xfrm>
            <a:off x="640080" y="2468880"/>
            <a:ext cx="10972800" cy="1645920"/>
          </a:xfrm>
          <a:prstGeom prst="rect">
            <a:avLst/>
          </a:prstGeom>
          <a:noFill/>
        </p:spPr>
        <p:txBody>
          <a:bodyPr wrap="square">
            <a:spAutoFit/>
          </a:bodyPr>
          <a:lstStyle/>
          <a:p>
            <a:r>
              <a:rPr sz="2600" b="1">
                <a:solidFill>
                  <a:srgbClr val="FFFFFF"/>
                </a:solidFill>
                <a:latin typeface="Calibri"/>
              </a:rPr>
              <a:t>AU Bank Insurance Distribution Platform (NIP)</a:t>
            </a:r>
          </a:p>
          <a:p>
            <a:r>
              <a:rPr sz="2000" b="0">
                <a:solidFill>
                  <a:srgbClr val="FFFFFF"/>
                </a:solidFill>
                <a:latin typeface="Calibri"/>
              </a:rPr>
              <a:t>R0 assisted Life  ·  Dev &amp; UAT environment review</a:t>
            </a:r>
          </a:p>
        </p:txBody>
      </p:sp>
      <p:sp>
        <p:nvSpPr>
          <p:cNvPr id="6" name="TextBox 5"/>
          <p:cNvSpPr txBox="1"/>
          <p:nvPr/>
        </p:nvSpPr>
        <p:spPr>
          <a:xfrm>
            <a:off x="640080" y="4297680"/>
            <a:ext cx="10972800" cy="2011680"/>
          </a:xfrm>
          <a:prstGeom prst="rect">
            <a:avLst/>
          </a:prstGeom>
          <a:noFill/>
        </p:spPr>
        <p:txBody>
          <a:bodyPr wrap="square">
            <a:spAutoFit/>
          </a:bodyPr>
          <a:lstStyle/>
          <a:p>
            <a:r>
              <a:rPr sz="1600" b="0">
                <a:solidFill>
                  <a:srgbClr val="C4A35A"/>
                </a:solidFill>
                <a:latin typeface="Calibri"/>
              </a:rPr>
              <a:t>Not production. Not DR-ready. Not a CIS register entry. Not VA/PT.</a:t>
            </a:r>
          </a:p>
          <a:p>
            <a:r>
              <a:rPr sz="1600" b="0">
                <a:solidFill>
                  <a:srgbClr val="FFFFFF"/>
                </a:solidFill>
                <a:latin typeface="Calibri"/>
              </a:rPr>
              <a:t>Ask: review the intended architecture and allow Dev-inside-UAT + UAT to be stood up.</a:t>
            </a:r>
          </a:p>
          <a:p>
            <a:r>
              <a:rPr sz="1400" b="0">
                <a:solidFill>
                  <a:srgbClr val="FFFFFF"/>
                </a:solidFill>
                <a:latin typeface="Calibri"/>
              </a:rPr>
              <a:t>60 minutes  ·  2026-09-14  ·  Draft: Mahesh, Board 1 / R2</a:t>
            </a:r>
          </a:p>
        </p:txBody>
      </p:sp>
      <p:sp>
        <p:nvSpPr>
          <p:cNvPr id="7" name="TextBox 6"/>
          <p:cNvSpPr txBox="1"/>
          <p:nvPr/>
        </p:nvSpPr>
        <p:spPr>
          <a:xfrm>
            <a:off x="10698480" y="6537960"/>
            <a:ext cx="1280160" cy="219456"/>
          </a:xfrm>
          <a:prstGeom prst="rect">
            <a:avLst/>
          </a:prstGeom>
          <a:noFill/>
        </p:spPr>
        <p:txBody>
          <a:bodyPr wrap="none">
            <a:spAutoFit/>
          </a:bodyPr>
          <a:lstStyle/>
          <a:p>
            <a:pPr algn="r"/>
            <a:r>
              <a:rPr sz="900" b="0">
                <a:solidFill>
                  <a:srgbClr val="FFFFFF"/>
                </a:solidFill>
                <a:latin typeface="Calibri"/>
              </a:rPr>
              <a:t>1 / 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132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13232"/>
            <a:ext cx="12191695" cy="54864"/>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146304"/>
            <a:ext cx="11521440" cy="475488"/>
          </a:xfrm>
          <a:prstGeom prst="rect">
            <a:avLst/>
          </a:prstGeom>
          <a:noFill/>
        </p:spPr>
        <p:txBody>
          <a:bodyPr wrap="none">
            <a:spAutoFit/>
          </a:bodyPr>
          <a:lstStyle/>
          <a:p>
            <a:r>
              <a:rPr sz="2000" b="1">
                <a:solidFill>
                  <a:srgbClr val="FFFFFF"/>
                </a:solidFill>
                <a:latin typeface="Calibri"/>
              </a:rPr>
              <a:t>Why we are here — and what we are not asking</a:t>
            </a:r>
          </a:p>
        </p:txBody>
      </p:sp>
      <p:sp>
        <p:nvSpPr>
          <p:cNvPr id="5" name="TextBox 4"/>
          <p:cNvSpPr txBox="1"/>
          <p:nvPr/>
        </p:nvSpPr>
        <p:spPr>
          <a:xfrm>
            <a:off x="411480" y="960120"/>
            <a:ext cx="11338560" cy="5440680"/>
          </a:xfrm>
          <a:prstGeom prst="rect">
            <a:avLst/>
          </a:prstGeom>
          <a:noFill/>
        </p:spPr>
        <p:txBody>
          <a:bodyPr wrap="square">
            <a:spAutoFit/>
          </a:bodyPr>
          <a:lstStyle/>
          <a:p>
            <a:pPr>
              <a:spcAft>
                <a:spcPts val="1000"/>
              </a:spcAft>
            </a:pPr>
            <a:r>
              <a:rPr sz="1600" b="0">
                <a:solidFill>
                  <a:srgbClr val="1E293B"/>
                </a:solidFill>
                <a:latin typeface="Calibri"/>
              </a:rPr>
              <a:t>This is the FIRST review. We are introducing NIP: a bank-owned insurance distribution platform for assisted Life.</a:t>
            </a:r>
          </a:p>
          <a:p>
            <a:pPr>
              <a:spcAft>
                <a:spcPts val="1000"/>
              </a:spcAft>
            </a:pPr>
            <a:r>
              <a:rPr sz="1600" b="0">
                <a:solidFill>
                  <a:srgbClr val="1E293B"/>
                </a:solidFill>
                <a:latin typeface="Calibri"/>
              </a:rPr>
              <a:t>ASK TODAY: review the intended architecture; non-objection to stand up Dev (inside UAT) and UAT.</a:t>
            </a:r>
          </a:p>
          <a:p>
            <a:pPr>
              <a:spcAft>
                <a:spcPts val="1000"/>
              </a:spcAft>
            </a:pPr>
            <a:r>
              <a:rPr sz="1600" b="0">
                <a:solidFill>
                  <a:srgbClr val="1E293B"/>
                </a:solidFill>
                <a:latin typeface="Calibri"/>
              </a:rPr>
              <a:t>NOT TODAY: production go-live · DR-ready sign-off · CIS register entry · VA/PT waiver · public ALB exception.</a:t>
            </a:r>
          </a:p>
          <a:p>
            <a:pPr>
              <a:spcAft>
                <a:spcPts val="1000"/>
              </a:spcAft>
            </a:pPr>
            <a:r>
              <a:rPr sz="1600" b="0">
                <a:solidFill>
                  <a:srgbClr val="1E293B"/>
                </a:solidFill>
                <a:latin typeface="Calibri"/>
              </a:rPr>
              <a:t>A later, fuller ARB will cover production and DR evidence (timed restore, VA/PT, proven RTO/RPO).</a:t>
            </a:r>
          </a:p>
          <a:p>
            <a:pPr>
              <a:spcAft>
                <a:spcPts val="1000"/>
              </a:spcAft>
            </a:pPr>
            <a:r>
              <a:rPr sz="1600" b="0">
                <a:solidFill>
                  <a:srgbClr val="1E293B"/>
                </a:solidFill>
                <a:latin typeface="Calibri"/>
              </a:rPr>
              <a:t>We want comments and improvements. Silence is not approval. A question is not a blocker unless you name it as one.</a:t>
            </a:r>
          </a:p>
        </p:txBody>
      </p:sp>
      <p:sp>
        <p:nvSpPr>
          <p:cNvPr id="6" name="Rectangle 5"/>
          <p:cNvSpPr/>
          <p:nvPr/>
        </p:nvSpPr>
        <p:spPr>
          <a:xfrm>
            <a:off x="0" y="6601968"/>
            <a:ext cx="12191695" cy="2560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20256"/>
            <a:ext cx="10332720" cy="219456"/>
          </a:xfrm>
          <a:prstGeom prst="rect">
            <a:avLst/>
          </a:prstGeom>
          <a:noFill/>
        </p:spPr>
        <p:txBody>
          <a:bodyPr wrap="none">
            <a:spAutoFit/>
          </a:bodyPr>
          <a:lstStyle/>
          <a:p>
            <a:r>
              <a:rPr sz="800" b="0">
                <a:solidFill>
                  <a:srgbClr val="FFFFFF"/>
                </a:solidFill>
                <a:latin typeface="Calibri"/>
              </a:rPr>
              <a:t>FIRST REVIEW — DEV/UAT environment shape. Not production go-live, not DR-ready sign-off, not T4, not Board 4, not CIS re</a:t>
            </a:r>
          </a:p>
        </p:txBody>
      </p:sp>
      <p:sp>
        <p:nvSpPr>
          <p:cNvPr id="8" name="TextBox 7"/>
          <p:cNvSpPr txBox="1"/>
          <p:nvPr/>
        </p:nvSpPr>
        <p:spPr>
          <a:xfrm>
            <a:off x="10698480" y="6620256"/>
            <a:ext cx="1280160" cy="219456"/>
          </a:xfrm>
          <a:prstGeom prst="rect">
            <a:avLst/>
          </a:prstGeom>
          <a:noFill/>
        </p:spPr>
        <p:txBody>
          <a:bodyPr wrap="none">
            <a:spAutoFit/>
          </a:bodyPr>
          <a:lstStyle/>
          <a:p>
            <a:pPr algn="r"/>
            <a:r>
              <a:rPr sz="800" b="0">
                <a:solidFill>
                  <a:srgbClr val="FFFFFF"/>
                </a:solidFill>
                <a:latin typeface="Calibri"/>
              </a:rPr>
              <a:t>2 /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132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13232"/>
            <a:ext cx="12191695" cy="54864"/>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146304"/>
            <a:ext cx="11521440" cy="475488"/>
          </a:xfrm>
          <a:prstGeom prst="rect">
            <a:avLst/>
          </a:prstGeom>
          <a:noFill/>
        </p:spPr>
        <p:txBody>
          <a:bodyPr wrap="none">
            <a:spAutoFit/>
          </a:bodyPr>
          <a:lstStyle/>
          <a:p>
            <a:r>
              <a:rPr sz="2000" b="1">
                <a:solidFill>
                  <a:srgbClr val="FFFFFF"/>
                </a:solidFill>
                <a:latin typeface="Calibri"/>
              </a:rPr>
              <a:t>60 minutes — how we will use them</a:t>
            </a:r>
          </a:p>
        </p:txBody>
      </p:sp>
      <p:graphicFrame>
        <p:nvGraphicFramePr>
          <p:cNvPr id="5" name="Table 4"/>
          <p:cNvGraphicFramePr>
            <a:graphicFrameLocks noGrp="1"/>
          </p:cNvGraphicFramePr>
          <p:nvPr/>
        </p:nvGraphicFramePr>
        <p:xfrm>
          <a:off x="274320" y="914400"/>
          <a:ext cx="11612880" cy="5440680"/>
        </p:xfrm>
        <a:graphic>
          <a:graphicData uri="http://schemas.openxmlformats.org/drawingml/2006/table">
            <a:tbl>
              <a:tblPr firstRow="1" bandRow="1">
                <a:tableStyleId>{5C22544A-7EE6-4342-B048-85BDC9FD1C3A}</a:tableStyleId>
              </a:tblPr>
              <a:tblGrid>
                <a:gridCol w="3870960"/>
                <a:gridCol w="3870960"/>
                <a:gridCol w="3870960"/>
              </a:tblGrid>
              <a:tr h="777240">
                <a:tc>
                  <a:txBody>
                    <a:bodyPr wrap="square"/>
                    <a:lstStyle/>
                    <a:p>
                      <a:r>
                        <a:rPr sz="1300" b="1">
                          <a:solidFill>
                            <a:srgbClr val="FFFFFF"/>
                          </a:solidFill>
                          <a:latin typeface="Calibri"/>
                        </a:rPr>
                        <a:t>Mins</a:t>
                      </a:r>
                    </a:p>
                  </a:txBody>
                  <a:tcPr>
                    <a:solidFill>
                      <a:srgbClr val="003366"/>
                    </a:solidFill>
                  </a:tcPr>
                </a:tc>
                <a:tc>
                  <a:txBody>
                    <a:bodyPr wrap="square"/>
                    <a:lstStyle/>
                    <a:p>
                      <a:r>
                        <a:rPr sz="1300" b="1">
                          <a:solidFill>
                            <a:srgbClr val="FFFFFF"/>
                          </a:solidFill>
                          <a:latin typeface="Calibri"/>
                        </a:rPr>
                        <a:t>What you will see</a:t>
                      </a:r>
                    </a:p>
                  </a:txBody>
                  <a:tcPr>
                    <a:solidFill>
                      <a:srgbClr val="003366"/>
                    </a:solidFill>
                  </a:tcPr>
                </a:tc>
                <a:tc>
                  <a:txBody>
                    <a:bodyPr wrap="square"/>
                    <a:lstStyle/>
                    <a:p>
                      <a:r>
                        <a:rPr sz="1300" b="1">
                          <a:solidFill>
                            <a:srgbClr val="FFFFFF"/>
                          </a:solidFill>
                          <a:latin typeface="Calibri"/>
                        </a:rPr>
                        <a:t>Why it is here</a:t>
                      </a:r>
                    </a:p>
                  </a:txBody>
                  <a:tcPr>
                    <a:solidFill>
                      <a:srgbClr val="003366"/>
                    </a:solidFill>
                  </a:tcPr>
                </a:tc>
              </a:tr>
              <a:tr h="777240">
                <a:tc>
                  <a:txBody>
                    <a:bodyPr wrap="square"/>
                    <a:lstStyle/>
                    <a:p>
                      <a:r>
                        <a:rPr sz="1300" b="0">
                          <a:solidFill>
                            <a:srgbClr val="1E293B"/>
                          </a:solidFill>
                          <a:latin typeface="Calibri"/>
                        </a:rPr>
                        <a:t>0–8</a:t>
                      </a:r>
                    </a:p>
                  </a:txBody>
                  <a:tcPr>
                    <a:solidFill>
                      <a:srgbClr val="F1F5F9"/>
                    </a:solidFill>
                  </a:tcPr>
                </a:tc>
                <a:tc>
                  <a:txBody>
                    <a:bodyPr wrap="square"/>
                    <a:lstStyle/>
                    <a:p>
                      <a:r>
                        <a:rPr sz="1300" b="0">
                          <a:solidFill>
                            <a:srgbClr val="1E293B"/>
                          </a:solidFill>
                          <a:latin typeface="Calibri"/>
                        </a:rPr>
                        <a:t>Ask + business + one sale</a:t>
                      </a:r>
                    </a:p>
                  </a:txBody>
                  <a:tcPr>
                    <a:solidFill>
                      <a:srgbClr val="F1F5F9"/>
                    </a:solidFill>
                  </a:tcPr>
                </a:tc>
                <a:tc>
                  <a:txBody>
                    <a:bodyPr wrap="square"/>
                    <a:lstStyle/>
                    <a:p>
                      <a:r>
                        <a:rPr sz="1300" b="0">
                          <a:solidFill>
                            <a:srgbClr val="1E293B"/>
                          </a:solidFill>
                          <a:latin typeface="Calibri"/>
                        </a:rPr>
                        <a:t>So everyone is on the same journey</a:t>
                      </a:r>
                    </a:p>
                  </a:txBody>
                  <a:tcPr>
                    <a:solidFill>
                      <a:srgbClr val="F1F5F9"/>
                    </a:solidFill>
                  </a:tcPr>
                </a:tc>
              </a:tr>
              <a:tr h="777240">
                <a:tc>
                  <a:txBody>
                    <a:bodyPr wrap="square"/>
                    <a:lstStyle/>
                    <a:p>
                      <a:r>
                        <a:rPr sz="1300" b="0">
                          <a:solidFill>
                            <a:srgbClr val="1E293B"/>
                          </a:solidFill>
                          <a:latin typeface="Calibri"/>
                        </a:rPr>
                        <a:t>8–25</a:t>
                      </a:r>
                    </a:p>
                  </a:txBody>
                  <a:tcPr>
                    <a:solidFill>
                      <a:srgbClr val="FFFFFF"/>
                    </a:solidFill>
                  </a:tcPr>
                </a:tc>
                <a:tc>
                  <a:txBody>
                    <a:bodyPr wrap="square"/>
                    <a:lstStyle/>
                    <a:p>
                      <a:r>
                        <a:rPr sz="1300" b="0">
                          <a:solidFill>
                            <a:srgbClr val="1E293B"/>
                          </a:solidFill>
                          <a:latin typeface="Calibri"/>
                        </a:rPr>
                        <a:t>Front door, loading dock, accounts</a:t>
                      </a:r>
                    </a:p>
                  </a:txBody>
                  <a:tcPr>
                    <a:solidFill>
                      <a:srgbClr val="FFFFFF"/>
                    </a:solidFill>
                  </a:tcPr>
                </a:tc>
                <a:tc>
                  <a:txBody>
                    <a:bodyPr wrap="square"/>
                    <a:lstStyle/>
                    <a:p>
                      <a:r>
                        <a:rPr sz="1300" b="0">
                          <a:solidFill>
                            <a:srgbClr val="1E293B"/>
                          </a:solidFill>
                          <a:latin typeface="Calibri"/>
                        </a:rPr>
                        <a:t>This is where Public ALB / TGW / NAT questions land</a:t>
                      </a:r>
                    </a:p>
                  </a:txBody>
                  <a:tcPr>
                    <a:solidFill>
                      <a:srgbClr val="FFFFFF"/>
                    </a:solidFill>
                  </a:tcPr>
                </a:tc>
              </a:tr>
              <a:tr h="777240">
                <a:tc>
                  <a:txBody>
                    <a:bodyPr wrap="square"/>
                    <a:lstStyle/>
                    <a:p>
                      <a:r>
                        <a:rPr sz="1300" b="0">
                          <a:solidFill>
                            <a:srgbClr val="1E293B"/>
                          </a:solidFill>
                          <a:latin typeface="Calibri"/>
                        </a:rPr>
                        <a:t>25–40</a:t>
                      </a:r>
                    </a:p>
                  </a:txBody>
                  <a:tcPr>
                    <a:solidFill>
                      <a:srgbClr val="F1F5F9"/>
                    </a:solidFill>
                  </a:tcPr>
                </a:tc>
                <a:tc>
                  <a:txBody>
                    <a:bodyPr wrap="square"/>
                    <a:lstStyle/>
                    <a:p>
                      <a:r>
                        <a:rPr sz="1300" b="0">
                          <a:solidFill>
                            <a:srgbClr val="1E293B"/>
                          </a:solidFill>
                          <a:latin typeface="Calibri"/>
                        </a:rPr>
                        <a:t>Security, identity, data, audit, logs, payment</a:t>
                      </a:r>
                    </a:p>
                  </a:txBody>
                  <a:tcPr>
                    <a:solidFill>
                      <a:srgbClr val="F1F5F9"/>
                    </a:solidFill>
                  </a:tcPr>
                </a:tc>
                <a:tc>
                  <a:txBody>
                    <a:bodyPr wrap="square"/>
                    <a:lstStyle/>
                    <a:p>
                      <a:r>
                        <a:rPr sz="1300" b="0">
                          <a:solidFill>
                            <a:srgbClr val="1E293B"/>
                          </a:solidFill>
                          <a:latin typeface="Calibri"/>
                        </a:rPr>
                        <a:t>Bank NFR and trust boundaries</a:t>
                      </a:r>
                    </a:p>
                  </a:txBody>
                  <a:tcPr>
                    <a:solidFill>
                      <a:srgbClr val="F1F5F9"/>
                    </a:solidFill>
                  </a:tcPr>
                </a:tc>
              </a:tr>
              <a:tr h="777240">
                <a:tc>
                  <a:txBody>
                    <a:bodyPr wrap="square"/>
                    <a:lstStyle/>
                    <a:p>
                      <a:r>
                        <a:rPr sz="1300" b="0">
                          <a:solidFill>
                            <a:srgbClr val="1E293B"/>
                          </a:solidFill>
                          <a:latin typeface="Calibri"/>
                        </a:rPr>
                        <a:t>40–47</a:t>
                      </a:r>
                    </a:p>
                  </a:txBody>
                  <a:tcPr>
                    <a:solidFill>
                      <a:srgbClr val="FFFFFF"/>
                    </a:solidFill>
                  </a:tcPr>
                </a:tc>
                <a:tc>
                  <a:txBody>
                    <a:bodyPr wrap="square"/>
                    <a:lstStyle/>
                    <a:p>
                      <a:r>
                        <a:rPr sz="1300" b="0">
                          <a:solidFill>
                            <a:srgbClr val="1E293B"/>
                          </a:solidFill>
                          <a:latin typeface="Calibri"/>
                        </a:rPr>
                        <a:t>DR as designed + tech stack vs bank standard</a:t>
                      </a:r>
                    </a:p>
                  </a:txBody>
                  <a:tcPr>
                    <a:solidFill>
                      <a:srgbClr val="FFFFFF"/>
                    </a:solidFill>
                  </a:tcPr>
                </a:tc>
                <a:tc>
                  <a:txBody>
                    <a:bodyPr wrap="square"/>
                    <a:lstStyle/>
                    <a:p>
                      <a:r>
                        <a:rPr sz="1300" b="0">
                          <a:solidFill>
                            <a:srgbClr val="1E293B"/>
                          </a:solidFill>
                          <a:latin typeface="Calibri"/>
                        </a:rPr>
                        <a:t>What is reused vs what is new</a:t>
                      </a:r>
                    </a:p>
                  </a:txBody>
                  <a:tcPr>
                    <a:solidFill>
                      <a:srgbClr val="FFFFFF"/>
                    </a:solidFill>
                  </a:tcPr>
                </a:tc>
              </a:tr>
              <a:tr h="777240">
                <a:tc>
                  <a:txBody>
                    <a:bodyPr wrap="square"/>
                    <a:lstStyle/>
                    <a:p>
                      <a:r>
                        <a:rPr sz="1300" b="0">
                          <a:solidFill>
                            <a:srgbClr val="1E293B"/>
                          </a:solidFill>
                          <a:latin typeface="Calibri"/>
                        </a:rPr>
                        <a:t>47–55</a:t>
                      </a:r>
                    </a:p>
                  </a:txBody>
                  <a:tcPr>
                    <a:solidFill>
                      <a:srgbClr val="F1F5F9"/>
                    </a:solidFill>
                  </a:tcPr>
                </a:tc>
                <a:tc>
                  <a:txBody>
                    <a:bodyPr wrap="square"/>
                    <a:lstStyle/>
                    <a:p>
                      <a:r>
                        <a:rPr sz="1300" b="0">
                          <a:solidFill>
                            <a:srgbClr val="1E293B"/>
                          </a:solidFill>
                          <a:latin typeface="Calibri"/>
                        </a:rPr>
                        <a:t>19 prerequisites traffic light + today's ask</a:t>
                      </a:r>
                    </a:p>
                  </a:txBody>
                  <a:tcPr>
                    <a:solidFill>
                      <a:srgbClr val="F1F5F9"/>
                    </a:solidFill>
                  </a:tcPr>
                </a:tc>
                <a:tc>
                  <a:txBody>
                    <a:bodyPr wrap="square"/>
                    <a:lstStyle/>
                    <a:p>
                      <a:r>
                        <a:rPr sz="1300" b="0">
                          <a:solidFill>
                            <a:srgbClr val="1E293B"/>
                          </a:solidFill>
                          <a:latin typeface="Calibri"/>
                        </a:rPr>
                        <a:t>Honest holds, none should block Dev/UAT VPCs</a:t>
                      </a:r>
                    </a:p>
                  </a:txBody>
                  <a:tcPr>
                    <a:solidFill>
                      <a:srgbClr val="F1F5F9"/>
                    </a:solidFill>
                  </a:tcPr>
                </a:tc>
              </a:tr>
              <a:tr h="777240">
                <a:tc>
                  <a:txBody>
                    <a:bodyPr wrap="square"/>
                    <a:lstStyle/>
                    <a:p>
                      <a:r>
                        <a:rPr sz="1300" b="0">
                          <a:solidFill>
                            <a:srgbClr val="1E293B"/>
                          </a:solidFill>
                          <a:latin typeface="Calibri"/>
                        </a:rPr>
                        <a:t>55–60</a:t>
                      </a:r>
                    </a:p>
                  </a:txBody>
                  <a:tcPr>
                    <a:solidFill>
                      <a:srgbClr val="FFFFFF"/>
                    </a:solidFill>
                  </a:tcPr>
                </a:tc>
                <a:tc>
                  <a:txBody>
                    <a:bodyPr wrap="square"/>
                    <a:lstStyle/>
                    <a:p>
                      <a:r>
                        <a:rPr sz="1300" b="0">
                          <a:solidFill>
                            <a:srgbClr val="1E293B"/>
                          </a:solidFill>
                          <a:latin typeface="Calibri"/>
                        </a:rPr>
                        <a:t>Close, parking lot, actions</a:t>
                      </a:r>
                    </a:p>
                  </a:txBody>
                  <a:tcPr>
                    <a:solidFill>
                      <a:srgbClr val="FFFFFF"/>
                    </a:solidFill>
                  </a:tcPr>
                </a:tc>
                <a:tc>
                  <a:txBody>
                    <a:bodyPr wrap="square"/>
                    <a:lstStyle/>
                    <a:p>
                      <a:r>
                        <a:rPr sz="1300" b="0">
                          <a:solidFill>
                            <a:srgbClr val="1E293B"/>
                          </a:solidFill>
                          <a:latin typeface="Calibri"/>
                        </a:rPr>
                        <a:t>Leave with a dated list, not a debate</a:t>
                      </a:r>
                    </a:p>
                  </a:txBody>
                  <a:tcPr>
                    <a:solidFill>
                      <a:srgbClr val="FFFFFF"/>
                    </a:solidFill>
                  </a:tcPr>
                </a:tc>
              </a:tr>
            </a:tbl>
          </a:graphicData>
        </a:graphic>
      </p:graphicFrame>
      <p:sp>
        <p:nvSpPr>
          <p:cNvPr id="6" name="Rectangle 5"/>
          <p:cNvSpPr/>
          <p:nvPr/>
        </p:nvSpPr>
        <p:spPr>
          <a:xfrm>
            <a:off x="0" y="6601968"/>
            <a:ext cx="12191695" cy="2560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20256"/>
            <a:ext cx="10332720" cy="219456"/>
          </a:xfrm>
          <a:prstGeom prst="rect">
            <a:avLst/>
          </a:prstGeom>
          <a:noFill/>
        </p:spPr>
        <p:txBody>
          <a:bodyPr wrap="none">
            <a:spAutoFit/>
          </a:bodyPr>
          <a:lstStyle/>
          <a:p>
            <a:r>
              <a:rPr sz="800" b="0">
                <a:solidFill>
                  <a:srgbClr val="FFFFFF"/>
                </a:solidFill>
                <a:latin typeface="Calibri"/>
              </a:rPr>
              <a:t>FIRST REVIEW — DEV/UAT environment shape. Not production go-live, not DR-ready sign-off, not T4, not Board 4, not CIS re</a:t>
            </a:r>
          </a:p>
        </p:txBody>
      </p:sp>
      <p:sp>
        <p:nvSpPr>
          <p:cNvPr id="8" name="TextBox 7"/>
          <p:cNvSpPr txBox="1"/>
          <p:nvPr/>
        </p:nvSpPr>
        <p:spPr>
          <a:xfrm>
            <a:off x="10698480" y="6620256"/>
            <a:ext cx="1280160" cy="219456"/>
          </a:xfrm>
          <a:prstGeom prst="rect">
            <a:avLst/>
          </a:prstGeom>
          <a:noFill/>
        </p:spPr>
        <p:txBody>
          <a:bodyPr wrap="none">
            <a:spAutoFit/>
          </a:bodyPr>
          <a:lstStyle/>
          <a:p>
            <a:pPr algn="r"/>
            <a:r>
              <a:rPr sz="800" b="0">
                <a:solidFill>
                  <a:srgbClr val="FFFFFF"/>
                </a:solidFill>
                <a:latin typeface="Calibri"/>
              </a:rPr>
              <a:t>3 / 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132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13232"/>
            <a:ext cx="12191695" cy="54864"/>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146304"/>
            <a:ext cx="11521440" cy="475488"/>
          </a:xfrm>
          <a:prstGeom prst="rect">
            <a:avLst/>
          </a:prstGeom>
          <a:noFill/>
        </p:spPr>
        <p:txBody>
          <a:bodyPr wrap="none">
            <a:spAutoFit/>
          </a:bodyPr>
          <a:lstStyle/>
          <a:p>
            <a:r>
              <a:rPr sz="2000" b="1">
                <a:solidFill>
                  <a:srgbClr val="FFFFFF"/>
                </a:solidFill>
                <a:latin typeface="Calibri"/>
              </a:rPr>
              <a:t>Business — what NIP is (row 1 of the pack)</a:t>
            </a:r>
          </a:p>
        </p:txBody>
      </p:sp>
      <p:sp>
        <p:nvSpPr>
          <p:cNvPr id="5" name="TextBox 4"/>
          <p:cNvSpPr txBox="1"/>
          <p:nvPr/>
        </p:nvSpPr>
        <p:spPr>
          <a:xfrm>
            <a:off x="411480" y="960120"/>
            <a:ext cx="11338560" cy="5440680"/>
          </a:xfrm>
          <a:prstGeom prst="rect">
            <a:avLst/>
          </a:prstGeom>
          <a:noFill/>
        </p:spPr>
        <p:txBody>
          <a:bodyPr wrap="square">
            <a:spAutoFit/>
          </a:bodyPr>
          <a:lstStyle/>
          <a:p>
            <a:pPr>
              <a:spcAft>
                <a:spcPts val="1000"/>
              </a:spcAft>
            </a:pPr>
            <a:r>
              <a:rPr sz="1600" b="0">
                <a:solidFill>
                  <a:srgbClr val="1E293B"/>
                </a:solidFill>
                <a:latin typeface="Calibri"/>
              </a:rPr>
              <a:t>AU Bank holds IRDAI Composite Corporate Agency licence CA0515.</a:t>
            </a:r>
          </a:p>
          <a:p>
            <a:pPr>
              <a:spcAft>
                <a:spcPts val="1000"/>
              </a:spcAft>
            </a:pPr>
            <a:r>
              <a:rPr sz="1600" b="0">
                <a:solidFill>
                  <a:srgbClr val="1E293B"/>
                </a:solidFill>
                <a:latin typeface="Calibri"/>
              </a:rPr>
              <a:t>R0: one Relationship Manager, as certified Specified Person, sells Term or Savings/ULIP to one ETB customer of one Group A insurer — end to end.</a:t>
            </a:r>
          </a:p>
          <a:p>
            <a:pPr>
              <a:spcAft>
                <a:spcPts val="1000"/>
              </a:spcAft>
            </a:pPr>
            <a:r>
              <a:rPr sz="1600" b="0">
                <a:solidFill>
                  <a:srgbClr val="1E293B"/>
                </a:solidFill>
                <a:latin typeface="Calibri"/>
              </a:rPr>
              <a:t>Non-bypassable: suitability (C1), customer-device OTP consent (C2), customer-device payment (C4), reconciled issuance, immutable 7-year audit.</a:t>
            </a:r>
          </a:p>
          <a:p>
            <a:pPr>
              <a:spcAft>
                <a:spcPts val="1000"/>
              </a:spcAft>
            </a:pPr>
            <a:r>
              <a:rPr sz="1600" b="0">
                <a:solidFill>
                  <a:srgbClr val="1E293B"/>
                </a:solidFill>
                <a:latin typeface="Calibri"/>
              </a:rPr>
              <a:t>Why not redirect to an aggregator portal: we lose evidence, suitability, and the ability to replace the aggregator.</a:t>
            </a:r>
          </a:p>
          <a:p>
            <a:pPr>
              <a:spcAft>
                <a:spcPts val="1000"/>
              </a:spcAft>
            </a:pPr>
            <a:r>
              <a:rPr sz="1600" b="0">
                <a:solidFill>
                  <a:srgbClr val="1E293B"/>
                </a:solidFill>
                <a:latin typeface="Calibri"/>
              </a:rPr>
              <a:t>Product volumes (CAP-A*) are still assumptions — Rajal. That does not change the Dev/UAT network shape.</a:t>
            </a:r>
          </a:p>
        </p:txBody>
      </p:sp>
      <p:sp>
        <p:nvSpPr>
          <p:cNvPr id="6" name="Rectangle 5"/>
          <p:cNvSpPr/>
          <p:nvPr/>
        </p:nvSpPr>
        <p:spPr>
          <a:xfrm>
            <a:off x="0" y="6601968"/>
            <a:ext cx="12191695" cy="2560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20256"/>
            <a:ext cx="10332720" cy="219456"/>
          </a:xfrm>
          <a:prstGeom prst="rect">
            <a:avLst/>
          </a:prstGeom>
          <a:noFill/>
        </p:spPr>
        <p:txBody>
          <a:bodyPr wrap="none">
            <a:spAutoFit/>
          </a:bodyPr>
          <a:lstStyle/>
          <a:p>
            <a:r>
              <a:rPr sz="800" b="0">
                <a:solidFill>
                  <a:srgbClr val="FFFFFF"/>
                </a:solidFill>
                <a:latin typeface="Calibri"/>
              </a:rPr>
              <a:t>FIRST REVIEW — DEV/UAT environment shape. Not production go-live, not DR-ready sign-off, not T4, not Board 4, not CIS re</a:t>
            </a:r>
          </a:p>
        </p:txBody>
      </p:sp>
      <p:sp>
        <p:nvSpPr>
          <p:cNvPr id="8" name="TextBox 7"/>
          <p:cNvSpPr txBox="1"/>
          <p:nvPr/>
        </p:nvSpPr>
        <p:spPr>
          <a:xfrm>
            <a:off x="10698480" y="6620256"/>
            <a:ext cx="1280160" cy="219456"/>
          </a:xfrm>
          <a:prstGeom prst="rect">
            <a:avLst/>
          </a:prstGeom>
          <a:noFill/>
        </p:spPr>
        <p:txBody>
          <a:bodyPr wrap="none">
            <a:spAutoFit/>
          </a:bodyPr>
          <a:lstStyle/>
          <a:p>
            <a:pPr algn="r"/>
            <a:r>
              <a:rPr sz="800" b="0">
                <a:solidFill>
                  <a:srgbClr val="FFFFFF"/>
                </a:solidFill>
                <a:latin typeface="Calibri"/>
              </a:rPr>
              <a:t>4 / 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132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13232"/>
            <a:ext cx="12191695" cy="54864"/>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146304"/>
            <a:ext cx="11521440" cy="475488"/>
          </a:xfrm>
          <a:prstGeom prst="rect">
            <a:avLst/>
          </a:prstGeom>
          <a:noFill/>
        </p:spPr>
        <p:txBody>
          <a:bodyPr wrap="none">
            <a:spAutoFit/>
          </a:bodyPr>
          <a:lstStyle/>
          <a:p>
            <a:r>
              <a:rPr sz="2000" b="1">
                <a:solidFill>
                  <a:srgbClr val="FFFFFF"/>
                </a:solidFill>
                <a:latin typeface="Calibri"/>
              </a:rPr>
              <a:t>One sale, end to end — follow Priya</a:t>
            </a:r>
          </a:p>
        </p:txBody>
      </p:sp>
      <p:sp>
        <p:nvSpPr>
          <p:cNvPr id="5" name="TextBox 4"/>
          <p:cNvSpPr txBox="1"/>
          <p:nvPr/>
        </p:nvSpPr>
        <p:spPr>
          <a:xfrm>
            <a:off x="411480" y="960120"/>
            <a:ext cx="11338560" cy="5440680"/>
          </a:xfrm>
          <a:prstGeom prst="rect">
            <a:avLst/>
          </a:prstGeom>
          <a:noFill/>
        </p:spPr>
        <p:txBody>
          <a:bodyPr wrap="square">
            <a:spAutoFit/>
          </a:bodyPr>
          <a:lstStyle/>
          <a:p>
            <a:pPr>
              <a:spcAft>
                <a:spcPts val="1000"/>
              </a:spcAft>
            </a:pPr>
            <a:r>
              <a:rPr sz="1600" b="0">
                <a:solidFill>
                  <a:srgbClr val="1E293B"/>
                </a:solidFill>
                <a:latin typeface="Calibri"/>
              </a:rPr>
              <a:t>Priya's device → Cloudflare → F5-XC → API Gateway → Internal ALB → Flutter web or NIP BFF.</a:t>
            </a:r>
          </a:p>
          <a:p>
            <a:pPr>
              <a:spcAft>
                <a:spcPts val="1000"/>
              </a:spcAft>
            </a:pPr>
            <a:r>
              <a:rPr sz="1600" b="0">
                <a:solidFill>
                  <a:srgbClr val="1E293B"/>
                </a:solidFill>
                <a:latin typeface="Calibri"/>
              </a:rPr>
              <a:t>BFF holds tokens. Device holds an opaque session only. PDP fail-closed before regulated actions.</a:t>
            </a:r>
          </a:p>
          <a:p>
            <a:pPr>
              <a:spcAft>
                <a:spcPts val="1000"/>
              </a:spcAft>
            </a:pPr>
            <a:r>
              <a:rPr sz="1600" b="0">
                <a:solidFill>
                  <a:srgbClr val="1E293B"/>
                </a:solidFill>
                <a:latin typeface="Calibri"/>
              </a:rPr>
              <a:t>Lead create is the only on-platform way in. CIF via bank EBS. Suitability before quote. OTP on the customer phone.</a:t>
            </a:r>
          </a:p>
          <a:p>
            <a:pPr>
              <a:spcAft>
                <a:spcPts val="1000"/>
              </a:spcAft>
            </a:pPr>
            <a:r>
              <a:rPr sz="1600" b="0">
                <a:solidFill>
                  <a:srgbClr val="1E293B"/>
                </a:solidFill>
                <a:latin typeface="Calibri"/>
              </a:rPr>
              <a:t>Quote/proposal: Hub → 1SB adapter → Apigee → 1SB. 1SB JSON dies in the adapter.</a:t>
            </a:r>
          </a:p>
          <a:p>
            <a:pPr>
              <a:spcAft>
                <a:spcPts val="1000"/>
              </a:spcAft>
            </a:pPr>
            <a:r>
              <a:rPr sz="1600" b="0">
                <a:solidFill>
                  <a:srgbClr val="1E293B"/>
                </a:solidFill>
                <a:latin typeface="Calibri"/>
              </a:rPr>
              <a:t>Payment link to the customer device. Callback on a separate API Gateway route. Policy only after RECONCILED + audit write.</a:t>
            </a:r>
          </a:p>
        </p:txBody>
      </p:sp>
      <p:sp>
        <p:nvSpPr>
          <p:cNvPr id="6" name="Rectangle 5"/>
          <p:cNvSpPr/>
          <p:nvPr/>
        </p:nvSpPr>
        <p:spPr>
          <a:xfrm>
            <a:off x="0" y="6601968"/>
            <a:ext cx="12191695" cy="2560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20256"/>
            <a:ext cx="10332720" cy="219456"/>
          </a:xfrm>
          <a:prstGeom prst="rect">
            <a:avLst/>
          </a:prstGeom>
          <a:noFill/>
        </p:spPr>
        <p:txBody>
          <a:bodyPr wrap="none">
            <a:spAutoFit/>
          </a:bodyPr>
          <a:lstStyle/>
          <a:p>
            <a:r>
              <a:rPr sz="800" b="0">
                <a:solidFill>
                  <a:srgbClr val="FFFFFF"/>
                </a:solidFill>
                <a:latin typeface="Calibri"/>
              </a:rPr>
              <a:t>FIRST REVIEW — DEV/UAT environment shape. Not production go-live, not DR-ready sign-off, not T4, not Board 4, not CIS re</a:t>
            </a:r>
          </a:p>
        </p:txBody>
      </p:sp>
      <p:sp>
        <p:nvSpPr>
          <p:cNvPr id="8" name="TextBox 7"/>
          <p:cNvSpPr txBox="1"/>
          <p:nvPr/>
        </p:nvSpPr>
        <p:spPr>
          <a:xfrm>
            <a:off x="10698480" y="6620256"/>
            <a:ext cx="1280160" cy="219456"/>
          </a:xfrm>
          <a:prstGeom prst="rect">
            <a:avLst/>
          </a:prstGeom>
          <a:noFill/>
        </p:spPr>
        <p:txBody>
          <a:bodyPr wrap="none">
            <a:spAutoFit/>
          </a:bodyPr>
          <a:lstStyle/>
          <a:p>
            <a:pPr algn="r"/>
            <a:r>
              <a:rPr sz="800" b="0">
                <a:solidFill>
                  <a:srgbClr val="FFFFFF"/>
                </a:solidFill>
                <a:latin typeface="Calibri"/>
              </a:rPr>
              <a:t>5 / 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132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13232"/>
            <a:ext cx="12191695" cy="54864"/>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146304"/>
            <a:ext cx="11521440" cy="475488"/>
          </a:xfrm>
          <a:prstGeom prst="rect">
            <a:avLst/>
          </a:prstGeom>
          <a:noFill/>
        </p:spPr>
        <p:txBody>
          <a:bodyPr wrap="none">
            <a:spAutoFit/>
          </a:bodyPr>
          <a:lstStyle/>
          <a:p>
            <a:r>
              <a:rPr sz="2000" b="1">
                <a:solidFill>
                  <a:srgbClr val="FFFFFF"/>
                </a:solidFill>
                <a:latin typeface="Calibri"/>
              </a:rPr>
              <a:t>Front door — inbound (ADR-018)  |  why not a public ALB</a:t>
            </a:r>
          </a:p>
        </p:txBody>
      </p:sp>
      <p:sp>
        <p:nvSpPr>
          <p:cNvPr id="5" name="TextBox 4"/>
          <p:cNvSpPr txBox="1"/>
          <p:nvPr/>
        </p:nvSpPr>
        <p:spPr>
          <a:xfrm>
            <a:off x="411480" y="960120"/>
            <a:ext cx="11338560" cy="5440680"/>
          </a:xfrm>
          <a:prstGeom prst="rect">
            <a:avLst/>
          </a:prstGeom>
          <a:noFill/>
        </p:spPr>
        <p:txBody>
          <a:bodyPr wrap="square">
            <a:spAutoFit/>
          </a:bodyPr>
          <a:lstStyle/>
          <a:p>
            <a:pPr>
              <a:spcAft>
                <a:spcPts val="1000"/>
              </a:spcAft>
            </a:pPr>
            <a:r>
              <a:rPr sz="1600" b="0">
                <a:solidFill>
                  <a:srgbClr val="1E293B"/>
                </a:solidFill>
                <a:latin typeface="Calibri"/>
              </a:rPr>
              <a:t>Bank north-south SaaS already exists: Cloudflare Enterprise, then F5-XC WAF. We consume them. We do not clone them.</a:t>
            </a:r>
          </a:p>
          <a:p>
            <a:pPr>
              <a:spcAft>
                <a:spcPts val="1000"/>
              </a:spcAft>
            </a:pPr>
            <a:r>
              <a:rPr sz="1600" b="0">
                <a:solidFill>
                  <a:srgbClr val="1E293B"/>
                </a:solidFill>
                <a:latin typeface="Calibri"/>
              </a:rPr>
              <a:t>First AWS hop: Amazon API Gateway (schema, throttle, no business logic) → VPC Link → Internal ALB only.</a:t>
            </a:r>
          </a:p>
          <a:p>
            <a:pPr>
              <a:spcAft>
                <a:spcPts val="1000"/>
              </a:spcAft>
            </a:pPr>
            <a:r>
              <a:rPr sz="1600" b="0">
                <a:solidFill>
                  <a:srgbClr val="1E293B"/>
                </a:solidFill>
                <a:latin typeface="Calibri"/>
              </a:rPr>
              <a:t>No public / external ALB. No Internet Gateway on a workload VPC. You cannot curl a pod from the internet.</a:t>
            </a:r>
          </a:p>
          <a:p>
            <a:pPr>
              <a:spcAft>
                <a:spcPts val="1000"/>
              </a:spcAft>
            </a:pPr>
            <a:r>
              <a:rPr sz="1600" b="0">
                <a:solidFill>
                  <a:srgbClr val="1E293B"/>
                </a:solidFill>
                <a:latin typeface="Calibri"/>
              </a:rPr>
              <a:t>Neighbour bank apps often enter AWS on a Public ALB. We did not copy that (Board 1 F-06). API Gateway is our AWS entry.</a:t>
            </a:r>
          </a:p>
          <a:p>
            <a:pPr>
              <a:spcAft>
                <a:spcPts val="1000"/>
              </a:spcAft>
            </a:pPr>
            <a:r>
              <a:rPr sz="1600" b="0">
                <a:solidFill>
                  <a:srgbClr val="1E293B"/>
                </a:solidFill>
                <a:latin typeface="Calibri"/>
              </a:rPr>
              <a:t>Payment callbacks: a separate API Gateway route, IP-allowlisted to the PG — not on the RM session (TB-6).</a:t>
            </a:r>
          </a:p>
        </p:txBody>
      </p:sp>
      <p:sp>
        <p:nvSpPr>
          <p:cNvPr id="6" name="Rectangle 5"/>
          <p:cNvSpPr/>
          <p:nvPr/>
        </p:nvSpPr>
        <p:spPr>
          <a:xfrm>
            <a:off x="0" y="6601968"/>
            <a:ext cx="12191695" cy="2560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20256"/>
            <a:ext cx="10332720" cy="219456"/>
          </a:xfrm>
          <a:prstGeom prst="rect">
            <a:avLst/>
          </a:prstGeom>
          <a:noFill/>
        </p:spPr>
        <p:txBody>
          <a:bodyPr wrap="none">
            <a:spAutoFit/>
          </a:bodyPr>
          <a:lstStyle/>
          <a:p>
            <a:r>
              <a:rPr sz="800" b="0">
                <a:solidFill>
                  <a:srgbClr val="FFFFFF"/>
                </a:solidFill>
                <a:latin typeface="Calibri"/>
              </a:rPr>
              <a:t>FIRST REVIEW — DEV/UAT environment shape. Not production go-live, not DR-ready sign-off, not T4, not Board 4, not CIS re</a:t>
            </a:r>
          </a:p>
        </p:txBody>
      </p:sp>
      <p:sp>
        <p:nvSpPr>
          <p:cNvPr id="8" name="TextBox 7"/>
          <p:cNvSpPr txBox="1"/>
          <p:nvPr/>
        </p:nvSpPr>
        <p:spPr>
          <a:xfrm>
            <a:off x="10698480" y="6620256"/>
            <a:ext cx="1280160" cy="219456"/>
          </a:xfrm>
          <a:prstGeom prst="rect">
            <a:avLst/>
          </a:prstGeom>
          <a:noFill/>
        </p:spPr>
        <p:txBody>
          <a:bodyPr wrap="none">
            <a:spAutoFit/>
          </a:bodyPr>
          <a:lstStyle/>
          <a:p>
            <a:pPr algn="r"/>
            <a:r>
              <a:rPr sz="800" b="0">
                <a:solidFill>
                  <a:srgbClr val="FFFFFF"/>
                </a:solidFill>
                <a:latin typeface="Calibri"/>
              </a:rPr>
              <a:t>6 / 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132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13232"/>
            <a:ext cx="12191695" cy="54864"/>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146304"/>
            <a:ext cx="11521440" cy="475488"/>
          </a:xfrm>
          <a:prstGeom prst="rect">
            <a:avLst/>
          </a:prstGeom>
          <a:noFill/>
        </p:spPr>
        <p:txBody>
          <a:bodyPr wrap="none">
            <a:spAutoFit/>
          </a:bodyPr>
          <a:lstStyle/>
          <a:p>
            <a:r>
              <a:rPr sz="2000" b="1">
                <a:solidFill>
                  <a:srgbClr val="FFFFFF"/>
                </a:solidFill>
                <a:latin typeface="Calibri"/>
              </a:rPr>
              <a:t>Where it runs — attach, do not clone</a:t>
            </a:r>
          </a:p>
        </p:txBody>
      </p:sp>
      <p:pic>
        <p:nvPicPr>
          <p:cNvPr id="5" name="Picture 4" descr="topology.png"/>
          <p:cNvPicPr>
            <a:picLocks noChangeAspect="1"/>
          </p:cNvPicPr>
          <p:nvPr/>
        </p:nvPicPr>
        <p:blipFill>
          <a:blip r:embed="rId2"/>
          <a:stretch>
            <a:fillRect/>
          </a:stretch>
        </p:blipFill>
        <p:spPr>
          <a:xfrm>
            <a:off x="274320" y="868680"/>
            <a:ext cx="11612880" cy="5577840"/>
          </a:xfrm>
          <a:prstGeom prst="rect">
            <a:avLst/>
          </a:prstGeom>
        </p:spPr>
      </p:pic>
      <p:sp>
        <p:nvSpPr>
          <p:cNvPr id="6" name="Rectangle 5"/>
          <p:cNvSpPr/>
          <p:nvPr/>
        </p:nvSpPr>
        <p:spPr>
          <a:xfrm>
            <a:off x="0" y="6601968"/>
            <a:ext cx="12191695" cy="2560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20256"/>
            <a:ext cx="10332720" cy="219456"/>
          </a:xfrm>
          <a:prstGeom prst="rect">
            <a:avLst/>
          </a:prstGeom>
          <a:noFill/>
        </p:spPr>
        <p:txBody>
          <a:bodyPr wrap="none">
            <a:spAutoFit/>
          </a:bodyPr>
          <a:lstStyle/>
          <a:p>
            <a:r>
              <a:rPr sz="800" b="0">
                <a:solidFill>
                  <a:srgbClr val="FFFFFF"/>
                </a:solidFill>
                <a:latin typeface="Calibri"/>
              </a:rPr>
              <a:t>FIRST REVIEW — DEV/UAT environment shape. Not production go-live, not DR-ready sign-off, not T4, not Board 4, not CIS re</a:t>
            </a:r>
          </a:p>
        </p:txBody>
      </p:sp>
      <p:sp>
        <p:nvSpPr>
          <p:cNvPr id="8" name="TextBox 7"/>
          <p:cNvSpPr txBox="1"/>
          <p:nvPr/>
        </p:nvSpPr>
        <p:spPr>
          <a:xfrm>
            <a:off x="10698480" y="6620256"/>
            <a:ext cx="1280160" cy="219456"/>
          </a:xfrm>
          <a:prstGeom prst="rect">
            <a:avLst/>
          </a:prstGeom>
          <a:noFill/>
        </p:spPr>
        <p:txBody>
          <a:bodyPr wrap="none">
            <a:spAutoFit/>
          </a:bodyPr>
          <a:lstStyle/>
          <a:p>
            <a:pPr algn="r"/>
            <a:r>
              <a:rPr sz="800" b="0">
                <a:solidFill>
                  <a:srgbClr val="FFFFFF"/>
                </a:solidFill>
                <a:latin typeface="Calibri"/>
              </a:rPr>
              <a:t>7 /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132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13232"/>
            <a:ext cx="12191695" cy="54864"/>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146304"/>
            <a:ext cx="11521440" cy="475488"/>
          </a:xfrm>
          <a:prstGeom prst="rect">
            <a:avLst/>
          </a:prstGeom>
          <a:noFill/>
        </p:spPr>
        <p:txBody>
          <a:bodyPr wrap="none">
            <a:spAutoFit/>
          </a:bodyPr>
          <a:lstStyle/>
          <a:p>
            <a:r>
              <a:rPr sz="2000" b="1">
                <a:solidFill>
                  <a:srgbClr val="FFFFFF"/>
                </a:solidFill>
                <a:latin typeface="Calibri"/>
              </a:rPr>
              <a:t>Loading dock — outbound (ADR-020)  |  why not NAT EIPs to 1SB</a:t>
            </a:r>
          </a:p>
        </p:txBody>
      </p:sp>
      <p:sp>
        <p:nvSpPr>
          <p:cNvPr id="5" name="TextBox 4"/>
          <p:cNvSpPr txBox="1"/>
          <p:nvPr/>
        </p:nvSpPr>
        <p:spPr>
          <a:xfrm>
            <a:off x="411480" y="960120"/>
            <a:ext cx="11338560" cy="5440680"/>
          </a:xfrm>
          <a:prstGeom prst="rect">
            <a:avLst/>
          </a:prstGeom>
          <a:noFill/>
        </p:spPr>
        <p:txBody>
          <a:bodyPr wrap="square">
            <a:spAutoFit/>
          </a:bodyPr>
          <a:lstStyle/>
          <a:p>
            <a:pPr>
              <a:spcAft>
                <a:spcPts val="1000"/>
              </a:spcAft>
            </a:pPr>
            <a:r>
              <a:rPr sz="1600" b="0">
                <a:solidFill>
                  <a:srgbClr val="1E293B"/>
                </a:solidFill>
                <a:latin typeface="Calibri"/>
              </a:rPr>
              <a:t>Every call that leaves the building goes via bank Apigee: 1SB, SMS, PG session-create, AD-verify, EBS.</a:t>
            </a:r>
          </a:p>
          <a:p>
            <a:pPr>
              <a:spcAft>
                <a:spcPts val="1000"/>
              </a:spcAft>
            </a:pPr>
            <a:r>
              <a:rPr sz="1600" b="0">
                <a:solidFill>
                  <a:srgbClr val="1E293B"/>
                </a:solidFill>
                <a:latin typeface="Calibri"/>
              </a:rPr>
              <a:t>Java never calls *.1silverbullet.tech. Adapter base URL = Apigee proxy. 1SB allowlists Apigee IPs.</a:t>
            </a:r>
          </a:p>
          <a:p>
            <a:pPr>
              <a:spcAft>
                <a:spcPts val="1000"/>
              </a:spcAft>
            </a:pPr>
            <a:r>
              <a:rPr sz="1600" b="0">
                <a:solidFill>
                  <a:srgbClr val="1E293B"/>
                </a:solidFill>
                <a:latin typeface="Calibri"/>
              </a:rPr>
              <a:t>Internal bank APIs use Apigee private targets. Forbidden: hairpin through Cloudflare and F5.</a:t>
            </a:r>
          </a:p>
          <a:p>
            <a:pPr>
              <a:spcAft>
                <a:spcPts val="1000"/>
              </a:spcAft>
            </a:pPr>
            <a:r>
              <a:rPr sz="1600" b="0">
                <a:solidFill>
                  <a:srgbClr val="1E293B"/>
                </a:solidFill>
                <a:latin typeface="Calibri"/>
              </a:rPr>
              <a:t>Spoke NAT Gateways still exist on the inspection path toward Apigee. Publishing those EIPs to 1SB is now the defect.</a:t>
            </a:r>
          </a:p>
          <a:p>
            <a:pPr>
              <a:spcAft>
                <a:spcPts val="1000"/>
              </a:spcAft>
            </a:pPr>
            <a:r>
              <a:rPr sz="1600" b="0">
                <a:solidFill>
                  <a:srgbClr val="1E293B"/>
                </a:solidFill>
                <a:latin typeface="Calibri"/>
              </a:rPr>
              <a:t>Pod → TGW → Network Firewall → Apigee. Firewall remainder is Deepali's acceptance (ADR-010), not an allowlist.</a:t>
            </a:r>
          </a:p>
        </p:txBody>
      </p:sp>
      <p:sp>
        <p:nvSpPr>
          <p:cNvPr id="6" name="Rectangle 5"/>
          <p:cNvSpPr/>
          <p:nvPr/>
        </p:nvSpPr>
        <p:spPr>
          <a:xfrm>
            <a:off x="0" y="6601968"/>
            <a:ext cx="12191695" cy="2560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20256"/>
            <a:ext cx="10332720" cy="219456"/>
          </a:xfrm>
          <a:prstGeom prst="rect">
            <a:avLst/>
          </a:prstGeom>
          <a:noFill/>
        </p:spPr>
        <p:txBody>
          <a:bodyPr wrap="none">
            <a:spAutoFit/>
          </a:bodyPr>
          <a:lstStyle/>
          <a:p>
            <a:r>
              <a:rPr sz="800" b="0">
                <a:solidFill>
                  <a:srgbClr val="FFFFFF"/>
                </a:solidFill>
                <a:latin typeface="Calibri"/>
              </a:rPr>
              <a:t>FIRST REVIEW — DEV/UAT environment shape. Not production go-live, not DR-ready sign-off, not T4, not Board 4, not CIS re</a:t>
            </a:r>
          </a:p>
        </p:txBody>
      </p:sp>
      <p:sp>
        <p:nvSpPr>
          <p:cNvPr id="8" name="TextBox 7"/>
          <p:cNvSpPr txBox="1"/>
          <p:nvPr/>
        </p:nvSpPr>
        <p:spPr>
          <a:xfrm>
            <a:off x="10698480" y="6620256"/>
            <a:ext cx="1280160" cy="219456"/>
          </a:xfrm>
          <a:prstGeom prst="rect">
            <a:avLst/>
          </a:prstGeom>
          <a:noFill/>
        </p:spPr>
        <p:txBody>
          <a:bodyPr wrap="none">
            <a:spAutoFit/>
          </a:bodyPr>
          <a:lstStyle/>
          <a:p>
            <a:pPr algn="r"/>
            <a:r>
              <a:rPr sz="800" b="0">
                <a:solidFill>
                  <a:srgbClr val="FFFFFF"/>
                </a:solidFill>
                <a:latin typeface="Calibri"/>
              </a:rPr>
              <a:t>8 / 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132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13232"/>
            <a:ext cx="12191695" cy="54864"/>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146304"/>
            <a:ext cx="11521440" cy="475488"/>
          </a:xfrm>
          <a:prstGeom prst="rect">
            <a:avLst/>
          </a:prstGeom>
          <a:noFill/>
        </p:spPr>
        <p:txBody>
          <a:bodyPr wrap="none">
            <a:spAutoFit/>
          </a:bodyPr>
          <a:lstStyle/>
          <a:p>
            <a:r>
              <a:rPr sz="2000" b="1">
                <a:solidFill>
                  <a:srgbClr val="FFFFFF"/>
                </a:solidFill>
                <a:latin typeface="Calibri"/>
              </a:rPr>
              <a:t>Five accounts — Dev inside UAT — no CUG</a:t>
            </a:r>
          </a:p>
        </p:txBody>
      </p:sp>
      <p:graphicFrame>
        <p:nvGraphicFramePr>
          <p:cNvPr id="5" name="Table 4"/>
          <p:cNvGraphicFramePr>
            <a:graphicFrameLocks noGrp="1"/>
          </p:cNvGraphicFramePr>
          <p:nvPr/>
        </p:nvGraphicFramePr>
        <p:xfrm>
          <a:off x="274320" y="914400"/>
          <a:ext cx="11612880" cy="5440680"/>
        </p:xfrm>
        <a:graphic>
          <a:graphicData uri="http://schemas.openxmlformats.org/drawingml/2006/table">
            <a:tbl>
              <a:tblPr firstRow="1" bandRow="1">
                <a:tableStyleId>{5C22544A-7EE6-4342-B048-85BDC9FD1C3A}</a:tableStyleId>
              </a:tblPr>
              <a:tblGrid>
                <a:gridCol w="3870960"/>
                <a:gridCol w="3870960"/>
                <a:gridCol w="3870960"/>
              </a:tblGrid>
              <a:tr h="906780">
                <a:tc>
                  <a:txBody>
                    <a:bodyPr wrap="square"/>
                    <a:lstStyle/>
                    <a:p>
                      <a:r>
                        <a:rPr sz="1300" b="1">
                          <a:solidFill>
                            <a:srgbClr val="FFFFFF"/>
                          </a:solidFill>
                          <a:latin typeface="Calibri"/>
                        </a:rPr>
                        <a:t>Account</a:t>
                      </a:r>
                    </a:p>
                  </a:txBody>
                  <a:tcPr>
                    <a:solidFill>
                      <a:srgbClr val="003366"/>
                    </a:solidFill>
                  </a:tcPr>
                </a:tc>
                <a:tc>
                  <a:txBody>
                    <a:bodyPr wrap="square"/>
                    <a:lstStyle/>
                    <a:p>
                      <a:r>
                        <a:rPr sz="1300" b="1">
                          <a:solidFill>
                            <a:srgbClr val="FFFFFF"/>
                          </a:solidFill>
                          <a:latin typeface="Calibri"/>
                        </a:rPr>
                        <a:t>Holds</a:t>
                      </a:r>
                    </a:p>
                  </a:txBody>
                  <a:tcPr>
                    <a:solidFill>
                      <a:srgbClr val="003366"/>
                    </a:solidFill>
                  </a:tcPr>
                </a:tc>
                <a:tc>
                  <a:txBody>
                    <a:bodyPr wrap="square"/>
                    <a:lstStyle/>
                    <a:p>
                      <a:r>
                        <a:rPr sz="1300" b="1">
                          <a:solidFill>
                            <a:srgbClr val="FFFFFF"/>
                          </a:solidFill>
                          <a:latin typeface="Calibri"/>
                        </a:rPr>
                        <a:t>If compromised</a:t>
                      </a:r>
                    </a:p>
                  </a:txBody>
                  <a:tcPr>
                    <a:solidFill>
                      <a:srgbClr val="003366"/>
                    </a:solidFill>
                  </a:tcPr>
                </a:tc>
              </a:tr>
              <a:tr h="906780">
                <a:tc>
                  <a:txBody>
                    <a:bodyPr wrap="square"/>
                    <a:lstStyle/>
                    <a:p>
                      <a:r>
                        <a:rPr sz="1300" b="0">
                          <a:solidFill>
                            <a:srgbClr val="1E293B"/>
                          </a:solidFill>
                          <a:latin typeface="Calibri"/>
                        </a:rPr>
                        <a:t>shared-services</a:t>
                      </a:r>
                    </a:p>
                  </a:txBody>
                  <a:tcPr>
                    <a:solidFill>
                      <a:srgbClr val="F1F5F9"/>
                    </a:solidFill>
                  </a:tcPr>
                </a:tc>
                <a:tc>
                  <a:txBody>
                    <a:bodyPr wrap="square"/>
                    <a:lstStyle/>
                    <a:p>
                      <a:r>
                        <a:rPr sz="1300" b="0">
                          <a:solidFill>
                            <a:srgbClr val="1E293B"/>
                          </a:solidFill>
                          <a:latin typeface="Calibri"/>
                        </a:rPr>
                        <a:t>ECR, Terraform state pattern, runners</a:t>
                      </a:r>
                    </a:p>
                  </a:txBody>
                  <a:tcPr>
                    <a:solidFill>
                      <a:srgbClr val="F1F5F9"/>
                    </a:solidFill>
                  </a:tcPr>
                </a:tc>
                <a:tc>
                  <a:txBody>
                    <a:bodyPr wrap="square"/>
                    <a:lstStyle/>
                    <a:p>
                      <a:r>
                        <a:rPr sz="1300" b="0">
                          <a:solidFill>
                            <a:srgbClr val="1E293B"/>
                          </a:solidFill>
                          <a:latin typeface="Calibri"/>
                        </a:rPr>
                        <a:t>Supply chain — not customer data</a:t>
                      </a:r>
                    </a:p>
                  </a:txBody>
                  <a:tcPr>
                    <a:solidFill>
                      <a:srgbClr val="F1F5F9"/>
                    </a:solidFill>
                  </a:tcPr>
                </a:tc>
              </a:tr>
              <a:tr h="906780">
                <a:tc>
                  <a:txBody>
                    <a:bodyPr wrap="square"/>
                    <a:lstStyle/>
                    <a:p>
                      <a:r>
                        <a:rPr sz="1300" b="0">
                          <a:solidFill>
                            <a:srgbClr val="1E293B"/>
                          </a:solidFill>
                          <a:latin typeface="Calibri"/>
                        </a:rPr>
                        <a:t>security</a:t>
                      </a:r>
                    </a:p>
                  </a:txBody>
                  <a:tcPr>
                    <a:solidFill>
                      <a:srgbClr val="FFFFFF"/>
                    </a:solidFill>
                  </a:tcPr>
                </a:tc>
                <a:tc>
                  <a:txBody>
                    <a:bodyPr wrap="square"/>
                    <a:lstStyle/>
                    <a:p>
                      <a:r>
                        <a:rPr sz="1300" b="0">
                          <a:solidFill>
                            <a:srgbClr val="1E293B"/>
                          </a:solidFill>
                          <a:latin typeface="Calibri"/>
                        </a:rPr>
                        <a:t>CloudTrail, GuardDuty, Security Hub, Config</a:t>
                      </a:r>
                    </a:p>
                  </a:txBody>
                  <a:tcPr>
                    <a:solidFill>
                      <a:srgbClr val="FFFFFF"/>
                    </a:solidFill>
                  </a:tcPr>
                </a:tc>
                <a:tc>
                  <a:txBody>
                    <a:bodyPr wrap="square"/>
                    <a:lstStyle/>
                    <a:p>
                      <a:r>
                        <a:rPr sz="1300" b="0">
                          <a:solidFill>
                            <a:srgbClr val="1E293B"/>
                          </a:solidFill>
                          <a:latin typeface="Calibri"/>
                        </a:rPr>
                        <a:t>Detection — not the sale datastore</a:t>
                      </a:r>
                    </a:p>
                  </a:txBody>
                  <a:tcPr>
                    <a:solidFill>
                      <a:srgbClr val="FFFFFF"/>
                    </a:solidFill>
                  </a:tcPr>
                </a:tc>
              </a:tr>
              <a:tr h="906780">
                <a:tc>
                  <a:txBody>
                    <a:bodyPr wrap="square"/>
                    <a:lstStyle/>
                    <a:p>
                      <a:r>
                        <a:rPr sz="1300" b="0">
                          <a:solidFill>
                            <a:srgbClr val="1E293B"/>
                          </a:solidFill>
                          <a:latin typeface="Calibri"/>
                        </a:rPr>
                        <a:t>network</a:t>
                      </a:r>
                    </a:p>
                  </a:txBody>
                  <a:tcPr>
                    <a:solidFill>
                      <a:srgbClr val="F1F5F9"/>
                    </a:solidFill>
                  </a:tcPr>
                </a:tc>
                <a:tc>
                  <a:txBody>
                    <a:bodyPr wrap="square"/>
                    <a:lstStyle/>
                    <a:p>
                      <a:r>
                        <a:rPr sz="1300" b="0">
                          <a:solidFill>
                            <a:srgbClr val="1E293B"/>
                          </a:solidFill>
                          <a:latin typeface="Calibri"/>
                        </a:rPr>
                        <a:t>Inspection VPCs, attachments</a:t>
                      </a:r>
                    </a:p>
                  </a:txBody>
                  <a:tcPr>
                    <a:solidFill>
                      <a:srgbClr val="F1F5F9"/>
                    </a:solidFill>
                  </a:tcPr>
                </a:tc>
                <a:tc>
                  <a:txBody>
                    <a:bodyPr wrap="square"/>
                    <a:lstStyle/>
                    <a:p>
                      <a:r>
                        <a:rPr sz="1300" b="0">
                          <a:solidFill>
                            <a:srgbClr val="1E293B"/>
                          </a:solidFill>
                          <a:latin typeface="Calibri"/>
                        </a:rPr>
                        <a:t>Routing — data does not live here</a:t>
                      </a:r>
                    </a:p>
                  </a:txBody>
                  <a:tcPr>
                    <a:solidFill>
                      <a:srgbClr val="F1F5F9"/>
                    </a:solidFill>
                  </a:tcPr>
                </a:tc>
              </a:tr>
              <a:tr h="906780">
                <a:tc>
                  <a:txBody>
                    <a:bodyPr wrap="square"/>
                    <a:lstStyle/>
                    <a:p>
                      <a:r>
                        <a:rPr sz="1300" b="0">
                          <a:solidFill>
                            <a:srgbClr val="1E293B"/>
                          </a:solidFill>
                          <a:latin typeface="Calibri"/>
                        </a:rPr>
                        <a:t>uat</a:t>
                      </a:r>
                    </a:p>
                  </a:txBody>
                  <a:tcPr>
                    <a:solidFill>
                      <a:srgbClr val="FFFFFF"/>
                    </a:solidFill>
                  </a:tcPr>
                </a:tc>
                <a:tc>
                  <a:txBody>
                    <a:bodyPr wrap="square"/>
                    <a:lstStyle/>
                    <a:p>
                      <a:r>
                        <a:rPr sz="1300" b="0">
                          <a:solidFill>
                            <a:srgbClr val="1E293B"/>
                          </a:solidFill>
                          <a:latin typeface="Calibri"/>
                        </a:rPr>
                        <a:t>vpc-dev (synthetic) + vpc-uat (masked)</a:t>
                      </a:r>
                    </a:p>
                  </a:txBody>
                  <a:tcPr>
                    <a:solidFill>
                      <a:srgbClr val="FFFFFF"/>
                    </a:solidFill>
                  </a:tcPr>
                </a:tc>
                <a:tc>
                  <a:txBody>
                    <a:bodyPr wrap="square"/>
                    <a:lstStyle/>
                    <a:p>
                      <a:r>
                        <a:rPr sz="1300" b="0">
                          <a:solidFill>
                            <a:srgbClr val="1E293B"/>
                          </a:solidFill>
                          <a:latin typeface="Calibri"/>
                        </a:rPr>
                        <a:t>Two route tables: stubs cannot reach prod CBS</a:t>
                      </a:r>
                    </a:p>
                  </a:txBody>
                  <a:tcPr>
                    <a:solidFill>
                      <a:srgbClr val="FFFFFF"/>
                    </a:solidFill>
                  </a:tcPr>
                </a:tc>
              </a:tr>
              <a:tr h="906780">
                <a:tc>
                  <a:txBody>
                    <a:bodyPr wrap="square"/>
                    <a:lstStyle/>
                    <a:p>
                      <a:r>
                        <a:rPr sz="1300" b="0">
                          <a:solidFill>
                            <a:srgbClr val="1E293B"/>
                          </a:solidFill>
                          <a:latin typeface="Calibri"/>
                        </a:rPr>
                        <a:t>prod</a:t>
                      </a:r>
                    </a:p>
                  </a:txBody>
                  <a:tcPr>
                    <a:solidFill>
                      <a:srgbClr val="F1F5F9"/>
                    </a:solidFill>
                  </a:tcPr>
                </a:tc>
                <a:tc>
                  <a:txBody>
                    <a:bodyPr wrap="square"/>
                    <a:lstStyle/>
                    <a:p>
                      <a:r>
                        <a:rPr sz="1300" b="0">
                          <a:solidFill>
                            <a:srgbClr val="1E293B"/>
                          </a:solidFill>
                          <a:latin typeface="Calibri"/>
                        </a:rPr>
                        <a:t>Real ETB, real AD-verify, real 1SB</a:t>
                      </a:r>
                    </a:p>
                  </a:txBody>
                  <a:tcPr>
                    <a:solidFill>
                      <a:srgbClr val="F1F5F9"/>
                    </a:solidFill>
                  </a:tcPr>
                </a:tc>
                <a:tc>
                  <a:txBody>
                    <a:bodyPr wrap="square"/>
                    <a:lstStyle/>
                    <a:p>
                      <a:r>
                        <a:rPr sz="1300" b="0">
                          <a:solidFill>
                            <a:srgbClr val="1E293B"/>
                          </a:solidFill>
                          <a:latin typeface="Calibri"/>
                        </a:rPr>
                        <a:t>CIS blast radius — not in scope today</a:t>
                      </a:r>
                    </a:p>
                  </a:txBody>
                  <a:tcPr>
                    <a:solidFill>
                      <a:srgbClr val="F1F5F9"/>
                    </a:solidFill>
                  </a:tcPr>
                </a:tc>
              </a:tr>
            </a:tbl>
          </a:graphicData>
        </a:graphic>
      </p:graphicFrame>
      <p:sp>
        <p:nvSpPr>
          <p:cNvPr id="6" name="Rectangle 5"/>
          <p:cNvSpPr/>
          <p:nvPr/>
        </p:nvSpPr>
        <p:spPr>
          <a:xfrm>
            <a:off x="0" y="6601968"/>
            <a:ext cx="12191695" cy="2560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20256"/>
            <a:ext cx="10332720" cy="219456"/>
          </a:xfrm>
          <a:prstGeom prst="rect">
            <a:avLst/>
          </a:prstGeom>
          <a:noFill/>
        </p:spPr>
        <p:txBody>
          <a:bodyPr wrap="none">
            <a:spAutoFit/>
          </a:bodyPr>
          <a:lstStyle/>
          <a:p>
            <a:r>
              <a:rPr sz="800" b="0">
                <a:solidFill>
                  <a:srgbClr val="FFFFFF"/>
                </a:solidFill>
                <a:latin typeface="Calibri"/>
              </a:rPr>
              <a:t>FIRST REVIEW — DEV/UAT environment shape. Not production go-live, not DR-ready sign-off, not T4, not Board 4, not CIS re</a:t>
            </a:r>
          </a:p>
        </p:txBody>
      </p:sp>
      <p:sp>
        <p:nvSpPr>
          <p:cNvPr id="8" name="TextBox 7"/>
          <p:cNvSpPr txBox="1"/>
          <p:nvPr/>
        </p:nvSpPr>
        <p:spPr>
          <a:xfrm>
            <a:off x="10698480" y="6620256"/>
            <a:ext cx="1280160" cy="219456"/>
          </a:xfrm>
          <a:prstGeom prst="rect">
            <a:avLst/>
          </a:prstGeom>
          <a:noFill/>
        </p:spPr>
        <p:txBody>
          <a:bodyPr wrap="none">
            <a:spAutoFit/>
          </a:bodyPr>
          <a:lstStyle/>
          <a:p>
            <a:pPr algn="r"/>
            <a:r>
              <a:rPr sz="800" b="0">
                <a:solidFill>
                  <a:srgbClr val="FFFFFF"/>
                </a:solidFill>
                <a:latin typeface="Calibri"/>
              </a:rPr>
              <a:t>9 / 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132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13232"/>
            <a:ext cx="12191695" cy="54864"/>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146304"/>
            <a:ext cx="11521440" cy="475488"/>
          </a:xfrm>
          <a:prstGeom prst="rect">
            <a:avLst/>
          </a:prstGeom>
          <a:noFill/>
        </p:spPr>
        <p:txBody>
          <a:bodyPr wrap="none">
            <a:spAutoFit/>
          </a:bodyPr>
          <a:lstStyle/>
          <a:p>
            <a:r>
              <a:rPr sz="2000" b="1">
                <a:solidFill>
                  <a:srgbClr val="FFFFFF"/>
                </a:solidFill>
                <a:latin typeface="Calibri"/>
              </a:rPr>
              <a:t>Security architecture — seven trust boundaries</a:t>
            </a:r>
          </a:p>
        </p:txBody>
      </p:sp>
      <p:sp>
        <p:nvSpPr>
          <p:cNvPr id="5" name="TextBox 4"/>
          <p:cNvSpPr txBox="1"/>
          <p:nvPr/>
        </p:nvSpPr>
        <p:spPr>
          <a:xfrm>
            <a:off x="411480" y="960120"/>
            <a:ext cx="11338560" cy="5440680"/>
          </a:xfrm>
          <a:prstGeom prst="rect">
            <a:avLst/>
          </a:prstGeom>
          <a:noFill/>
        </p:spPr>
        <p:txBody>
          <a:bodyPr wrap="square">
            <a:spAutoFit/>
          </a:bodyPr>
          <a:lstStyle/>
          <a:p>
            <a:pPr>
              <a:spcAft>
                <a:spcPts val="1000"/>
              </a:spcAft>
            </a:pPr>
            <a:r>
              <a:rPr sz="1600" b="0">
                <a:solidFill>
                  <a:srgbClr val="1E293B"/>
                </a:solidFill>
                <a:latin typeface="Calibri"/>
              </a:rPr>
              <a:t>TB-1 device→edge · TB-2 edge→BFF · TB-3 BFF→PDP · TB-4 app→data · TB-5 adapter→Apigee→1SB · TB-6 payment · TB-7 private bank.</a:t>
            </a:r>
          </a:p>
          <a:p>
            <a:pPr>
              <a:spcAft>
                <a:spcPts val="1000"/>
              </a:spcAft>
            </a:pPr>
            <a:r>
              <a:rPr sz="1600" b="0">
                <a:solidFill>
                  <a:srgbClr val="1E293B"/>
                </a:solidFill>
                <a:latin typeface="Calibri"/>
              </a:rPr>
              <a:t>This document is Architecture's input to Board 4. Deepali signs the threat model. We are not signing it today.</a:t>
            </a:r>
          </a:p>
          <a:p>
            <a:pPr>
              <a:spcAft>
                <a:spcPts val="1000"/>
              </a:spcAft>
            </a:pPr>
            <a:r>
              <a:rPr sz="1600" b="0">
                <a:solidFill>
                  <a:srgbClr val="1E293B"/>
                </a:solidFill>
                <a:latin typeface="Calibri"/>
              </a:rPr>
              <a:t>No PII in logs — pipeline fails. Secrets via IRSA / Secrets Manager, not in images.</a:t>
            </a:r>
          </a:p>
          <a:p>
            <a:pPr>
              <a:spcAft>
                <a:spcPts val="1000"/>
              </a:spcAft>
            </a:pPr>
            <a:r>
              <a:rPr sz="1600" b="0">
                <a:solidFill>
                  <a:srgbClr val="1E293B"/>
                </a:solidFill>
                <a:latin typeface="Calibri"/>
              </a:rPr>
              <a:t>mTLS to 1SB is passed intact; we do not decrypt it at a firewall to 'inspect'.</a:t>
            </a:r>
          </a:p>
          <a:p>
            <a:pPr>
              <a:spcAft>
                <a:spcPts val="1000"/>
              </a:spcAft>
            </a:pPr>
            <a:r>
              <a:rPr sz="1600" b="0">
                <a:solidFill>
                  <a:srgbClr val="1E293B"/>
                </a:solidFill>
                <a:latin typeface="Calibri"/>
              </a:rPr>
              <a:t>VA/PT is NOT-YET. SAST, ArchUnit, JaCoCo, lockfile SCA are in CI now. Pentest is a UAT-exit / production-ARB item.</a:t>
            </a:r>
          </a:p>
        </p:txBody>
      </p:sp>
      <p:sp>
        <p:nvSpPr>
          <p:cNvPr id="6" name="Rectangle 5"/>
          <p:cNvSpPr/>
          <p:nvPr/>
        </p:nvSpPr>
        <p:spPr>
          <a:xfrm>
            <a:off x="0" y="6601968"/>
            <a:ext cx="12191695" cy="2560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20256"/>
            <a:ext cx="10332720" cy="219456"/>
          </a:xfrm>
          <a:prstGeom prst="rect">
            <a:avLst/>
          </a:prstGeom>
          <a:noFill/>
        </p:spPr>
        <p:txBody>
          <a:bodyPr wrap="none">
            <a:spAutoFit/>
          </a:bodyPr>
          <a:lstStyle/>
          <a:p>
            <a:r>
              <a:rPr sz="800" b="0">
                <a:solidFill>
                  <a:srgbClr val="FFFFFF"/>
                </a:solidFill>
                <a:latin typeface="Calibri"/>
              </a:rPr>
              <a:t>FIRST REVIEW — DEV/UAT environment shape. Not production go-live, not DR-ready sign-off, not T4, not Board 4, not CIS re</a:t>
            </a:r>
          </a:p>
        </p:txBody>
      </p:sp>
      <p:sp>
        <p:nvSpPr>
          <p:cNvPr id="8" name="TextBox 7"/>
          <p:cNvSpPr txBox="1"/>
          <p:nvPr/>
        </p:nvSpPr>
        <p:spPr>
          <a:xfrm>
            <a:off x="10698480" y="6620256"/>
            <a:ext cx="1280160" cy="219456"/>
          </a:xfrm>
          <a:prstGeom prst="rect">
            <a:avLst/>
          </a:prstGeom>
          <a:noFill/>
        </p:spPr>
        <p:txBody>
          <a:bodyPr wrap="none">
            <a:spAutoFit/>
          </a:bodyPr>
          <a:lstStyle/>
          <a:p>
            <a:pPr algn="r"/>
            <a:r>
              <a:rPr sz="800" b="0">
                <a:solidFill>
                  <a:srgbClr val="FFFFFF"/>
                </a:solidFill>
                <a:latin typeface="Calibri"/>
              </a:rPr>
              <a:t>10 / 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132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13232"/>
            <a:ext cx="12191695" cy="54864"/>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146304"/>
            <a:ext cx="11521440" cy="475488"/>
          </a:xfrm>
          <a:prstGeom prst="rect">
            <a:avLst/>
          </a:prstGeom>
          <a:noFill/>
        </p:spPr>
        <p:txBody>
          <a:bodyPr wrap="none">
            <a:spAutoFit/>
          </a:bodyPr>
          <a:lstStyle/>
          <a:p>
            <a:r>
              <a:rPr sz="2000" b="1">
                <a:solidFill>
                  <a:srgbClr val="FFFFFF"/>
                </a:solidFill>
                <a:latin typeface="Calibri"/>
              </a:rPr>
              <a:t>Identity — IAM and PAM</a:t>
            </a:r>
          </a:p>
        </p:txBody>
      </p:sp>
      <p:sp>
        <p:nvSpPr>
          <p:cNvPr id="5" name="TextBox 4"/>
          <p:cNvSpPr txBox="1"/>
          <p:nvPr/>
        </p:nvSpPr>
        <p:spPr>
          <a:xfrm>
            <a:off x="411480" y="960120"/>
            <a:ext cx="11338560" cy="5440680"/>
          </a:xfrm>
          <a:prstGeom prst="rect">
            <a:avLst/>
          </a:prstGeom>
          <a:noFill/>
        </p:spPr>
        <p:txBody>
          <a:bodyPr wrap="square">
            <a:spAutoFit/>
          </a:bodyPr>
          <a:lstStyle/>
          <a:p>
            <a:pPr>
              <a:spcAft>
                <a:spcPts val="1000"/>
              </a:spcAft>
            </a:pPr>
            <a:r>
              <a:rPr sz="1600" b="0">
                <a:solidFill>
                  <a:srgbClr val="1E293B"/>
                </a:solidFill>
                <a:latin typeface="Calibri"/>
              </a:rPr>
              <a:t>Workforce (RM): Bank AD remains source of truth (TI-01). We call the existing AD-verify API via Apigee private. Never LDAP from EKS.</a:t>
            </a:r>
          </a:p>
          <a:p>
            <a:pPr>
              <a:spcAft>
                <a:spcPts val="1000"/>
              </a:spcAft>
            </a:pPr>
            <a:r>
              <a:rPr sz="1600" b="0">
                <a:solidFill>
                  <a:srgbClr val="1E293B"/>
                </a:solidFill>
                <a:latin typeface="Calibri"/>
              </a:rPr>
              <a:t>Partners / IPR: created in the private IdP (Keycloak is acceptable). Never in AD.</a:t>
            </a:r>
          </a:p>
          <a:p>
            <a:pPr>
              <a:spcAft>
                <a:spcPts val="1000"/>
              </a:spcAft>
            </a:pPr>
            <a:r>
              <a:rPr sz="1600" b="0">
                <a:solidFill>
                  <a:srgbClr val="1E293B"/>
                </a:solidFill>
                <a:latin typeface="Calibri"/>
              </a:rPr>
              <a:t>NIP-APP / Fireframe is the UI chrome. Keycloak admin console is not shown to bank users.</a:t>
            </a:r>
          </a:p>
          <a:p>
            <a:pPr>
              <a:spcAft>
                <a:spcPts val="1000"/>
              </a:spcAft>
            </a:pPr>
            <a:r>
              <a:rPr sz="1600" b="0">
                <a:solidFill>
                  <a:srgbClr val="1E293B"/>
                </a:solidFill>
                <a:latin typeface="Calibri"/>
              </a:rPr>
              <a:t>Pods: IRSA per deployable. Humans on AWS: bank IAM Identity Center / existing PAM. We consume PAM; we do not invent a second one.</a:t>
            </a:r>
          </a:p>
          <a:p>
            <a:pPr>
              <a:spcAft>
                <a:spcPts val="1000"/>
              </a:spcAft>
            </a:pPr>
            <a:r>
              <a:rPr sz="1600" b="0">
                <a:solidFill>
                  <a:srgbClr val="1E293B"/>
                </a:solidFill>
                <a:latin typeface="Calibri"/>
              </a:rPr>
              <a:t>Flutter never talks to Keycloak or Apigee.</a:t>
            </a:r>
          </a:p>
        </p:txBody>
      </p:sp>
      <p:sp>
        <p:nvSpPr>
          <p:cNvPr id="6" name="Rectangle 5"/>
          <p:cNvSpPr/>
          <p:nvPr/>
        </p:nvSpPr>
        <p:spPr>
          <a:xfrm>
            <a:off x="0" y="6601968"/>
            <a:ext cx="12191695" cy="2560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20256"/>
            <a:ext cx="10332720" cy="219456"/>
          </a:xfrm>
          <a:prstGeom prst="rect">
            <a:avLst/>
          </a:prstGeom>
          <a:noFill/>
        </p:spPr>
        <p:txBody>
          <a:bodyPr wrap="none">
            <a:spAutoFit/>
          </a:bodyPr>
          <a:lstStyle/>
          <a:p>
            <a:r>
              <a:rPr sz="800" b="0">
                <a:solidFill>
                  <a:srgbClr val="FFFFFF"/>
                </a:solidFill>
                <a:latin typeface="Calibri"/>
              </a:rPr>
              <a:t>FIRST REVIEW — DEV/UAT environment shape. Not production go-live, not DR-ready sign-off, not T4, not Board 4, not CIS re</a:t>
            </a:r>
          </a:p>
        </p:txBody>
      </p:sp>
      <p:sp>
        <p:nvSpPr>
          <p:cNvPr id="8" name="TextBox 7"/>
          <p:cNvSpPr txBox="1"/>
          <p:nvPr/>
        </p:nvSpPr>
        <p:spPr>
          <a:xfrm>
            <a:off x="10698480" y="6620256"/>
            <a:ext cx="1280160" cy="219456"/>
          </a:xfrm>
          <a:prstGeom prst="rect">
            <a:avLst/>
          </a:prstGeom>
          <a:noFill/>
        </p:spPr>
        <p:txBody>
          <a:bodyPr wrap="none">
            <a:spAutoFit/>
          </a:bodyPr>
          <a:lstStyle/>
          <a:p>
            <a:pPr algn="r"/>
            <a:r>
              <a:rPr sz="800" b="0">
                <a:solidFill>
                  <a:srgbClr val="FFFFFF"/>
                </a:solidFill>
                <a:latin typeface="Calibri"/>
              </a:rPr>
              <a:t>11 / 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132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13232"/>
            <a:ext cx="12191695" cy="54864"/>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146304"/>
            <a:ext cx="11521440" cy="475488"/>
          </a:xfrm>
          <a:prstGeom prst="rect">
            <a:avLst/>
          </a:prstGeom>
          <a:noFill/>
        </p:spPr>
        <p:txBody>
          <a:bodyPr wrap="none">
            <a:spAutoFit/>
          </a:bodyPr>
          <a:lstStyle/>
          <a:p>
            <a:r>
              <a:rPr sz="2000" b="1">
                <a:solidFill>
                  <a:srgbClr val="FFFFFF"/>
                </a:solidFill>
                <a:latin typeface="Calibri"/>
              </a:rPr>
              <a:t>Data, residency, audit vs logs</a:t>
            </a:r>
          </a:p>
        </p:txBody>
      </p:sp>
      <p:sp>
        <p:nvSpPr>
          <p:cNvPr id="5" name="TextBox 4"/>
          <p:cNvSpPr txBox="1"/>
          <p:nvPr/>
        </p:nvSpPr>
        <p:spPr>
          <a:xfrm>
            <a:off x="411480" y="960120"/>
            <a:ext cx="11338560" cy="5440680"/>
          </a:xfrm>
          <a:prstGeom prst="rect">
            <a:avLst/>
          </a:prstGeom>
          <a:noFill/>
        </p:spPr>
        <p:txBody>
          <a:bodyPr wrap="square">
            <a:spAutoFit/>
          </a:bodyPr>
          <a:lstStyle/>
          <a:p>
            <a:pPr>
              <a:spcAft>
                <a:spcPts val="1000"/>
              </a:spcAft>
            </a:pPr>
            <a:r>
              <a:rPr sz="1600" b="0">
                <a:solidFill>
                  <a:srgbClr val="1E293B"/>
                </a:solidFill>
                <a:latin typeface="Calibri"/>
              </a:rPr>
              <a:t>Classes: PUBLIC / INTERNAL / CONFIDENTIAL / RESTRICTED. India only — ap-south-1 primary, ap-south-2 DR (TI-08).</a:t>
            </a:r>
          </a:p>
          <a:p>
            <a:pPr>
              <a:spcAft>
                <a:spcPts val="1000"/>
              </a:spcAft>
            </a:pPr>
            <a:r>
              <a:rPr sz="1600" b="0">
                <a:solidFill>
                  <a:srgbClr val="1E293B"/>
                </a:solidFill>
                <a:latin typeface="Calibri"/>
              </a:rPr>
              <a:t>Aurora PostgreSQL, one cluster, schema per bounded context (ADR-008). No cross-schema grants.</a:t>
            </a:r>
          </a:p>
          <a:p>
            <a:pPr>
              <a:spcAft>
                <a:spcPts val="1000"/>
              </a:spcAft>
            </a:pPr>
            <a:r>
              <a:rPr sz="1600" b="0">
                <a:solidFill>
                  <a:srgbClr val="1E293B"/>
                </a:solidFill>
                <a:latin typeface="Calibri"/>
              </a:rPr>
              <a:t>Audit is INSERT-only + S3 Object Lock. 7-year evidence. OpenSearch is operational logs, never evidence (ADR-013).</a:t>
            </a:r>
          </a:p>
          <a:p>
            <a:pPr>
              <a:spcAft>
                <a:spcPts val="1000"/>
              </a:spcAft>
            </a:pPr>
            <a:r>
              <a:rPr sz="1600" b="0">
                <a:solidFill>
                  <a:srgbClr val="1E293B"/>
                </a:solidFill>
                <a:latin typeface="Calibri"/>
              </a:rPr>
              <a:t>CloudTrail (who changed AWS) and CloudWatch (how the pod behaves) are both mandatory.</a:t>
            </a:r>
          </a:p>
          <a:p>
            <a:pPr>
              <a:spcAft>
                <a:spcPts val="1000"/>
              </a:spcAft>
            </a:pPr>
            <a:r>
              <a:rPr sz="1600" b="0">
                <a:solidFill>
                  <a:srgbClr val="1E293B"/>
                </a:solidFill>
                <a:latin typeface="Calibri"/>
              </a:rPr>
              <a:t>Cache / Kafka / search are not systems of record. Losing Valkey means re-login, not data loss.</a:t>
            </a:r>
          </a:p>
        </p:txBody>
      </p:sp>
      <p:sp>
        <p:nvSpPr>
          <p:cNvPr id="6" name="Rectangle 5"/>
          <p:cNvSpPr/>
          <p:nvPr/>
        </p:nvSpPr>
        <p:spPr>
          <a:xfrm>
            <a:off x="0" y="6601968"/>
            <a:ext cx="12191695" cy="2560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20256"/>
            <a:ext cx="10332720" cy="219456"/>
          </a:xfrm>
          <a:prstGeom prst="rect">
            <a:avLst/>
          </a:prstGeom>
          <a:noFill/>
        </p:spPr>
        <p:txBody>
          <a:bodyPr wrap="none">
            <a:spAutoFit/>
          </a:bodyPr>
          <a:lstStyle/>
          <a:p>
            <a:r>
              <a:rPr sz="800" b="0">
                <a:solidFill>
                  <a:srgbClr val="FFFFFF"/>
                </a:solidFill>
                <a:latin typeface="Calibri"/>
              </a:rPr>
              <a:t>FIRST REVIEW — DEV/UAT environment shape. Not production go-live, not DR-ready sign-off, not T4, not Board 4, not CIS re</a:t>
            </a:r>
          </a:p>
        </p:txBody>
      </p:sp>
      <p:sp>
        <p:nvSpPr>
          <p:cNvPr id="8" name="TextBox 7"/>
          <p:cNvSpPr txBox="1"/>
          <p:nvPr/>
        </p:nvSpPr>
        <p:spPr>
          <a:xfrm>
            <a:off x="10698480" y="6620256"/>
            <a:ext cx="1280160" cy="219456"/>
          </a:xfrm>
          <a:prstGeom prst="rect">
            <a:avLst/>
          </a:prstGeom>
          <a:noFill/>
        </p:spPr>
        <p:txBody>
          <a:bodyPr wrap="none">
            <a:spAutoFit/>
          </a:bodyPr>
          <a:lstStyle/>
          <a:p>
            <a:pPr algn="r"/>
            <a:r>
              <a:rPr sz="800" b="0">
                <a:solidFill>
                  <a:srgbClr val="FFFFFF"/>
                </a:solidFill>
                <a:latin typeface="Calibri"/>
              </a:rPr>
              <a:t>12 / 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132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13232"/>
            <a:ext cx="12191695" cy="54864"/>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146304"/>
            <a:ext cx="11521440" cy="475488"/>
          </a:xfrm>
          <a:prstGeom prst="rect">
            <a:avLst/>
          </a:prstGeom>
          <a:noFill/>
        </p:spPr>
        <p:txBody>
          <a:bodyPr wrap="none">
            <a:spAutoFit/>
          </a:bodyPr>
          <a:lstStyle/>
          <a:p>
            <a:r>
              <a:rPr sz="2000" b="1">
                <a:solidFill>
                  <a:srgbClr val="FFFFFF"/>
                </a:solidFill>
                <a:latin typeface="Calibri"/>
              </a:rPr>
              <a:t>Payment — customer device, not RM device (TB-6)</a:t>
            </a:r>
          </a:p>
        </p:txBody>
      </p:sp>
      <p:pic>
        <p:nvPicPr>
          <p:cNvPr id="5" name="Picture 4" descr="payment.png"/>
          <p:cNvPicPr>
            <a:picLocks noChangeAspect="1"/>
          </p:cNvPicPr>
          <p:nvPr/>
        </p:nvPicPr>
        <p:blipFill>
          <a:blip r:embed="rId2"/>
          <a:stretch>
            <a:fillRect/>
          </a:stretch>
        </p:blipFill>
        <p:spPr>
          <a:xfrm>
            <a:off x="274320" y="868680"/>
            <a:ext cx="11612880" cy="5577840"/>
          </a:xfrm>
          <a:prstGeom prst="rect">
            <a:avLst/>
          </a:prstGeom>
        </p:spPr>
      </p:pic>
      <p:sp>
        <p:nvSpPr>
          <p:cNvPr id="6" name="Rectangle 5"/>
          <p:cNvSpPr/>
          <p:nvPr/>
        </p:nvSpPr>
        <p:spPr>
          <a:xfrm>
            <a:off x="0" y="6601968"/>
            <a:ext cx="12191695" cy="2560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20256"/>
            <a:ext cx="10332720" cy="219456"/>
          </a:xfrm>
          <a:prstGeom prst="rect">
            <a:avLst/>
          </a:prstGeom>
          <a:noFill/>
        </p:spPr>
        <p:txBody>
          <a:bodyPr wrap="none">
            <a:spAutoFit/>
          </a:bodyPr>
          <a:lstStyle/>
          <a:p>
            <a:r>
              <a:rPr sz="800" b="0">
                <a:solidFill>
                  <a:srgbClr val="FFFFFF"/>
                </a:solidFill>
                <a:latin typeface="Calibri"/>
              </a:rPr>
              <a:t>FIRST REVIEW — DEV/UAT environment shape. Not production go-live, not DR-ready sign-off, not T4, not Board 4, not CIS re</a:t>
            </a:r>
          </a:p>
        </p:txBody>
      </p:sp>
      <p:sp>
        <p:nvSpPr>
          <p:cNvPr id="8" name="TextBox 7"/>
          <p:cNvSpPr txBox="1"/>
          <p:nvPr/>
        </p:nvSpPr>
        <p:spPr>
          <a:xfrm>
            <a:off x="10698480" y="6620256"/>
            <a:ext cx="1280160" cy="219456"/>
          </a:xfrm>
          <a:prstGeom prst="rect">
            <a:avLst/>
          </a:prstGeom>
          <a:noFill/>
        </p:spPr>
        <p:txBody>
          <a:bodyPr wrap="none">
            <a:spAutoFit/>
          </a:bodyPr>
          <a:lstStyle/>
          <a:p>
            <a:pPr algn="r"/>
            <a:r>
              <a:rPr sz="800" b="0">
                <a:solidFill>
                  <a:srgbClr val="FFFFFF"/>
                </a:solidFill>
                <a:latin typeface="Calibri"/>
              </a:rPr>
              <a:t>13 / 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132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13232"/>
            <a:ext cx="12191695" cy="54864"/>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146304"/>
            <a:ext cx="11521440" cy="475488"/>
          </a:xfrm>
          <a:prstGeom prst="rect">
            <a:avLst/>
          </a:prstGeom>
          <a:noFill/>
        </p:spPr>
        <p:txBody>
          <a:bodyPr wrap="none">
            <a:spAutoFit/>
          </a:bodyPr>
          <a:lstStyle/>
          <a:p>
            <a:r>
              <a:rPr sz="2000" b="1">
                <a:solidFill>
                  <a:srgbClr val="FFFFFF"/>
                </a:solidFill>
                <a:latin typeface="Calibri"/>
              </a:rPr>
              <a:t>DR — designed for later; not the ask today</a:t>
            </a:r>
          </a:p>
        </p:txBody>
      </p:sp>
      <p:pic>
        <p:nvPicPr>
          <p:cNvPr id="5" name="Picture 4" descr="dr.png"/>
          <p:cNvPicPr>
            <a:picLocks noChangeAspect="1"/>
          </p:cNvPicPr>
          <p:nvPr/>
        </p:nvPicPr>
        <p:blipFill>
          <a:blip r:embed="rId2"/>
          <a:stretch>
            <a:fillRect/>
          </a:stretch>
        </p:blipFill>
        <p:spPr>
          <a:xfrm>
            <a:off x="274320" y="868680"/>
            <a:ext cx="11612880" cy="5577840"/>
          </a:xfrm>
          <a:prstGeom prst="rect">
            <a:avLst/>
          </a:prstGeom>
        </p:spPr>
      </p:pic>
      <p:sp>
        <p:nvSpPr>
          <p:cNvPr id="6" name="Rectangle 5"/>
          <p:cNvSpPr/>
          <p:nvPr/>
        </p:nvSpPr>
        <p:spPr>
          <a:xfrm>
            <a:off x="0" y="6601968"/>
            <a:ext cx="12191695" cy="2560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20256"/>
            <a:ext cx="10332720" cy="219456"/>
          </a:xfrm>
          <a:prstGeom prst="rect">
            <a:avLst/>
          </a:prstGeom>
          <a:noFill/>
        </p:spPr>
        <p:txBody>
          <a:bodyPr wrap="none">
            <a:spAutoFit/>
          </a:bodyPr>
          <a:lstStyle/>
          <a:p>
            <a:r>
              <a:rPr sz="800" b="0">
                <a:solidFill>
                  <a:srgbClr val="FFFFFF"/>
                </a:solidFill>
                <a:latin typeface="Calibri"/>
              </a:rPr>
              <a:t>FIRST REVIEW — DEV/UAT environment shape. Not production go-live, not DR-ready sign-off, not T4, not Board 4, not CIS re</a:t>
            </a:r>
          </a:p>
        </p:txBody>
      </p:sp>
      <p:sp>
        <p:nvSpPr>
          <p:cNvPr id="8" name="TextBox 7"/>
          <p:cNvSpPr txBox="1"/>
          <p:nvPr/>
        </p:nvSpPr>
        <p:spPr>
          <a:xfrm>
            <a:off x="10698480" y="6620256"/>
            <a:ext cx="1280160" cy="219456"/>
          </a:xfrm>
          <a:prstGeom prst="rect">
            <a:avLst/>
          </a:prstGeom>
          <a:noFill/>
        </p:spPr>
        <p:txBody>
          <a:bodyPr wrap="none">
            <a:spAutoFit/>
          </a:bodyPr>
          <a:lstStyle/>
          <a:p>
            <a:pPr algn="r"/>
            <a:r>
              <a:rPr sz="800" b="0">
                <a:solidFill>
                  <a:srgbClr val="FFFFFF"/>
                </a:solidFill>
                <a:latin typeface="Calibri"/>
              </a:rPr>
              <a:t>14 / 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132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13232"/>
            <a:ext cx="12191695" cy="54864"/>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146304"/>
            <a:ext cx="11521440" cy="475488"/>
          </a:xfrm>
          <a:prstGeom prst="rect">
            <a:avLst/>
          </a:prstGeom>
          <a:noFill/>
        </p:spPr>
        <p:txBody>
          <a:bodyPr wrap="none">
            <a:spAutoFit/>
          </a:bodyPr>
          <a:lstStyle/>
          <a:p>
            <a:r>
              <a:rPr sz="2000" b="1">
                <a:solidFill>
                  <a:srgbClr val="FFFFFF"/>
                </a:solidFill>
                <a:latin typeface="Calibri"/>
              </a:rPr>
              <a:t>Bank standard we consume  vs  what is different</a:t>
            </a:r>
          </a:p>
        </p:txBody>
      </p:sp>
      <p:graphicFrame>
        <p:nvGraphicFramePr>
          <p:cNvPr id="5" name="Table 4"/>
          <p:cNvGraphicFramePr>
            <a:graphicFrameLocks noGrp="1"/>
          </p:cNvGraphicFramePr>
          <p:nvPr/>
        </p:nvGraphicFramePr>
        <p:xfrm>
          <a:off x="274320" y="914400"/>
          <a:ext cx="11612880" cy="5440680"/>
        </p:xfrm>
        <a:graphic>
          <a:graphicData uri="http://schemas.openxmlformats.org/drawingml/2006/table">
            <a:tbl>
              <a:tblPr firstRow="1" bandRow="1">
                <a:tableStyleId>{5C22544A-7EE6-4342-B048-85BDC9FD1C3A}</a:tableStyleId>
              </a:tblPr>
              <a:tblGrid>
                <a:gridCol w="3870960"/>
                <a:gridCol w="3870960"/>
                <a:gridCol w="3870960"/>
              </a:tblGrid>
              <a:tr h="604520">
                <a:tc>
                  <a:txBody>
                    <a:bodyPr wrap="square"/>
                    <a:lstStyle/>
                    <a:p>
                      <a:r>
                        <a:rPr sz="1300" b="1">
                          <a:solidFill>
                            <a:srgbClr val="FFFFFF"/>
                          </a:solidFill>
                          <a:latin typeface="Calibri"/>
                        </a:rPr>
                        <a:t>Item</a:t>
                      </a:r>
                    </a:p>
                  </a:txBody>
                  <a:tcPr>
                    <a:solidFill>
                      <a:srgbClr val="003366"/>
                    </a:solidFill>
                  </a:tcPr>
                </a:tc>
                <a:tc>
                  <a:txBody>
                    <a:bodyPr wrap="square"/>
                    <a:lstStyle/>
                    <a:p>
                      <a:r>
                        <a:rPr sz="1300" b="1">
                          <a:solidFill>
                            <a:srgbClr val="FFFFFF"/>
                          </a:solidFill>
                          <a:latin typeface="Calibri"/>
                        </a:rPr>
                        <a:t>Bank standard?</a:t>
                      </a:r>
                    </a:p>
                  </a:txBody>
                  <a:tcPr>
                    <a:solidFill>
                      <a:srgbClr val="003366"/>
                    </a:solidFill>
                  </a:tcPr>
                </a:tc>
                <a:tc>
                  <a:txBody>
                    <a:bodyPr wrap="square"/>
                    <a:lstStyle/>
                    <a:p>
                      <a:r>
                        <a:rPr sz="1300" b="1">
                          <a:solidFill>
                            <a:srgbClr val="FFFFFF"/>
                          </a:solidFill>
                          <a:latin typeface="Calibri"/>
                        </a:rPr>
                        <a:t>What we do</a:t>
                      </a:r>
                    </a:p>
                  </a:txBody>
                  <a:tcPr>
                    <a:solidFill>
                      <a:srgbClr val="003366"/>
                    </a:solidFill>
                  </a:tcPr>
                </a:tc>
              </a:tr>
              <a:tr h="604520">
                <a:tc>
                  <a:txBody>
                    <a:bodyPr wrap="square"/>
                    <a:lstStyle/>
                    <a:p>
                      <a:r>
                        <a:rPr sz="1300" b="0">
                          <a:solidFill>
                            <a:srgbClr val="1E293B"/>
                          </a:solidFill>
                          <a:latin typeface="Calibri"/>
                        </a:rPr>
                        <a:t>Control Tower, IAM IC, SCPs, India pin</a:t>
                      </a:r>
                    </a:p>
                  </a:txBody>
                  <a:tcPr>
                    <a:solidFill>
                      <a:srgbClr val="F1F5F9"/>
                    </a:solidFill>
                  </a:tcPr>
                </a:tc>
                <a:tc>
                  <a:txBody>
                    <a:bodyPr wrap="square"/>
                    <a:lstStyle/>
                    <a:p>
                      <a:r>
                        <a:rPr sz="1300" b="0">
                          <a:solidFill>
                            <a:srgbClr val="1E293B"/>
                          </a:solidFill>
                          <a:latin typeface="Calibri"/>
                        </a:rPr>
                        <a:t>Yes</a:t>
                      </a:r>
                    </a:p>
                  </a:txBody>
                  <a:tcPr>
                    <a:solidFill>
                      <a:srgbClr val="F1F5F9"/>
                    </a:solidFill>
                  </a:tcPr>
                </a:tc>
                <a:tc>
                  <a:txBody>
                    <a:bodyPr wrap="square"/>
                    <a:lstStyle/>
                    <a:p>
                      <a:r>
                        <a:rPr sz="1300" b="0">
                          <a:solidFill>
                            <a:srgbClr val="1E293B"/>
                          </a:solidFill>
                          <a:latin typeface="Calibri"/>
                        </a:rPr>
                        <a:t>Join. Five accounts. No shadow org.</a:t>
                      </a:r>
                    </a:p>
                  </a:txBody>
                  <a:tcPr>
                    <a:solidFill>
                      <a:srgbClr val="F1F5F9"/>
                    </a:solidFill>
                  </a:tcPr>
                </a:tc>
              </a:tr>
              <a:tr h="604520">
                <a:tc>
                  <a:txBody>
                    <a:bodyPr wrap="square"/>
                    <a:lstStyle/>
                    <a:p>
                      <a:r>
                        <a:rPr sz="1300" b="0">
                          <a:solidFill>
                            <a:srgbClr val="1E293B"/>
                          </a:solidFill>
                          <a:latin typeface="Calibri"/>
                        </a:rPr>
                        <a:t>TGW, DX Gateway, EDGE FortiGate</a:t>
                      </a:r>
                    </a:p>
                  </a:txBody>
                  <a:tcPr>
                    <a:solidFill>
                      <a:srgbClr val="FFFFFF"/>
                    </a:solidFill>
                  </a:tcPr>
                </a:tc>
                <a:tc>
                  <a:txBody>
                    <a:bodyPr wrap="square"/>
                    <a:lstStyle/>
                    <a:p>
                      <a:r>
                        <a:rPr sz="1300" b="0">
                          <a:solidFill>
                            <a:srgbClr val="1E293B"/>
                          </a:solidFill>
                          <a:latin typeface="Calibri"/>
                        </a:rPr>
                        <a:t>Yes</a:t>
                      </a:r>
                    </a:p>
                  </a:txBody>
                  <a:tcPr>
                    <a:solidFill>
                      <a:srgbClr val="FFFFFF"/>
                    </a:solidFill>
                  </a:tcPr>
                </a:tc>
                <a:tc>
                  <a:txBody>
                    <a:bodyPr wrap="square"/>
                    <a:lstStyle/>
                    <a:p>
                      <a:r>
                        <a:rPr sz="1300" b="0">
                          <a:solidFill>
                            <a:srgbClr val="1E293B"/>
                          </a:solidFill>
                          <a:latin typeface="Calibri"/>
                        </a:rPr>
                        <a:t>Attach as spoke. Do not clone.</a:t>
                      </a:r>
                    </a:p>
                  </a:txBody>
                  <a:tcPr>
                    <a:solidFill>
                      <a:srgbClr val="FFFFFF"/>
                    </a:solidFill>
                  </a:tcPr>
                </a:tc>
              </a:tr>
              <a:tr h="604520">
                <a:tc>
                  <a:txBody>
                    <a:bodyPr wrap="square"/>
                    <a:lstStyle/>
                    <a:p>
                      <a:r>
                        <a:rPr sz="1300" b="0">
                          <a:solidFill>
                            <a:srgbClr val="1E293B"/>
                          </a:solidFill>
                          <a:latin typeface="Calibri"/>
                        </a:rPr>
                        <a:t>Cloudflare + F5-XC</a:t>
                      </a:r>
                    </a:p>
                  </a:txBody>
                  <a:tcPr>
                    <a:solidFill>
                      <a:srgbClr val="F1F5F9"/>
                    </a:solidFill>
                  </a:tcPr>
                </a:tc>
                <a:tc>
                  <a:txBody>
                    <a:bodyPr wrap="square"/>
                    <a:lstStyle/>
                    <a:p>
                      <a:r>
                        <a:rPr sz="1300" b="0">
                          <a:solidFill>
                            <a:srgbClr val="1E293B"/>
                          </a:solidFill>
                          <a:latin typeface="Calibri"/>
                        </a:rPr>
                        <a:t>Yes</a:t>
                      </a:r>
                    </a:p>
                  </a:txBody>
                  <a:tcPr>
                    <a:solidFill>
                      <a:srgbClr val="F1F5F9"/>
                    </a:solidFill>
                  </a:tcPr>
                </a:tc>
                <a:tc>
                  <a:txBody>
                    <a:bodyPr wrap="square"/>
                    <a:lstStyle/>
                    <a:p>
                      <a:r>
                        <a:rPr sz="1300" b="0">
                          <a:solidFill>
                            <a:srgbClr val="1E293B"/>
                          </a:solidFill>
                          <a:latin typeface="Calibri"/>
                        </a:rPr>
                        <a:t>Same north-south SaaS. Hostname for NIP.</a:t>
                      </a:r>
                    </a:p>
                  </a:txBody>
                  <a:tcPr>
                    <a:solidFill>
                      <a:srgbClr val="F1F5F9"/>
                    </a:solidFill>
                  </a:tcPr>
                </a:tc>
              </a:tr>
              <a:tr h="604520">
                <a:tc>
                  <a:txBody>
                    <a:bodyPr wrap="square"/>
                    <a:lstStyle/>
                    <a:p>
                      <a:r>
                        <a:rPr sz="1300" b="0">
                          <a:solidFill>
                            <a:srgbClr val="1E293B"/>
                          </a:solidFill>
                          <a:latin typeface="Calibri"/>
                        </a:rPr>
                        <a:t>GitLab + Terraform + EKS</a:t>
                      </a:r>
                    </a:p>
                  </a:txBody>
                  <a:tcPr>
                    <a:solidFill>
                      <a:srgbClr val="FFFFFF"/>
                    </a:solidFill>
                  </a:tcPr>
                </a:tc>
                <a:tc>
                  <a:txBody>
                    <a:bodyPr wrap="square"/>
                    <a:lstStyle/>
                    <a:p>
                      <a:r>
                        <a:rPr sz="1300" b="0">
                          <a:solidFill>
                            <a:srgbClr val="1E293B"/>
                          </a:solidFill>
                          <a:latin typeface="Calibri"/>
                        </a:rPr>
                        <a:t>Yes</a:t>
                      </a:r>
                    </a:p>
                  </a:txBody>
                  <a:tcPr>
                    <a:solidFill>
                      <a:srgbClr val="FFFFFF"/>
                    </a:solidFill>
                  </a:tcPr>
                </a:tc>
                <a:tc>
                  <a:txBody>
                    <a:bodyPr wrap="square"/>
                    <a:lstStyle/>
                    <a:p>
                      <a:r>
                        <a:rPr sz="1300" b="0">
                          <a:solidFill>
                            <a:srgbClr val="1E293B"/>
                          </a:solidFill>
                          <a:latin typeface="Calibri"/>
                        </a:rPr>
                        <a:t>Bank delivery path.</a:t>
                      </a:r>
                    </a:p>
                  </a:txBody>
                  <a:tcPr>
                    <a:solidFill>
                      <a:srgbClr val="FFFFFF"/>
                    </a:solidFill>
                  </a:tcPr>
                </a:tc>
              </a:tr>
              <a:tr h="604520">
                <a:tc>
                  <a:txBody>
                    <a:bodyPr wrap="square"/>
                    <a:lstStyle/>
                    <a:p>
                      <a:r>
                        <a:rPr sz="1300" b="0">
                          <a:solidFill>
                            <a:srgbClr val="1E293B"/>
                          </a:solidFill>
                          <a:latin typeface="Calibri"/>
                        </a:rPr>
                        <a:t>Public ALB as AWS entry</a:t>
                      </a:r>
                    </a:p>
                  </a:txBody>
                  <a:tcPr>
                    <a:solidFill>
                      <a:srgbClr val="F1F5F9"/>
                    </a:solidFill>
                  </a:tcPr>
                </a:tc>
                <a:tc>
                  <a:txBody>
                    <a:bodyPr wrap="square"/>
                    <a:lstStyle/>
                    <a:p>
                      <a:r>
                        <a:rPr sz="1300" b="0">
                          <a:solidFill>
                            <a:srgbClr val="1E293B"/>
                          </a:solidFill>
                          <a:latin typeface="Calibri"/>
                        </a:rPr>
                        <a:t>Neighbour apps yes</a:t>
                      </a:r>
                    </a:p>
                  </a:txBody>
                  <a:tcPr>
                    <a:solidFill>
                      <a:srgbClr val="F1F5F9"/>
                    </a:solidFill>
                  </a:tcPr>
                </a:tc>
                <a:tc>
                  <a:txBody>
                    <a:bodyPr wrap="square"/>
                    <a:lstStyle/>
                    <a:p>
                      <a:r>
                        <a:rPr sz="1300" b="0">
                          <a:solidFill>
                            <a:srgbClr val="1E293B"/>
                          </a:solidFill>
                          <a:latin typeface="Calibri"/>
                        </a:rPr>
                        <a:t>NO — API Gateway instead (ADR-018).</a:t>
                      </a:r>
                    </a:p>
                  </a:txBody>
                  <a:tcPr>
                    <a:solidFill>
                      <a:srgbClr val="F1F5F9"/>
                    </a:solidFill>
                  </a:tcPr>
                </a:tc>
              </a:tr>
              <a:tr h="604520">
                <a:tc>
                  <a:txBody>
                    <a:bodyPr wrap="square"/>
                    <a:lstStyle/>
                    <a:p>
                      <a:r>
                        <a:rPr sz="1300" b="0">
                          <a:solidFill>
                            <a:srgbClr val="1E293B"/>
                          </a:solidFill>
                          <a:latin typeface="Calibri"/>
                        </a:rPr>
                        <a:t>Apigee outbound</a:t>
                      </a:r>
                    </a:p>
                  </a:txBody>
                  <a:tcPr>
                    <a:solidFill>
                      <a:srgbClr val="FFFFFF"/>
                    </a:solidFill>
                  </a:tcPr>
                </a:tc>
                <a:tc>
                  <a:txBody>
                    <a:bodyPr wrap="square"/>
                    <a:lstStyle/>
                    <a:p>
                      <a:r>
                        <a:rPr sz="1300" b="0">
                          <a:solidFill>
                            <a:srgbClr val="1E293B"/>
                          </a:solidFill>
                          <a:latin typeface="Calibri"/>
                        </a:rPr>
                        <a:t>Bank API plane</a:t>
                      </a:r>
                    </a:p>
                  </a:txBody>
                  <a:tcPr>
                    <a:solidFill>
                      <a:srgbClr val="FFFFFF"/>
                    </a:solidFill>
                  </a:tcPr>
                </a:tc>
                <a:tc>
                  <a:txBody>
                    <a:bodyPr wrap="square"/>
                    <a:lstStyle/>
                    <a:p>
                      <a:r>
                        <a:rPr sz="1300" b="0">
                          <a:solidFill>
                            <a:srgbClr val="1E293B"/>
                          </a:solidFill>
                          <a:latin typeface="Calibri"/>
                        </a:rPr>
                        <a:t>YES — 1SB and bank APIs (ADR-020).</a:t>
                      </a:r>
                    </a:p>
                  </a:txBody>
                  <a:tcPr>
                    <a:solidFill>
                      <a:srgbClr val="FFFFFF"/>
                    </a:solidFill>
                  </a:tcPr>
                </a:tc>
              </a:tr>
              <a:tr h="604520">
                <a:tc>
                  <a:txBody>
                    <a:bodyPr wrap="square"/>
                    <a:lstStyle/>
                    <a:p>
                      <a:r>
                        <a:rPr sz="1300" b="0">
                          <a:solidFill>
                            <a:srgbClr val="1E293B"/>
                          </a:solidFill>
                          <a:latin typeface="Calibri"/>
                        </a:rPr>
                        <a:t>CUG environment</a:t>
                      </a:r>
                    </a:p>
                  </a:txBody>
                  <a:tcPr>
                    <a:solidFill>
                      <a:srgbClr val="F1F5F9"/>
                    </a:solidFill>
                  </a:tcPr>
                </a:tc>
                <a:tc>
                  <a:txBody>
                    <a:bodyPr wrap="square"/>
                    <a:lstStyle/>
                    <a:p>
                      <a:r>
                        <a:rPr sz="1300" b="0">
                          <a:solidFill>
                            <a:srgbClr val="1E293B"/>
                          </a:solidFill>
                          <a:latin typeface="Calibri"/>
                        </a:rPr>
                        <a:t>Onboarding default</a:t>
                      </a:r>
                    </a:p>
                  </a:txBody>
                  <a:tcPr>
                    <a:solidFill>
                      <a:srgbClr val="F1F5F9"/>
                    </a:solidFill>
                  </a:tcPr>
                </a:tc>
                <a:tc>
                  <a:txBody>
                    <a:bodyPr wrap="square"/>
                    <a:lstStyle/>
                    <a:p>
                      <a:r>
                        <a:rPr sz="1300" b="0">
                          <a:solidFill>
                            <a:srgbClr val="1E293B"/>
                          </a:solidFill>
                          <a:latin typeface="Calibri"/>
                        </a:rPr>
                        <a:t>NO at R0 — waiver, do not provision.</a:t>
                      </a:r>
                    </a:p>
                  </a:txBody>
                  <a:tcPr>
                    <a:solidFill>
                      <a:srgbClr val="F1F5F9"/>
                    </a:solidFill>
                  </a:tcPr>
                </a:tc>
              </a:tr>
              <a:tr h="604520">
                <a:tc>
                  <a:txBody>
                    <a:bodyPr wrap="square"/>
                    <a:lstStyle/>
                    <a:p>
                      <a:r>
                        <a:rPr sz="1300" b="0">
                          <a:solidFill>
                            <a:srgbClr val="1E293B"/>
                          </a:solidFill>
                          <a:latin typeface="Calibri"/>
                        </a:rPr>
                        <a:t>Separate Dev AWS account</a:t>
                      </a:r>
                    </a:p>
                  </a:txBody>
                  <a:tcPr>
                    <a:solidFill>
                      <a:srgbClr val="FFFFFF"/>
                    </a:solidFill>
                  </a:tcPr>
                </a:tc>
                <a:tc>
                  <a:txBody>
                    <a:bodyPr wrap="square"/>
                    <a:lstStyle/>
                    <a:p>
                      <a:r>
                        <a:rPr sz="1300" b="0">
                          <a:solidFill>
                            <a:srgbClr val="1E293B"/>
                          </a:solidFill>
                          <a:latin typeface="Calibri"/>
                        </a:rPr>
                        <a:t>Sometimes</a:t>
                      </a:r>
                    </a:p>
                  </a:txBody>
                  <a:tcPr>
                    <a:solidFill>
                      <a:srgbClr val="FFFFFF"/>
                    </a:solidFill>
                  </a:tcPr>
                </a:tc>
                <a:tc>
                  <a:txBody>
                    <a:bodyPr wrap="square"/>
                    <a:lstStyle/>
                    <a:p>
                      <a:r>
                        <a:rPr sz="1300" b="0">
                          <a:solidFill>
                            <a:srgbClr val="1E293B"/>
                          </a:solidFill>
                          <a:latin typeface="Calibri"/>
                        </a:rPr>
                        <a:t>NO — Dev inside UAT, two VPCs.</a:t>
                      </a:r>
                    </a:p>
                  </a:txBody>
                  <a:tcPr>
                    <a:solidFill>
                      <a:srgbClr val="FFFFFF"/>
                    </a:solidFill>
                  </a:tcPr>
                </a:tc>
              </a:tr>
            </a:tbl>
          </a:graphicData>
        </a:graphic>
      </p:graphicFrame>
      <p:sp>
        <p:nvSpPr>
          <p:cNvPr id="6" name="Rectangle 5"/>
          <p:cNvSpPr/>
          <p:nvPr/>
        </p:nvSpPr>
        <p:spPr>
          <a:xfrm>
            <a:off x="0" y="6601968"/>
            <a:ext cx="12191695" cy="2560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20256"/>
            <a:ext cx="10332720" cy="219456"/>
          </a:xfrm>
          <a:prstGeom prst="rect">
            <a:avLst/>
          </a:prstGeom>
          <a:noFill/>
        </p:spPr>
        <p:txBody>
          <a:bodyPr wrap="none">
            <a:spAutoFit/>
          </a:bodyPr>
          <a:lstStyle/>
          <a:p>
            <a:r>
              <a:rPr sz="800" b="0">
                <a:solidFill>
                  <a:srgbClr val="FFFFFF"/>
                </a:solidFill>
                <a:latin typeface="Calibri"/>
              </a:rPr>
              <a:t>FIRST REVIEW — DEV/UAT environment shape. Not production go-live, not DR-ready sign-off, not T4, not Board 4, not CIS re</a:t>
            </a:r>
          </a:p>
        </p:txBody>
      </p:sp>
      <p:sp>
        <p:nvSpPr>
          <p:cNvPr id="8" name="TextBox 7"/>
          <p:cNvSpPr txBox="1"/>
          <p:nvPr/>
        </p:nvSpPr>
        <p:spPr>
          <a:xfrm>
            <a:off x="10698480" y="6620256"/>
            <a:ext cx="1280160" cy="219456"/>
          </a:xfrm>
          <a:prstGeom prst="rect">
            <a:avLst/>
          </a:prstGeom>
          <a:noFill/>
        </p:spPr>
        <p:txBody>
          <a:bodyPr wrap="none">
            <a:spAutoFit/>
          </a:bodyPr>
          <a:lstStyle/>
          <a:p>
            <a:pPr algn="r"/>
            <a:r>
              <a:rPr sz="800" b="0">
                <a:solidFill>
                  <a:srgbClr val="FFFFFF"/>
                </a:solidFill>
                <a:latin typeface="Calibri"/>
              </a:rPr>
              <a:t>15 / 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132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13232"/>
            <a:ext cx="12191695" cy="54864"/>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146304"/>
            <a:ext cx="11521440" cy="475488"/>
          </a:xfrm>
          <a:prstGeom prst="rect">
            <a:avLst/>
          </a:prstGeom>
          <a:noFill/>
        </p:spPr>
        <p:txBody>
          <a:bodyPr wrap="none">
            <a:spAutoFit/>
          </a:bodyPr>
          <a:lstStyle/>
          <a:p>
            <a:r>
              <a:rPr sz="2000" b="1">
                <a:solidFill>
                  <a:srgbClr val="FFFFFF"/>
                </a:solidFill>
                <a:latin typeface="Calibri"/>
              </a:rPr>
              <a:t>Tech stack (pins) — why these, not a catalogue</a:t>
            </a:r>
          </a:p>
        </p:txBody>
      </p:sp>
      <p:graphicFrame>
        <p:nvGraphicFramePr>
          <p:cNvPr id="5" name="Table 4"/>
          <p:cNvGraphicFramePr>
            <a:graphicFrameLocks noGrp="1"/>
          </p:cNvGraphicFramePr>
          <p:nvPr/>
        </p:nvGraphicFramePr>
        <p:xfrm>
          <a:off x="274320" y="914400"/>
          <a:ext cx="11612880" cy="5440680"/>
        </p:xfrm>
        <a:graphic>
          <a:graphicData uri="http://schemas.openxmlformats.org/drawingml/2006/table">
            <a:tbl>
              <a:tblPr firstRow="1" bandRow="1">
                <a:tableStyleId>{5C22544A-7EE6-4342-B048-85BDC9FD1C3A}</a:tableStyleId>
              </a:tblPr>
              <a:tblGrid>
                <a:gridCol w="3870960"/>
                <a:gridCol w="3870960"/>
                <a:gridCol w="3870960"/>
              </a:tblGrid>
              <a:tr h="777240">
                <a:tc>
                  <a:txBody>
                    <a:bodyPr wrap="square"/>
                    <a:lstStyle/>
                    <a:p>
                      <a:r>
                        <a:rPr sz="1300" b="1">
                          <a:solidFill>
                            <a:srgbClr val="FFFFFF"/>
                          </a:solidFill>
                          <a:latin typeface="Calibri"/>
                        </a:rPr>
                        <a:t>Choice</a:t>
                      </a:r>
                    </a:p>
                  </a:txBody>
                  <a:tcPr>
                    <a:solidFill>
                      <a:srgbClr val="003366"/>
                    </a:solidFill>
                  </a:tcPr>
                </a:tc>
                <a:tc>
                  <a:txBody>
                    <a:bodyPr wrap="square"/>
                    <a:lstStyle/>
                    <a:p>
                      <a:r>
                        <a:rPr sz="1300" b="1">
                          <a:solidFill>
                            <a:srgbClr val="FFFFFF"/>
                          </a:solidFill>
                          <a:latin typeface="Calibri"/>
                        </a:rPr>
                        <a:t>Why</a:t>
                      </a:r>
                    </a:p>
                  </a:txBody>
                  <a:tcPr>
                    <a:solidFill>
                      <a:srgbClr val="003366"/>
                    </a:solidFill>
                  </a:tcPr>
                </a:tc>
                <a:tc>
                  <a:txBody>
                    <a:bodyPr wrap="square"/>
                    <a:lstStyle/>
                    <a:p>
                      <a:r>
                        <a:rPr sz="1300" b="1">
                          <a:solidFill>
                            <a:srgbClr val="FFFFFF"/>
                          </a:solidFill>
                          <a:latin typeface="Calibri"/>
                        </a:rPr>
                        <a:t>Why not</a:t>
                      </a:r>
                    </a:p>
                  </a:txBody>
                  <a:tcPr>
                    <a:solidFill>
                      <a:srgbClr val="003366"/>
                    </a:solidFill>
                  </a:tcPr>
                </a:tc>
              </a:tr>
              <a:tr h="777240">
                <a:tc>
                  <a:txBody>
                    <a:bodyPr wrap="square"/>
                    <a:lstStyle/>
                    <a:p>
                      <a:r>
                        <a:rPr sz="1300" b="0">
                          <a:solidFill>
                            <a:srgbClr val="1E293B"/>
                          </a:solidFill>
                          <a:latin typeface="Calibri"/>
                        </a:rPr>
                        <a:t>Java 21 / Spring Boot 3.5</a:t>
                      </a:r>
                    </a:p>
                  </a:txBody>
                  <a:tcPr>
                    <a:solidFill>
                      <a:srgbClr val="F1F5F9"/>
                    </a:solidFill>
                  </a:tcPr>
                </a:tc>
                <a:tc>
                  <a:txBody>
                    <a:bodyPr wrap="square"/>
                    <a:lstStyle/>
                    <a:p>
                      <a:r>
                        <a:rPr sz="1300" b="0">
                          <a:solidFill>
                            <a:srgbClr val="1E293B"/>
                          </a:solidFill>
                          <a:latin typeface="Calibri"/>
                        </a:rPr>
                        <a:t>Bank-familiar, LTS, in support</a:t>
                      </a:r>
                    </a:p>
                  </a:txBody>
                  <a:tcPr>
                    <a:solidFill>
                      <a:srgbClr val="F1F5F9"/>
                    </a:solidFill>
                  </a:tcPr>
                </a:tc>
                <a:tc>
                  <a:txBody>
                    <a:bodyPr wrap="square"/>
                    <a:lstStyle/>
                    <a:p>
                      <a:r>
                        <a:rPr sz="1300" b="0">
                          <a:solidFill>
                            <a:srgbClr val="1E293B"/>
                          </a:solidFill>
                          <a:latin typeface="Calibri"/>
                        </a:rPr>
                        <a:t>Node/.NET rewrite of the same controls</a:t>
                      </a:r>
                    </a:p>
                  </a:txBody>
                  <a:tcPr>
                    <a:solidFill>
                      <a:srgbClr val="F1F5F9"/>
                    </a:solidFill>
                  </a:tcPr>
                </a:tc>
              </a:tr>
              <a:tr h="777240">
                <a:tc>
                  <a:txBody>
                    <a:bodyPr wrap="square"/>
                    <a:lstStyle/>
                    <a:p>
                      <a:r>
                        <a:rPr sz="1300" b="0">
                          <a:solidFill>
                            <a:srgbClr val="1E293B"/>
                          </a:solidFill>
                          <a:latin typeface="Calibri"/>
                        </a:rPr>
                        <a:t>EKS</a:t>
                      </a:r>
                    </a:p>
                  </a:txBody>
                  <a:tcPr>
                    <a:solidFill>
                      <a:srgbClr val="FFFFFF"/>
                    </a:solidFill>
                  </a:tcPr>
                </a:tc>
                <a:tc>
                  <a:txBody>
                    <a:bodyPr wrap="square"/>
                    <a:lstStyle/>
                    <a:p>
                      <a:r>
                        <a:rPr sz="1300" b="0">
                          <a:solidFill>
                            <a:srgbClr val="1E293B"/>
                          </a:solidFill>
                          <a:latin typeface="Calibri"/>
                        </a:rPr>
                        <a:t>Listed IaaS, live on this estate</a:t>
                      </a:r>
                    </a:p>
                  </a:txBody>
                  <a:tcPr>
                    <a:solidFill>
                      <a:srgbClr val="FFFFFF"/>
                    </a:solidFill>
                  </a:tcPr>
                </a:tc>
                <a:tc>
                  <a:txBody>
                    <a:bodyPr wrap="square"/>
                    <a:lstStyle/>
                    <a:p>
                      <a:r>
                        <a:rPr sz="1300" b="0">
                          <a:solidFill>
                            <a:srgbClr val="1E293B"/>
                          </a:solidFill>
                          <a:latin typeface="Calibri"/>
                        </a:rPr>
                        <a:t>Lambda-for-everything; EC2 pets</a:t>
                      </a:r>
                    </a:p>
                  </a:txBody>
                  <a:tcPr>
                    <a:solidFill>
                      <a:srgbClr val="FFFFFF"/>
                    </a:solidFill>
                  </a:tcPr>
                </a:tc>
              </a:tr>
              <a:tr h="777240">
                <a:tc>
                  <a:txBody>
                    <a:bodyPr wrap="square"/>
                    <a:lstStyle/>
                    <a:p>
                      <a:r>
                        <a:rPr sz="1300" b="0">
                          <a:solidFill>
                            <a:srgbClr val="1E293B"/>
                          </a:solidFill>
                          <a:latin typeface="Calibri"/>
                        </a:rPr>
                        <a:t>Aurora PostgreSQL</a:t>
                      </a:r>
                    </a:p>
                  </a:txBody>
                  <a:tcPr>
                    <a:solidFill>
                      <a:srgbClr val="F1F5F9"/>
                    </a:solidFill>
                  </a:tcPr>
                </a:tc>
                <a:tc>
                  <a:txBody>
                    <a:bodyPr wrap="square"/>
                    <a:lstStyle/>
                    <a:p>
                      <a:r>
                        <a:rPr sz="1300" b="0">
                          <a:solidFill>
                            <a:srgbClr val="1E293B"/>
                          </a:solidFill>
                          <a:latin typeface="Calibri"/>
                        </a:rPr>
                        <a:t>One cluster, schema per context</a:t>
                      </a:r>
                    </a:p>
                  </a:txBody>
                  <a:tcPr>
                    <a:solidFill>
                      <a:srgbClr val="F1F5F9"/>
                    </a:solidFill>
                  </a:tcPr>
                </a:tc>
                <a:tc>
                  <a:txBody>
                    <a:bodyPr wrap="square"/>
                    <a:lstStyle/>
                    <a:p>
                      <a:r>
                        <a:rPr sz="1300" b="0">
                          <a:solidFill>
                            <a:srgbClr val="1E293B"/>
                          </a:solidFill>
                          <a:latin typeface="Calibri"/>
                        </a:rPr>
                        <a:t>One database per microservice at R0</a:t>
                      </a:r>
                    </a:p>
                  </a:txBody>
                  <a:tcPr>
                    <a:solidFill>
                      <a:srgbClr val="F1F5F9"/>
                    </a:solidFill>
                  </a:tcPr>
                </a:tc>
              </a:tr>
              <a:tr h="777240">
                <a:tc>
                  <a:txBody>
                    <a:bodyPr wrap="square"/>
                    <a:lstStyle/>
                    <a:p>
                      <a:r>
                        <a:rPr sz="1300" b="0">
                          <a:solidFill>
                            <a:srgbClr val="1E293B"/>
                          </a:solidFill>
                          <a:latin typeface="Calibri"/>
                        </a:rPr>
                        <a:t>Flutter (one project, 3 artefacts)</a:t>
                      </a:r>
                    </a:p>
                  </a:txBody>
                  <a:tcPr>
                    <a:solidFill>
                      <a:srgbClr val="FFFFFF"/>
                    </a:solidFill>
                  </a:tcPr>
                </a:tc>
                <a:tc>
                  <a:txBody>
                    <a:bodyPr wrap="square"/>
                    <a:lstStyle/>
                    <a:p>
                      <a:r>
                        <a:rPr sz="1300" b="0">
                          <a:solidFill>
                            <a:srgbClr val="1E293B"/>
                          </a:solidFill>
                          <a:latin typeface="Calibri"/>
                        </a:rPr>
                        <a:t>RM web + APK + IPA</a:t>
                      </a:r>
                    </a:p>
                  </a:txBody>
                  <a:tcPr>
                    <a:solidFill>
                      <a:srgbClr val="FFFFFF"/>
                    </a:solidFill>
                  </a:tcPr>
                </a:tc>
                <a:tc>
                  <a:txBody>
                    <a:bodyPr wrap="square"/>
                    <a:lstStyle/>
                    <a:p>
                      <a:r>
                        <a:rPr sz="1300" b="0">
                          <a:solidFill>
                            <a:srgbClr val="1E293B"/>
                          </a:solidFill>
                          <a:latin typeface="Calibri"/>
                        </a:rPr>
                        <a:t>Three native codebases</a:t>
                      </a:r>
                    </a:p>
                  </a:txBody>
                  <a:tcPr>
                    <a:solidFill>
                      <a:srgbClr val="FFFFFF"/>
                    </a:solidFill>
                  </a:tcPr>
                </a:tc>
              </a:tr>
              <a:tr h="777240">
                <a:tc>
                  <a:txBody>
                    <a:bodyPr wrap="square"/>
                    <a:lstStyle/>
                    <a:p>
                      <a:r>
                        <a:rPr sz="1300" b="0">
                          <a:solidFill>
                            <a:srgbClr val="1E293B"/>
                          </a:solidFill>
                          <a:latin typeface="Calibri"/>
                        </a:rPr>
                        <a:t>MSK / outbox</a:t>
                      </a:r>
                    </a:p>
                  </a:txBody>
                  <a:tcPr>
                    <a:solidFill>
                      <a:srgbClr val="F1F5F9"/>
                    </a:solidFill>
                  </a:tcPr>
                </a:tc>
                <a:tc>
                  <a:txBody>
                    <a:bodyPr wrap="square"/>
                    <a:lstStyle/>
                    <a:p>
                      <a:r>
                        <a:rPr sz="1300" b="0">
                          <a:solidFill>
                            <a:srgbClr val="1E293B"/>
                          </a:solidFill>
                          <a:latin typeface="Calibri"/>
                        </a:rPr>
                        <a:t>Reliable handoff, not the archive</a:t>
                      </a:r>
                    </a:p>
                  </a:txBody>
                  <a:tcPr>
                    <a:solidFill>
                      <a:srgbClr val="F1F5F9"/>
                    </a:solidFill>
                  </a:tcPr>
                </a:tc>
                <a:tc>
                  <a:txBody>
                    <a:bodyPr wrap="square"/>
                    <a:lstStyle/>
                    <a:p>
                      <a:r>
                        <a:rPr sz="1300" b="0">
                          <a:solidFill>
                            <a:srgbClr val="1E293B"/>
                          </a:solidFill>
                          <a:latin typeface="Calibri"/>
                        </a:rPr>
                        <a:t>Kafka as 7-year audit</a:t>
                      </a:r>
                    </a:p>
                  </a:txBody>
                  <a:tcPr>
                    <a:solidFill>
                      <a:srgbClr val="F1F5F9"/>
                    </a:solidFill>
                  </a:tcPr>
                </a:tc>
              </a:tr>
              <a:tr h="777240">
                <a:tc>
                  <a:txBody>
                    <a:bodyPr wrap="square"/>
                    <a:lstStyle/>
                    <a:p>
                      <a:r>
                        <a:rPr sz="1300" b="0">
                          <a:solidFill>
                            <a:srgbClr val="1E293B"/>
                          </a:solidFill>
                          <a:latin typeface="Calibri"/>
                        </a:rPr>
                        <a:t>Valkey (ElastiCache)</a:t>
                      </a:r>
                    </a:p>
                  </a:txBody>
                  <a:tcPr>
                    <a:solidFill>
                      <a:srgbClr val="FFFFFF"/>
                    </a:solidFill>
                  </a:tcPr>
                </a:tc>
                <a:tc>
                  <a:txBody>
                    <a:bodyPr wrap="square"/>
                    <a:lstStyle/>
                    <a:p>
                      <a:r>
                        <a:rPr sz="1300" b="0">
                          <a:solidFill>
                            <a:srgbClr val="1E293B"/>
                          </a:solidFill>
                          <a:latin typeface="Calibri"/>
                        </a:rPr>
                        <a:t>Session / L2 / rate-limit</a:t>
                      </a:r>
                    </a:p>
                  </a:txBody>
                  <a:tcPr>
                    <a:solidFill>
                      <a:srgbClr val="FFFFFF"/>
                    </a:solidFill>
                  </a:tcPr>
                </a:tc>
                <a:tc>
                  <a:txBody>
                    <a:bodyPr wrap="square"/>
                    <a:lstStyle/>
                    <a:p>
                      <a:r>
                        <a:rPr sz="1300" b="0">
                          <a:solidFill>
                            <a:srgbClr val="1E293B"/>
                          </a:solidFill>
                          <a:latin typeface="Calibri"/>
                        </a:rPr>
                        <a:t>Redis as SoR or idempotency</a:t>
                      </a:r>
                    </a:p>
                  </a:txBody>
                  <a:tcPr>
                    <a:solidFill>
                      <a:srgbClr val="FFFFFF"/>
                    </a:solidFill>
                  </a:tcPr>
                </a:tc>
              </a:tr>
            </a:tbl>
          </a:graphicData>
        </a:graphic>
      </p:graphicFrame>
      <p:sp>
        <p:nvSpPr>
          <p:cNvPr id="6" name="Rectangle 5"/>
          <p:cNvSpPr/>
          <p:nvPr/>
        </p:nvSpPr>
        <p:spPr>
          <a:xfrm>
            <a:off x="0" y="6601968"/>
            <a:ext cx="12191695" cy="2560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20256"/>
            <a:ext cx="10332720" cy="219456"/>
          </a:xfrm>
          <a:prstGeom prst="rect">
            <a:avLst/>
          </a:prstGeom>
          <a:noFill/>
        </p:spPr>
        <p:txBody>
          <a:bodyPr wrap="none">
            <a:spAutoFit/>
          </a:bodyPr>
          <a:lstStyle/>
          <a:p>
            <a:r>
              <a:rPr sz="800" b="0">
                <a:solidFill>
                  <a:srgbClr val="FFFFFF"/>
                </a:solidFill>
                <a:latin typeface="Calibri"/>
              </a:rPr>
              <a:t>FIRST REVIEW — DEV/UAT environment shape. Not production go-live, not DR-ready sign-off, not T4, not Board 4, not CIS re</a:t>
            </a:r>
          </a:p>
        </p:txBody>
      </p:sp>
      <p:sp>
        <p:nvSpPr>
          <p:cNvPr id="8" name="TextBox 7"/>
          <p:cNvSpPr txBox="1"/>
          <p:nvPr/>
        </p:nvSpPr>
        <p:spPr>
          <a:xfrm>
            <a:off x="10698480" y="6620256"/>
            <a:ext cx="1280160" cy="219456"/>
          </a:xfrm>
          <a:prstGeom prst="rect">
            <a:avLst/>
          </a:prstGeom>
          <a:noFill/>
        </p:spPr>
        <p:txBody>
          <a:bodyPr wrap="none">
            <a:spAutoFit/>
          </a:bodyPr>
          <a:lstStyle/>
          <a:p>
            <a:pPr algn="r"/>
            <a:r>
              <a:rPr sz="800" b="0">
                <a:solidFill>
                  <a:srgbClr val="FFFFFF"/>
                </a:solidFill>
                <a:latin typeface="Calibri"/>
              </a:rPr>
              <a:t>16 / 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132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13232"/>
            <a:ext cx="12191695" cy="54864"/>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146304"/>
            <a:ext cx="11521440" cy="475488"/>
          </a:xfrm>
          <a:prstGeom prst="rect">
            <a:avLst/>
          </a:prstGeom>
          <a:noFill/>
        </p:spPr>
        <p:txBody>
          <a:bodyPr wrap="none">
            <a:spAutoFit/>
          </a:bodyPr>
          <a:lstStyle/>
          <a:p>
            <a:r>
              <a:rPr sz="2000" b="1">
                <a:solidFill>
                  <a:srgbClr val="FFFFFF"/>
                </a:solidFill>
                <a:latin typeface="Calibri"/>
              </a:rPr>
              <a:t>19 ARB prerequisites — traffic light for THIS sitting</a:t>
            </a:r>
          </a:p>
        </p:txBody>
      </p:sp>
      <p:graphicFrame>
        <p:nvGraphicFramePr>
          <p:cNvPr id="5" name="Table 4"/>
          <p:cNvGraphicFramePr>
            <a:graphicFrameLocks noGrp="1"/>
          </p:cNvGraphicFramePr>
          <p:nvPr/>
        </p:nvGraphicFramePr>
        <p:xfrm>
          <a:off x="274320" y="914400"/>
          <a:ext cx="11612880" cy="5440680"/>
        </p:xfrm>
        <a:graphic>
          <a:graphicData uri="http://schemas.openxmlformats.org/drawingml/2006/table">
            <a:tbl>
              <a:tblPr firstRow="1" bandRow="1">
                <a:tableStyleId>{5C22544A-7EE6-4342-B048-85BDC9FD1C3A}</a:tableStyleId>
              </a:tblPr>
              <a:tblGrid>
                <a:gridCol w="2903220"/>
                <a:gridCol w="2903220"/>
                <a:gridCol w="2903220"/>
                <a:gridCol w="2903220"/>
              </a:tblGrid>
              <a:tr h="604520">
                <a:tc>
                  <a:txBody>
                    <a:bodyPr wrap="square"/>
                    <a:lstStyle/>
                    <a:p>
                      <a:r>
                        <a:rPr sz="1100" b="1">
                          <a:solidFill>
                            <a:srgbClr val="FFFFFF"/>
                          </a:solidFill>
                          <a:latin typeface="Calibri"/>
                        </a:rPr>
                        <a:t>#</a:t>
                      </a:r>
                    </a:p>
                  </a:txBody>
                  <a:tcPr>
                    <a:solidFill>
                      <a:srgbClr val="003366"/>
                    </a:solidFill>
                  </a:tcPr>
                </a:tc>
                <a:tc>
                  <a:txBody>
                    <a:bodyPr wrap="square"/>
                    <a:lstStyle/>
                    <a:p>
                      <a:r>
                        <a:rPr sz="1100" b="1">
                          <a:solidFill>
                            <a:srgbClr val="FFFFFF"/>
                          </a:solidFill>
                          <a:latin typeface="Calibri"/>
                        </a:rPr>
                        <a:t>Prerequisite</a:t>
                      </a:r>
                    </a:p>
                  </a:txBody>
                  <a:tcPr>
                    <a:solidFill>
                      <a:srgbClr val="003366"/>
                    </a:solidFill>
                  </a:tcPr>
                </a:tc>
                <a:tc>
                  <a:txBody>
                    <a:bodyPr wrap="square"/>
                    <a:lstStyle/>
                    <a:p>
                      <a:r>
                        <a:rPr sz="1100" b="1">
                          <a:solidFill>
                            <a:srgbClr val="FFFFFF"/>
                          </a:solidFill>
                          <a:latin typeface="Calibri"/>
                        </a:rPr>
                        <a:t>Today</a:t>
                      </a:r>
                    </a:p>
                  </a:txBody>
                  <a:tcPr>
                    <a:solidFill>
                      <a:srgbClr val="003366"/>
                    </a:solidFill>
                  </a:tcPr>
                </a:tc>
                <a:tc>
                  <a:txBody>
                    <a:bodyPr wrap="square"/>
                    <a:lstStyle/>
                    <a:p>
                      <a:r>
                        <a:rPr sz="1100" b="1">
                          <a:solidFill>
                            <a:srgbClr val="FFFFFF"/>
                          </a:solidFill>
                          <a:latin typeface="Calibri"/>
                        </a:rPr>
                        <a:t>Blocks Dev/UAT VPCs?</a:t>
                      </a:r>
                    </a:p>
                  </a:txBody>
                  <a:tcPr>
                    <a:solidFill>
                      <a:srgbClr val="003366"/>
                    </a:solidFill>
                  </a:tcPr>
                </a:tc>
              </a:tr>
              <a:tr h="604520">
                <a:tc>
                  <a:txBody>
                    <a:bodyPr wrap="square"/>
                    <a:lstStyle/>
                    <a:p>
                      <a:r>
                        <a:rPr sz="1100" b="0">
                          <a:solidFill>
                            <a:srgbClr val="1E293B"/>
                          </a:solidFill>
                          <a:latin typeface="Calibri"/>
                        </a:rPr>
                        <a:t>1</a:t>
                      </a:r>
                    </a:p>
                  </a:txBody>
                  <a:tcPr>
                    <a:solidFill>
                      <a:srgbClr val="F1F5F9"/>
                    </a:solidFill>
                  </a:tcPr>
                </a:tc>
                <a:tc>
                  <a:txBody>
                    <a:bodyPr wrap="square"/>
                    <a:lstStyle/>
                    <a:p>
                      <a:r>
                        <a:rPr sz="1100" b="0">
                          <a:solidFill>
                            <a:srgbClr val="1E293B"/>
                          </a:solidFill>
                          <a:latin typeface="Calibri"/>
                        </a:rPr>
                        <a:t>Business ask</a:t>
                      </a:r>
                    </a:p>
                  </a:txBody>
                  <a:tcPr>
                    <a:solidFill>
                      <a:srgbClr val="F1F5F9"/>
                    </a:solidFill>
                  </a:tcPr>
                </a:tc>
                <a:tc>
                  <a:txBody>
                    <a:bodyPr wrap="square"/>
                    <a:lstStyle/>
                    <a:p>
                      <a:r>
                        <a:rPr sz="1100" b="0">
                          <a:solidFill>
                            <a:srgbClr val="1E293B"/>
                          </a:solidFill>
                          <a:latin typeface="Calibri"/>
                        </a:rPr>
                        <a:t>PARTIAL — Rajal volumes</a:t>
                      </a:r>
                    </a:p>
                  </a:txBody>
                  <a:tcPr>
                    <a:solidFill>
                      <a:srgbClr val="F1F5F9"/>
                    </a:solidFill>
                  </a:tcPr>
                </a:tc>
                <a:tc>
                  <a:txBody>
                    <a:bodyPr wrap="square"/>
                    <a:lstStyle/>
                    <a:p>
                      <a:r>
                        <a:rPr sz="1100" b="0">
                          <a:solidFill>
                            <a:srgbClr val="1E293B"/>
                          </a:solidFill>
                          <a:latin typeface="Calibri"/>
                        </a:rPr>
                        <a:t>No</a:t>
                      </a:r>
                    </a:p>
                  </a:txBody>
                  <a:tcPr>
                    <a:solidFill>
                      <a:srgbClr val="F1F5F9"/>
                    </a:solidFill>
                  </a:tcPr>
                </a:tc>
              </a:tr>
              <a:tr h="604520">
                <a:tc>
                  <a:txBody>
                    <a:bodyPr wrap="square"/>
                    <a:lstStyle/>
                    <a:p>
                      <a:r>
                        <a:rPr sz="1100" b="0">
                          <a:solidFill>
                            <a:srgbClr val="1E293B"/>
                          </a:solidFill>
                          <a:latin typeface="Calibri"/>
                        </a:rPr>
                        <a:t>2</a:t>
                      </a:r>
                    </a:p>
                  </a:txBody>
                  <a:tcPr>
                    <a:solidFill>
                      <a:srgbClr val="FFFFFF"/>
                    </a:solidFill>
                  </a:tcPr>
                </a:tc>
                <a:tc>
                  <a:txBody>
                    <a:bodyPr wrap="square"/>
                    <a:lstStyle/>
                    <a:p>
                      <a:r>
                        <a:rPr sz="1100" b="0">
                          <a:solidFill>
                            <a:srgbClr val="1E293B"/>
                          </a:solidFill>
                          <a:latin typeface="Calibri"/>
                        </a:rPr>
                        <a:t>CIS classification</a:t>
                      </a:r>
                    </a:p>
                  </a:txBody>
                  <a:tcPr>
                    <a:solidFill>
                      <a:srgbClr val="FFFFFF"/>
                    </a:solidFill>
                  </a:tcPr>
                </a:tc>
                <a:tc>
                  <a:txBody>
                    <a:bodyPr wrap="square"/>
                    <a:lstStyle/>
                    <a:p>
                      <a:r>
                        <a:rPr sz="1100" b="0">
                          <a:solidFill>
                            <a:srgbClr val="1E293B"/>
                          </a:solidFill>
                          <a:latin typeface="Calibri"/>
                        </a:rPr>
                        <a:t>HUMAN — proposal Critical</a:t>
                      </a:r>
                    </a:p>
                  </a:txBody>
                  <a:tcPr>
                    <a:solidFill>
                      <a:srgbClr val="FFFFFF"/>
                    </a:solidFill>
                  </a:tcPr>
                </a:tc>
                <a:tc>
                  <a:txBody>
                    <a:bodyPr wrap="square"/>
                    <a:lstStyle/>
                    <a:p>
                      <a:r>
                        <a:rPr sz="1100" b="0">
                          <a:solidFill>
                            <a:srgbClr val="1E293B"/>
                          </a:solidFill>
                          <a:latin typeface="Calibri"/>
                        </a:rPr>
                        <a:t>No — same controls anyway</a:t>
                      </a:r>
                    </a:p>
                  </a:txBody>
                  <a:tcPr>
                    <a:solidFill>
                      <a:srgbClr val="FFFFFF"/>
                    </a:solidFill>
                  </a:tcPr>
                </a:tc>
              </a:tr>
              <a:tr h="604520">
                <a:tc>
                  <a:txBody>
                    <a:bodyPr wrap="square"/>
                    <a:lstStyle/>
                    <a:p>
                      <a:r>
                        <a:rPr sz="1100" b="0">
                          <a:solidFill>
                            <a:srgbClr val="1E293B"/>
                          </a:solidFill>
                          <a:latin typeface="Calibri"/>
                        </a:rPr>
                        <a:t>3–5</a:t>
                      </a:r>
                    </a:p>
                  </a:txBody>
                  <a:tcPr>
                    <a:solidFill>
                      <a:srgbClr val="F1F5F9"/>
                    </a:solidFill>
                  </a:tcPr>
                </a:tc>
                <a:tc>
                  <a:txBody>
                    <a:bodyPr wrap="square"/>
                    <a:lstStyle/>
                    <a:p>
                      <a:r>
                        <a:rPr sz="1100" b="0">
                          <a:solidFill>
                            <a:srgbClr val="1E293B"/>
                          </a:solidFill>
                          <a:latin typeface="Calibri"/>
                        </a:rPr>
                        <a:t>SAD / current-target / diagrams</a:t>
                      </a:r>
                    </a:p>
                  </a:txBody>
                  <a:tcPr>
                    <a:solidFill>
                      <a:srgbClr val="F1F5F9"/>
                    </a:solidFill>
                  </a:tcPr>
                </a:tc>
                <a:tc>
                  <a:txBody>
                    <a:bodyPr wrap="square"/>
                    <a:lstStyle/>
                    <a:p>
                      <a:r>
                        <a:rPr sz="1100" b="0">
                          <a:solidFill>
                            <a:srgbClr val="1E293B"/>
                          </a:solidFill>
                          <a:latin typeface="Calibri"/>
                        </a:rPr>
                        <a:t>READY unsigned</a:t>
                      </a:r>
                    </a:p>
                  </a:txBody>
                  <a:tcPr>
                    <a:solidFill>
                      <a:srgbClr val="F1F5F9"/>
                    </a:solidFill>
                  </a:tcPr>
                </a:tc>
                <a:tc>
                  <a:txBody>
                    <a:bodyPr wrap="square"/>
                    <a:lstStyle/>
                    <a:p>
                      <a:r>
                        <a:rPr sz="1100" b="0">
                          <a:solidFill>
                            <a:srgbClr val="1E293B"/>
                          </a:solidFill>
                          <a:latin typeface="Calibri"/>
                        </a:rPr>
                        <a:t>No — T4 later</a:t>
                      </a:r>
                    </a:p>
                  </a:txBody>
                  <a:tcPr>
                    <a:solidFill>
                      <a:srgbClr val="F1F5F9"/>
                    </a:solidFill>
                  </a:tcPr>
                </a:tc>
              </a:tr>
              <a:tr h="604520">
                <a:tc>
                  <a:txBody>
                    <a:bodyPr wrap="square"/>
                    <a:lstStyle/>
                    <a:p>
                      <a:r>
                        <a:rPr sz="1100" b="0">
                          <a:solidFill>
                            <a:srgbClr val="1E293B"/>
                          </a:solidFill>
                          <a:latin typeface="Calibri"/>
                        </a:rPr>
                        <a:t>6</a:t>
                      </a:r>
                    </a:p>
                  </a:txBody>
                  <a:tcPr>
                    <a:solidFill>
                      <a:srgbClr val="FFFFFF"/>
                    </a:solidFill>
                  </a:tcPr>
                </a:tc>
                <a:tc>
                  <a:txBody>
                    <a:bodyPr wrap="square"/>
                    <a:lstStyle/>
                    <a:p>
                      <a:r>
                        <a:rPr sz="1100" b="0">
                          <a:solidFill>
                            <a:srgbClr val="1E293B"/>
                          </a:solidFill>
                          <a:latin typeface="Calibri"/>
                        </a:rPr>
                        <a:t>Integration matrix</a:t>
                      </a:r>
                    </a:p>
                  </a:txBody>
                  <a:tcPr>
                    <a:solidFill>
                      <a:srgbClr val="FFFFFF"/>
                    </a:solidFill>
                  </a:tcPr>
                </a:tc>
                <a:tc>
                  <a:txBody>
                    <a:bodyPr wrap="square"/>
                    <a:lstStyle/>
                    <a:p>
                      <a:r>
                        <a:rPr sz="1100" b="0">
                          <a:solidFill>
                            <a:srgbClr val="1E293B"/>
                          </a:solidFill>
                          <a:latin typeface="Calibri"/>
                        </a:rPr>
                        <a:t>READY — Apigee IPs OPEN</a:t>
                      </a:r>
                    </a:p>
                  </a:txBody>
                  <a:tcPr>
                    <a:solidFill>
                      <a:srgbClr val="FFFFFF"/>
                    </a:solidFill>
                  </a:tcPr>
                </a:tc>
                <a:tc>
                  <a:txBody>
                    <a:bodyPr wrap="square"/>
                    <a:lstStyle/>
                    <a:p>
                      <a:r>
                        <a:rPr sz="1100" b="0">
                          <a:solidFill>
                            <a:srgbClr val="1E293B"/>
                          </a:solidFill>
                          <a:latin typeface="Calibri"/>
                        </a:rPr>
                        <a:t>Dev stubs OK; UAT dated</a:t>
                      </a:r>
                    </a:p>
                  </a:txBody>
                  <a:tcPr>
                    <a:solidFill>
                      <a:srgbClr val="FFFFFF"/>
                    </a:solidFill>
                  </a:tcPr>
                </a:tc>
              </a:tr>
              <a:tr h="604520">
                <a:tc>
                  <a:txBody>
                    <a:bodyPr wrap="square"/>
                    <a:lstStyle/>
                    <a:p>
                      <a:r>
                        <a:rPr sz="1100" b="0">
                          <a:solidFill>
                            <a:srgbClr val="1E293B"/>
                          </a:solidFill>
                          <a:latin typeface="Calibri"/>
                        </a:rPr>
                        <a:t>7–9</a:t>
                      </a:r>
                    </a:p>
                  </a:txBody>
                  <a:tcPr>
                    <a:solidFill>
                      <a:srgbClr val="F1F5F9"/>
                    </a:solidFill>
                  </a:tcPr>
                </a:tc>
                <a:tc>
                  <a:txBody>
                    <a:bodyPr wrap="square"/>
                    <a:lstStyle/>
                    <a:p>
                      <a:r>
                        <a:rPr sz="1100" b="0">
                          <a:solidFill>
                            <a:srgbClr val="1E293B"/>
                          </a:solidFill>
                          <a:latin typeface="Calibri"/>
                        </a:rPr>
                        <a:t>Capacity / RTO-RPO / DR design</a:t>
                      </a:r>
                    </a:p>
                  </a:txBody>
                  <a:tcPr>
                    <a:solidFill>
                      <a:srgbClr val="F1F5F9"/>
                    </a:solidFill>
                  </a:tcPr>
                </a:tc>
                <a:tc>
                  <a:txBody>
                    <a:bodyPr wrap="square"/>
                    <a:lstStyle/>
                    <a:p>
                      <a:r>
                        <a:rPr sz="1100" b="0">
                          <a:solidFill>
                            <a:srgbClr val="1E293B"/>
                          </a:solidFill>
                          <a:latin typeface="Calibri"/>
                        </a:rPr>
                        <a:t>Designed, unproven</a:t>
                      </a:r>
                    </a:p>
                  </a:txBody>
                  <a:tcPr>
                    <a:solidFill>
                      <a:srgbClr val="F1F5F9"/>
                    </a:solidFill>
                  </a:tcPr>
                </a:tc>
                <a:tc>
                  <a:txBody>
                    <a:bodyPr wrap="square"/>
                    <a:lstStyle/>
                    <a:p>
                      <a:r>
                        <a:rPr sz="1100" b="0">
                          <a:solidFill>
                            <a:srgbClr val="1E293B"/>
                          </a:solidFill>
                          <a:latin typeface="Calibri"/>
                        </a:rPr>
                        <a:t>No — proof is sitting 2</a:t>
                      </a:r>
                    </a:p>
                  </a:txBody>
                  <a:tcPr>
                    <a:solidFill>
                      <a:srgbClr val="F1F5F9"/>
                    </a:solidFill>
                  </a:tcPr>
                </a:tc>
              </a:tr>
              <a:tr h="604520">
                <a:tc>
                  <a:txBody>
                    <a:bodyPr wrap="square"/>
                    <a:lstStyle/>
                    <a:p>
                      <a:r>
                        <a:rPr sz="1100" b="0">
                          <a:solidFill>
                            <a:srgbClr val="1E293B"/>
                          </a:solidFill>
                          <a:latin typeface="Calibri"/>
                        </a:rPr>
                        <a:t>10–11</a:t>
                      </a:r>
                    </a:p>
                  </a:txBody>
                  <a:tcPr>
                    <a:solidFill>
                      <a:srgbClr val="FFFFFF"/>
                    </a:solidFill>
                  </a:tcPr>
                </a:tc>
                <a:tc>
                  <a:txBody>
                    <a:bodyPr wrap="square"/>
                    <a:lstStyle/>
                    <a:p>
                      <a:r>
                        <a:rPr sz="1100" b="0">
                          <a:solidFill>
                            <a:srgbClr val="1E293B"/>
                          </a:solidFill>
                          <a:latin typeface="Calibri"/>
                        </a:rPr>
                        <a:t>Security arch / VA-PT</a:t>
                      </a:r>
                    </a:p>
                  </a:txBody>
                  <a:tcPr>
                    <a:solidFill>
                      <a:srgbClr val="FFFFFF"/>
                    </a:solidFill>
                  </a:tcPr>
                </a:tc>
                <a:tc>
                  <a:txBody>
                    <a:bodyPr wrap="square"/>
                    <a:lstStyle/>
                    <a:p>
                      <a:r>
                        <a:rPr sz="1100" b="0">
                          <a:solidFill>
                            <a:srgbClr val="1E293B"/>
                          </a:solidFill>
                          <a:latin typeface="Calibri"/>
                        </a:rPr>
                        <a:t>PARTIAL / NOT-YET</a:t>
                      </a:r>
                    </a:p>
                  </a:txBody>
                  <a:tcPr>
                    <a:solidFill>
                      <a:srgbClr val="FFFFFF"/>
                    </a:solidFill>
                  </a:tcPr>
                </a:tc>
                <a:tc>
                  <a:txBody>
                    <a:bodyPr wrap="square"/>
                    <a:lstStyle/>
                    <a:p>
                      <a:r>
                        <a:rPr sz="1100" b="0">
                          <a:solidFill>
                            <a:srgbClr val="1E293B"/>
                          </a:solidFill>
                          <a:latin typeface="Calibri"/>
                        </a:rPr>
                        <a:t>No pentest of empty env</a:t>
                      </a:r>
                    </a:p>
                  </a:txBody>
                  <a:tcPr>
                    <a:solidFill>
                      <a:srgbClr val="FFFFFF"/>
                    </a:solidFill>
                  </a:tcPr>
                </a:tc>
              </a:tr>
              <a:tr h="604520">
                <a:tc>
                  <a:txBody>
                    <a:bodyPr wrap="square"/>
                    <a:lstStyle/>
                    <a:p>
                      <a:r>
                        <a:rPr sz="1100" b="0">
                          <a:solidFill>
                            <a:srgbClr val="1E293B"/>
                          </a:solidFill>
                          <a:latin typeface="Calibri"/>
                        </a:rPr>
                        <a:t>12–15</a:t>
                      </a:r>
                    </a:p>
                  </a:txBody>
                  <a:tcPr>
                    <a:solidFill>
                      <a:srgbClr val="F1F5F9"/>
                    </a:solidFill>
                  </a:tcPr>
                </a:tc>
                <a:tc>
                  <a:txBody>
                    <a:bodyPr wrap="square"/>
                    <a:lstStyle/>
                    <a:p>
                      <a:r>
                        <a:rPr sz="1100" b="0">
                          <a:solidFill>
                            <a:srgbClr val="1E293B"/>
                          </a:solidFill>
                          <a:latin typeface="Calibri"/>
                        </a:rPr>
                        <a:t>SBOM / data / IAM / logging</a:t>
                      </a:r>
                    </a:p>
                  </a:txBody>
                  <a:tcPr>
                    <a:solidFill>
                      <a:srgbClr val="F1F5F9"/>
                    </a:solidFill>
                  </a:tcPr>
                </a:tc>
                <a:tc>
                  <a:txBody>
                    <a:bodyPr wrap="square"/>
                    <a:lstStyle/>
                    <a:p>
                      <a:r>
                        <a:rPr sz="1100" b="0">
                          <a:solidFill>
                            <a:srgbClr val="1E293B"/>
                          </a:solidFill>
                          <a:latin typeface="Calibri"/>
                        </a:rPr>
                        <a:t>Designed</a:t>
                      </a:r>
                    </a:p>
                  </a:txBody>
                  <a:tcPr>
                    <a:solidFill>
                      <a:srgbClr val="F1F5F9"/>
                    </a:solidFill>
                  </a:tcPr>
                </a:tc>
                <a:tc>
                  <a:txBody>
                    <a:bodyPr wrap="square"/>
                    <a:lstStyle/>
                    <a:p>
                      <a:r>
                        <a:rPr sz="1100" b="0">
                          <a:solidFill>
                            <a:srgbClr val="1E293B"/>
                          </a:solidFill>
                          <a:latin typeface="Calibri"/>
                        </a:rPr>
                        <a:t>No</a:t>
                      </a:r>
                    </a:p>
                  </a:txBody>
                  <a:tcPr>
                    <a:solidFill>
                      <a:srgbClr val="F1F5F9"/>
                    </a:solidFill>
                  </a:tcPr>
                </a:tc>
              </a:tr>
              <a:tr h="604520">
                <a:tc>
                  <a:txBody>
                    <a:bodyPr wrap="square"/>
                    <a:lstStyle/>
                    <a:p>
                      <a:r>
                        <a:rPr sz="1100" b="0">
                          <a:solidFill>
                            <a:srgbClr val="1E293B"/>
                          </a:solidFill>
                          <a:latin typeface="Calibri"/>
                        </a:rPr>
                        <a:t>16–19</a:t>
                      </a:r>
                    </a:p>
                  </a:txBody>
                  <a:tcPr>
                    <a:solidFill>
                      <a:srgbClr val="FFFFFF"/>
                    </a:solidFill>
                  </a:tcPr>
                </a:tc>
                <a:tc>
                  <a:txBody>
                    <a:bodyPr wrap="square"/>
                    <a:lstStyle/>
                    <a:p>
                      <a:r>
                        <a:rPr sz="1100" b="0">
                          <a:solidFill>
                            <a:srgbClr val="1E293B"/>
                          </a:solidFill>
                          <a:latin typeface="Calibri"/>
                        </a:rPr>
                        <a:t>Third parties / RACI / lifecycle / exit</a:t>
                      </a:r>
                    </a:p>
                  </a:txBody>
                  <a:tcPr>
                    <a:solidFill>
                      <a:srgbClr val="FFFFFF"/>
                    </a:solidFill>
                  </a:tcPr>
                </a:tc>
                <a:tc>
                  <a:txBody>
                    <a:bodyPr wrap="square"/>
                    <a:lstStyle/>
                    <a:p>
                      <a:r>
                        <a:rPr sz="1100" b="0">
                          <a:solidFill>
                            <a:srgbClr val="1E293B"/>
                          </a:solidFill>
                          <a:latin typeface="Calibri"/>
                        </a:rPr>
                        <a:t>Compiled</a:t>
                      </a:r>
                    </a:p>
                  </a:txBody>
                  <a:tcPr>
                    <a:solidFill>
                      <a:srgbClr val="FFFFFF"/>
                    </a:solidFill>
                  </a:tcPr>
                </a:tc>
                <a:tc>
                  <a:txBody>
                    <a:bodyPr wrap="square"/>
                    <a:lstStyle/>
                    <a:p>
                      <a:r>
                        <a:rPr sz="1100" b="0">
                          <a:solidFill>
                            <a:srgbClr val="1E293B"/>
                          </a:solidFill>
                          <a:latin typeface="Calibri"/>
                        </a:rPr>
                        <a:t>No</a:t>
                      </a:r>
                    </a:p>
                  </a:txBody>
                  <a:tcPr>
                    <a:solidFill>
                      <a:srgbClr val="FFFFFF"/>
                    </a:solidFill>
                  </a:tcPr>
                </a:tc>
              </a:tr>
            </a:tbl>
          </a:graphicData>
        </a:graphic>
      </p:graphicFrame>
      <p:sp>
        <p:nvSpPr>
          <p:cNvPr id="6" name="Rectangle 5"/>
          <p:cNvSpPr/>
          <p:nvPr/>
        </p:nvSpPr>
        <p:spPr>
          <a:xfrm>
            <a:off x="0" y="6601968"/>
            <a:ext cx="12191695" cy="2560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20256"/>
            <a:ext cx="10332720" cy="219456"/>
          </a:xfrm>
          <a:prstGeom prst="rect">
            <a:avLst/>
          </a:prstGeom>
          <a:noFill/>
        </p:spPr>
        <p:txBody>
          <a:bodyPr wrap="none">
            <a:spAutoFit/>
          </a:bodyPr>
          <a:lstStyle/>
          <a:p>
            <a:r>
              <a:rPr sz="800" b="0">
                <a:solidFill>
                  <a:srgbClr val="FFFFFF"/>
                </a:solidFill>
                <a:latin typeface="Calibri"/>
              </a:rPr>
              <a:t>FIRST REVIEW — DEV/UAT environment shape. Not production go-live, not DR-ready sign-off, not T4, not Board 4, not CIS re</a:t>
            </a:r>
          </a:p>
        </p:txBody>
      </p:sp>
      <p:sp>
        <p:nvSpPr>
          <p:cNvPr id="8" name="TextBox 7"/>
          <p:cNvSpPr txBox="1"/>
          <p:nvPr/>
        </p:nvSpPr>
        <p:spPr>
          <a:xfrm>
            <a:off x="10698480" y="6620256"/>
            <a:ext cx="1280160" cy="219456"/>
          </a:xfrm>
          <a:prstGeom prst="rect">
            <a:avLst/>
          </a:prstGeom>
          <a:noFill/>
        </p:spPr>
        <p:txBody>
          <a:bodyPr wrap="none">
            <a:spAutoFit/>
          </a:bodyPr>
          <a:lstStyle/>
          <a:p>
            <a:pPr algn="r"/>
            <a:r>
              <a:rPr sz="800" b="0">
                <a:solidFill>
                  <a:srgbClr val="FFFFFF"/>
                </a:solidFill>
                <a:latin typeface="Calibri"/>
              </a:rPr>
              <a:t>17 / 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132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13232"/>
            <a:ext cx="12191695" cy="54864"/>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146304"/>
            <a:ext cx="11521440" cy="475488"/>
          </a:xfrm>
          <a:prstGeom prst="rect">
            <a:avLst/>
          </a:prstGeom>
          <a:noFill/>
        </p:spPr>
        <p:txBody>
          <a:bodyPr wrap="none">
            <a:spAutoFit/>
          </a:bodyPr>
          <a:lstStyle/>
          <a:p>
            <a:r>
              <a:rPr sz="2000" b="1">
                <a:solidFill>
                  <a:srgbClr val="FFFFFF"/>
                </a:solidFill>
                <a:latin typeface="Calibri"/>
              </a:rPr>
              <a:t>What we need from ARB today</a:t>
            </a:r>
          </a:p>
        </p:txBody>
      </p:sp>
      <p:sp>
        <p:nvSpPr>
          <p:cNvPr id="5" name="TextBox 4"/>
          <p:cNvSpPr txBox="1"/>
          <p:nvPr/>
        </p:nvSpPr>
        <p:spPr>
          <a:xfrm>
            <a:off x="411480" y="960120"/>
            <a:ext cx="11338560" cy="5440680"/>
          </a:xfrm>
          <a:prstGeom prst="rect">
            <a:avLst/>
          </a:prstGeom>
          <a:noFill/>
        </p:spPr>
        <p:txBody>
          <a:bodyPr wrap="square">
            <a:spAutoFit/>
          </a:bodyPr>
          <a:lstStyle/>
          <a:p>
            <a:pPr>
              <a:spcAft>
                <a:spcPts val="1000"/>
              </a:spcAft>
            </a:pPr>
            <a:r>
              <a:rPr sz="1600" b="0">
                <a:solidFill>
                  <a:srgbClr val="1E293B"/>
                </a:solidFill>
                <a:latin typeface="Calibri"/>
              </a:rPr>
              <a:t>1. Recorded first-review of the R0 architecture as the intended design for NIP.</a:t>
            </a:r>
          </a:p>
          <a:p>
            <a:pPr>
              <a:spcAft>
                <a:spcPts val="1000"/>
              </a:spcAft>
            </a:pPr>
            <a:r>
              <a:rPr sz="1600" b="0">
                <a:solidFill>
                  <a:srgbClr val="1E293B"/>
                </a:solidFill>
                <a:latin typeface="Calibri"/>
              </a:rPr>
              <a:t>2. Non-objection to vendor: five accounts; UAT account with vpc-dev + vpc-uat; no CUG; no public ALB; no workload IGW.</a:t>
            </a:r>
          </a:p>
          <a:p>
            <a:pPr>
              <a:spcAft>
                <a:spcPts val="1000"/>
              </a:spcAft>
            </a:pPr>
            <a:r>
              <a:rPr sz="1600" b="0">
                <a:solidFill>
                  <a:srgbClr val="1E293B"/>
                </a:solidFill>
                <a:latin typeface="Calibri"/>
              </a:rPr>
              <a:t>3. Confirmation we attach to existing TGW / DX Gateway / EDGE — we do not clone them.</a:t>
            </a:r>
          </a:p>
          <a:p>
            <a:pPr>
              <a:spcAft>
                <a:spcPts val="1000"/>
              </a:spcAft>
            </a:pPr>
            <a:r>
              <a:rPr sz="1600" b="0">
                <a:solidFill>
                  <a:srgbClr val="1E293B"/>
                </a:solidFill>
                <a:latin typeface="Calibri"/>
              </a:rPr>
              <a:t>4. Observations and improvements, written. We will action them with owners and dates.</a:t>
            </a:r>
          </a:p>
          <a:p>
            <a:pPr>
              <a:spcAft>
                <a:spcPts val="1000"/>
              </a:spcAft>
            </a:pPr>
            <a:r>
              <a:rPr sz="1600" b="0">
                <a:solidFill>
                  <a:srgbClr val="1E293B"/>
                </a:solidFill>
                <a:latin typeface="Calibri"/>
              </a:rPr>
              <a:t>5. Explicitly out of scope today: prod apply, DR drill sign-off, CIS register, VA/PT, Apigee IP numbers.</a:t>
            </a:r>
          </a:p>
        </p:txBody>
      </p:sp>
      <p:sp>
        <p:nvSpPr>
          <p:cNvPr id="6" name="Rectangle 5"/>
          <p:cNvSpPr/>
          <p:nvPr/>
        </p:nvSpPr>
        <p:spPr>
          <a:xfrm>
            <a:off x="0" y="6601968"/>
            <a:ext cx="12191695" cy="2560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20256"/>
            <a:ext cx="10332720" cy="219456"/>
          </a:xfrm>
          <a:prstGeom prst="rect">
            <a:avLst/>
          </a:prstGeom>
          <a:noFill/>
        </p:spPr>
        <p:txBody>
          <a:bodyPr wrap="none">
            <a:spAutoFit/>
          </a:bodyPr>
          <a:lstStyle/>
          <a:p>
            <a:r>
              <a:rPr sz="800" b="0">
                <a:solidFill>
                  <a:srgbClr val="FFFFFF"/>
                </a:solidFill>
                <a:latin typeface="Calibri"/>
              </a:rPr>
              <a:t>FIRST REVIEW — DEV/UAT environment shape. Not production go-live, not DR-ready sign-off, not T4, not Board 4, not CIS re</a:t>
            </a:r>
          </a:p>
        </p:txBody>
      </p:sp>
      <p:sp>
        <p:nvSpPr>
          <p:cNvPr id="8" name="TextBox 7"/>
          <p:cNvSpPr txBox="1"/>
          <p:nvPr/>
        </p:nvSpPr>
        <p:spPr>
          <a:xfrm>
            <a:off x="10698480" y="6620256"/>
            <a:ext cx="1280160" cy="219456"/>
          </a:xfrm>
          <a:prstGeom prst="rect">
            <a:avLst/>
          </a:prstGeom>
          <a:noFill/>
        </p:spPr>
        <p:txBody>
          <a:bodyPr wrap="none">
            <a:spAutoFit/>
          </a:bodyPr>
          <a:lstStyle/>
          <a:p>
            <a:pPr algn="r"/>
            <a:r>
              <a:rPr sz="800" b="0">
                <a:solidFill>
                  <a:srgbClr val="FFFFFF"/>
                </a:solidFill>
                <a:latin typeface="Calibri"/>
              </a:rPr>
              <a:t>18 / 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132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13232"/>
            <a:ext cx="12191695" cy="54864"/>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146304"/>
            <a:ext cx="11521440" cy="475488"/>
          </a:xfrm>
          <a:prstGeom prst="rect">
            <a:avLst/>
          </a:prstGeom>
          <a:noFill/>
        </p:spPr>
        <p:txBody>
          <a:bodyPr wrap="none">
            <a:spAutoFit/>
          </a:bodyPr>
          <a:lstStyle/>
          <a:p>
            <a:r>
              <a:rPr sz="2000" b="1">
                <a:solidFill>
                  <a:srgbClr val="FFFFFF"/>
                </a:solidFill>
                <a:latin typeface="Calibri"/>
              </a:rPr>
              <a:t>Parking lot — items that must not block Dev/UAT</a:t>
            </a:r>
          </a:p>
        </p:txBody>
      </p:sp>
      <p:sp>
        <p:nvSpPr>
          <p:cNvPr id="5" name="TextBox 4"/>
          <p:cNvSpPr txBox="1"/>
          <p:nvPr/>
        </p:nvSpPr>
        <p:spPr>
          <a:xfrm>
            <a:off x="411480" y="960120"/>
            <a:ext cx="11338560" cy="5440680"/>
          </a:xfrm>
          <a:prstGeom prst="rect">
            <a:avLst/>
          </a:prstGeom>
          <a:noFill/>
        </p:spPr>
        <p:txBody>
          <a:bodyPr wrap="square">
            <a:spAutoFit/>
          </a:bodyPr>
          <a:lstStyle/>
          <a:p>
            <a:pPr>
              <a:spcAft>
                <a:spcPts val="1000"/>
              </a:spcAft>
            </a:pPr>
            <a:r>
              <a:rPr sz="1600" b="0">
                <a:solidFill>
                  <a:srgbClr val="1E293B"/>
                </a:solidFill>
                <a:latin typeface="Calibri"/>
              </a:rPr>
              <a:t>DEP-20260914-apg — Apigee product + IPs (Shivanshi / API platform). Dev uses stubs.</a:t>
            </a:r>
          </a:p>
          <a:p>
            <a:pPr>
              <a:spcAft>
                <a:spcPts val="1000"/>
              </a:spcAft>
            </a:pPr>
            <a:r>
              <a:rPr sz="1600" b="0">
                <a:solidFill>
                  <a:srgbClr val="1E293B"/>
                </a:solidFill>
                <a:latin typeface="Calibri"/>
              </a:rPr>
              <a:t>DEP-20260824-dx1 — VPN then existing DX for UAT CBS. Dev stays on stubs.</a:t>
            </a:r>
          </a:p>
          <a:p>
            <a:pPr>
              <a:spcAft>
                <a:spcPts val="1000"/>
              </a:spcAft>
            </a:pPr>
            <a:r>
              <a:rPr sz="1600" b="0">
                <a:solidFill>
                  <a:srgbClr val="1E293B"/>
                </a:solidFill>
                <a:latin typeface="Calibri"/>
              </a:rPr>
              <a:t>ADR-010 remainder — Deepali accepts pod→Apigee inspection.</a:t>
            </a:r>
          </a:p>
          <a:p>
            <a:pPr>
              <a:spcAft>
                <a:spcPts val="1000"/>
              </a:spcAft>
            </a:pPr>
            <a:r>
              <a:rPr sz="1600" b="0">
                <a:solidFill>
                  <a:srgbClr val="1E293B"/>
                </a:solidFill>
                <a:latin typeface="Calibri"/>
              </a:rPr>
              <a:t>ID-11 — Fireframe SSO vs password-in-NIP (Deepali).</a:t>
            </a:r>
          </a:p>
          <a:p>
            <a:pPr>
              <a:spcAft>
                <a:spcPts val="1000"/>
              </a:spcAft>
            </a:pPr>
            <a:r>
              <a:rPr sz="1600" b="0">
                <a:solidFill>
                  <a:srgbClr val="1E293B"/>
                </a:solidFill>
                <a:latin typeface="Calibri"/>
              </a:rPr>
              <a:t>CAP-A* — Rajal volumes. NFR-DR-04 drill — Shivanshi, sitting 2.</a:t>
            </a:r>
          </a:p>
          <a:p>
            <a:pPr>
              <a:spcAft>
                <a:spcPts val="1000"/>
              </a:spcAft>
            </a:pPr>
            <a:r>
              <a:rPr sz="1600" b="0">
                <a:solidFill>
                  <a:srgbClr val="1E293B"/>
                </a:solidFill>
                <a:latin typeface="Calibri"/>
              </a:rPr>
              <a:t>Live capture in the room: ____________________________</a:t>
            </a:r>
          </a:p>
        </p:txBody>
      </p:sp>
      <p:sp>
        <p:nvSpPr>
          <p:cNvPr id="6" name="Rectangle 5"/>
          <p:cNvSpPr/>
          <p:nvPr/>
        </p:nvSpPr>
        <p:spPr>
          <a:xfrm>
            <a:off x="0" y="6601968"/>
            <a:ext cx="12191695" cy="2560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20256"/>
            <a:ext cx="10332720" cy="219456"/>
          </a:xfrm>
          <a:prstGeom prst="rect">
            <a:avLst/>
          </a:prstGeom>
          <a:noFill/>
        </p:spPr>
        <p:txBody>
          <a:bodyPr wrap="none">
            <a:spAutoFit/>
          </a:bodyPr>
          <a:lstStyle/>
          <a:p>
            <a:r>
              <a:rPr sz="800" b="0">
                <a:solidFill>
                  <a:srgbClr val="FFFFFF"/>
                </a:solidFill>
                <a:latin typeface="Calibri"/>
              </a:rPr>
              <a:t>FIRST REVIEW — DEV/UAT environment shape. Not production go-live, not DR-ready sign-off, not T4, not Board 4, not CIS re</a:t>
            </a:r>
          </a:p>
        </p:txBody>
      </p:sp>
      <p:sp>
        <p:nvSpPr>
          <p:cNvPr id="8" name="TextBox 7"/>
          <p:cNvSpPr txBox="1"/>
          <p:nvPr/>
        </p:nvSpPr>
        <p:spPr>
          <a:xfrm>
            <a:off x="10698480" y="6620256"/>
            <a:ext cx="1280160" cy="219456"/>
          </a:xfrm>
          <a:prstGeom prst="rect">
            <a:avLst/>
          </a:prstGeom>
          <a:noFill/>
        </p:spPr>
        <p:txBody>
          <a:bodyPr wrap="none">
            <a:spAutoFit/>
          </a:bodyPr>
          <a:lstStyle/>
          <a:p>
            <a:pPr algn="r"/>
            <a:r>
              <a:rPr sz="800" b="0">
                <a:solidFill>
                  <a:srgbClr val="FFFFFF"/>
                </a:solidFill>
                <a:latin typeface="Calibri"/>
              </a:rPr>
              <a:t>19 / 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132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13232"/>
            <a:ext cx="12191695" cy="54864"/>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146304"/>
            <a:ext cx="11521440" cy="475488"/>
          </a:xfrm>
          <a:prstGeom prst="rect">
            <a:avLst/>
          </a:prstGeom>
          <a:noFill/>
        </p:spPr>
        <p:txBody>
          <a:bodyPr wrap="none">
            <a:spAutoFit/>
          </a:bodyPr>
          <a:lstStyle/>
          <a:p>
            <a:r>
              <a:rPr sz="2000" b="1">
                <a:solidFill>
                  <a:srgbClr val="FFFFFF"/>
                </a:solidFill>
                <a:latin typeface="Calibri"/>
              </a:rPr>
              <a:t>Appendix — do not present unless asked</a:t>
            </a:r>
          </a:p>
        </p:txBody>
      </p:sp>
      <p:sp>
        <p:nvSpPr>
          <p:cNvPr id="5" name="TextBox 4"/>
          <p:cNvSpPr txBox="1"/>
          <p:nvPr/>
        </p:nvSpPr>
        <p:spPr>
          <a:xfrm>
            <a:off x="411480" y="960120"/>
            <a:ext cx="11338560" cy="5440680"/>
          </a:xfrm>
          <a:prstGeom prst="rect">
            <a:avLst/>
          </a:prstGeom>
          <a:noFill/>
        </p:spPr>
        <p:txBody>
          <a:bodyPr wrap="square">
            <a:spAutoFit/>
          </a:bodyPr>
          <a:lstStyle/>
          <a:p>
            <a:pPr>
              <a:spcAft>
                <a:spcPts val="1000"/>
              </a:spcAft>
            </a:pPr>
            <a:r>
              <a:rPr sz="1600" b="0">
                <a:solidFill>
                  <a:srgbClr val="1E293B"/>
                </a:solidFill>
                <a:latin typeface="Calibri"/>
              </a:rPr>
              <a:t>Next slides: network glossary in plain language, then FAQ we expect.</a:t>
            </a:r>
          </a:p>
          <a:p>
            <a:pPr>
              <a:spcAft>
                <a:spcPts val="1000"/>
              </a:spcAft>
            </a:pPr>
            <a:r>
              <a:rPr sz="1600" b="0">
                <a:solidFill>
                  <a:srgbClr val="1E293B"/>
                </a:solidFill>
                <a:latin typeface="Calibri"/>
              </a:rPr>
              <a:t>Leave-behind: PDF pack + Excel matrices + this deck.</a:t>
            </a:r>
          </a:p>
          <a:p>
            <a:pPr>
              <a:spcAft>
                <a:spcPts val="1000"/>
              </a:spcAft>
            </a:pPr>
            <a:r>
              <a:rPr sz="1600" b="0">
                <a:solidFill>
                  <a:srgbClr val="1E293B"/>
                </a:solidFill>
                <a:latin typeface="Calibri"/>
              </a:rPr>
              <a:t>Presenter: use presenter view — every slide has speaker notes.</a:t>
            </a:r>
          </a:p>
          <a:p>
            <a:pPr>
              <a:spcAft>
                <a:spcPts val="1000"/>
              </a:spcAft>
            </a:pPr>
            <a:r>
              <a:rPr sz="1600" b="0">
                <a:solidFill>
                  <a:srgbClr val="1E293B"/>
                </a:solidFill>
                <a:latin typeface="Calibri"/>
              </a:rPr>
              <a:t>If you do not know: Play 3. Never guess an IP or a pentest.</a:t>
            </a:r>
          </a:p>
        </p:txBody>
      </p:sp>
      <p:sp>
        <p:nvSpPr>
          <p:cNvPr id="6" name="Rectangle 5"/>
          <p:cNvSpPr/>
          <p:nvPr/>
        </p:nvSpPr>
        <p:spPr>
          <a:xfrm>
            <a:off x="0" y="6601968"/>
            <a:ext cx="12191695" cy="2560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20256"/>
            <a:ext cx="10332720" cy="219456"/>
          </a:xfrm>
          <a:prstGeom prst="rect">
            <a:avLst/>
          </a:prstGeom>
          <a:noFill/>
        </p:spPr>
        <p:txBody>
          <a:bodyPr wrap="none">
            <a:spAutoFit/>
          </a:bodyPr>
          <a:lstStyle/>
          <a:p>
            <a:r>
              <a:rPr sz="800" b="0">
                <a:solidFill>
                  <a:srgbClr val="FFFFFF"/>
                </a:solidFill>
                <a:latin typeface="Calibri"/>
              </a:rPr>
              <a:t>FIRST REVIEW — DEV/UAT environment shape. Not production go-live, not DR-ready sign-off, not T4, not Board 4, not CIS re</a:t>
            </a:r>
          </a:p>
        </p:txBody>
      </p:sp>
      <p:sp>
        <p:nvSpPr>
          <p:cNvPr id="8" name="TextBox 7"/>
          <p:cNvSpPr txBox="1"/>
          <p:nvPr/>
        </p:nvSpPr>
        <p:spPr>
          <a:xfrm>
            <a:off x="10698480" y="6620256"/>
            <a:ext cx="1280160" cy="219456"/>
          </a:xfrm>
          <a:prstGeom prst="rect">
            <a:avLst/>
          </a:prstGeom>
          <a:noFill/>
        </p:spPr>
        <p:txBody>
          <a:bodyPr wrap="none">
            <a:spAutoFit/>
          </a:bodyPr>
          <a:lstStyle/>
          <a:p>
            <a:pPr algn="r"/>
            <a:r>
              <a:rPr sz="800" b="0">
                <a:solidFill>
                  <a:srgbClr val="FFFFFF"/>
                </a:solidFill>
                <a:latin typeface="Calibri"/>
              </a:rPr>
              <a:t>20 / 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132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13232"/>
            <a:ext cx="12191695" cy="54864"/>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146304"/>
            <a:ext cx="11521440" cy="475488"/>
          </a:xfrm>
          <a:prstGeom prst="rect">
            <a:avLst/>
          </a:prstGeom>
          <a:noFill/>
        </p:spPr>
        <p:txBody>
          <a:bodyPr wrap="none">
            <a:spAutoFit/>
          </a:bodyPr>
          <a:lstStyle/>
          <a:p>
            <a:r>
              <a:rPr sz="2000" b="1">
                <a:solidFill>
                  <a:srgbClr val="FFFFFF"/>
                </a:solidFill>
                <a:latin typeface="Calibri"/>
              </a:rPr>
              <a:t>Appendix A — network words in one sentence each</a:t>
            </a:r>
          </a:p>
        </p:txBody>
      </p:sp>
      <p:graphicFrame>
        <p:nvGraphicFramePr>
          <p:cNvPr id="5" name="Table 4"/>
          <p:cNvGraphicFramePr>
            <a:graphicFrameLocks noGrp="1"/>
          </p:cNvGraphicFramePr>
          <p:nvPr/>
        </p:nvGraphicFramePr>
        <p:xfrm>
          <a:off x="274320" y="914400"/>
          <a:ext cx="11612880" cy="5440680"/>
        </p:xfrm>
        <a:graphic>
          <a:graphicData uri="http://schemas.openxmlformats.org/drawingml/2006/table">
            <a:tbl>
              <a:tblPr firstRow="1" bandRow="1">
                <a:tableStyleId>{5C22544A-7EE6-4342-B048-85BDC9FD1C3A}</a:tableStyleId>
              </a:tblPr>
              <a:tblGrid>
                <a:gridCol w="3870960"/>
                <a:gridCol w="3870960"/>
                <a:gridCol w="3870960"/>
              </a:tblGrid>
              <a:tr h="604520">
                <a:tc>
                  <a:txBody>
                    <a:bodyPr wrap="square"/>
                    <a:lstStyle/>
                    <a:p>
                      <a:r>
                        <a:rPr sz="1300" b="1">
                          <a:solidFill>
                            <a:srgbClr val="FFFFFF"/>
                          </a:solidFill>
                          <a:latin typeface="Calibri"/>
                        </a:rPr>
                        <a:t>Term</a:t>
                      </a:r>
                    </a:p>
                  </a:txBody>
                  <a:tcPr>
                    <a:solidFill>
                      <a:srgbClr val="003366"/>
                    </a:solidFill>
                  </a:tcPr>
                </a:tc>
                <a:tc>
                  <a:txBody>
                    <a:bodyPr wrap="square"/>
                    <a:lstStyle/>
                    <a:p>
                      <a:r>
                        <a:rPr sz="1300" b="1">
                          <a:solidFill>
                            <a:srgbClr val="FFFFFF"/>
                          </a:solidFill>
                          <a:latin typeface="Calibri"/>
                        </a:rPr>
                        <a:t>Plain meaning</a:t>
                      </a:r>
                    </a:p>
                  </a:txBody>
                  <a:tcPr>
                    <a:solidFill>
                      <a:srgbClr val="003366"/>
                    </a:solidFill>
                  </a:tcPr>
                </a:tc>
                <a:tc>
                  <a:txBody>
                    <a:bodyPr wrap="square"/>
                    <a:lstStyle/>
                    <a:p>
                      <a:r>
                        <a:rPr sz="1300" b="1">
                          <a:solidFill>
                            <a:srgbClr val="FFFFFF"/>
                          </a:solidFill>
                          <a:latin typeface="Calibri"/>
                        </a:rPr>
                        <a:t>How NIP uses it</a:t>
                      </a:r>
                    </a:p>
                  </a:txBody>
                  <a:tcPr>
                    <a:solidFill>
                      <a:srgbClr val="003366"/>
                    </a:solidFill>
                  </a:tcPr>
                </a:tc>
              </a:tr>
              <a:tr h="604520">
                <a:tc>
                  <a:txBody>
                    <a:bodyPr wrap="square"/>
                    <a:lstStyle/>
                    <a:p>
                      <a:r>
                        <a:rPr sz="1300" b="0">
                          <a:solidFill>
                            <a:srgbClr val="1E293B"/>
                          </a:solidFill>
                          <a:latin typeface="Calibri"/>
                        </a:rPr>
                        <a:t>Transit Gateway (TGW)</a:t>
                      </a:r>
                    </a:p>
                  </a:txBody>
                  <a:tcPr>
                    <a:solidFill>
                      <a:srgbClr val="F1F5F9"/>
                    </a:solidFill>
                  </a:tcPr>
                </a:tc>
                <a:tc>
                  <a:txBody>
                    <a:bodyPr wrap="square"/>
                    <a:lstStyle/>
                    <a:p>
                      <a:r>
                        <a:rPr sz="1300" b="0">
                          <a:solidFill>
                            <a:srgbClr val="1E293B"/>
                          </a:solidFill>
                          <a:latin typeface="Calibri"/>
                        </a:rPr>
                        <a:t>The bank's existing network roundabout</a:t>
                      </a:r>
                    </a:p>
                  </a:txBody>
                  <a:tcPr>
                    <a:solidFill>
                      <a:srgbClr val="F1F5F9"/>
                    </a:solidFill>
                  </a:tcPr>
                </a:tc>
                <a:tc>
                  <a:txBody>
                    <a:bodyPr wrap="square"/>
                    <a:lstStyle/>
                    <a:p>
                      <a:r>
                        <a:rPr sz="1300" b="0">
                          <a:solidFill>
                            <a:srgbClr val="1E293B"/>
                          </a:solidFill>
                          <a:latin typeface="Calibri"/>
                        </a:rPr>
                        <a:t>We attach a spoke. We do not build a second one.</a:t>
                      </a:r>
                    </a:p>
                  </a:txBody>
                  <a:tcPr>
                    <a:solidFill>
                      <a:srgbClr val="F1F5F9"/>
                    </a:solidFill>
                  </a:tcPr>
                </a:tc>
              </a:tr>
              <a:tr h="604520">
                <a:tc>
                  <a:txBody>
                    <a:bodyPr wrap="square"/>
                    <a:lstStyle/>
                    <a:p>
                      <a:r>
                        <a:rPr sz="1300" b="0">
                          <a:solidFill>
                            <a:srgbClr val="1E293B"/>
                          </a:solidFill>
                          <a:latin typeface="Calibri"/>
                        </a:rPr>
                        <a:t>Internet Gateway (IGW)</a:t>
                      </a:r>
                    </a:p>
                  </a:txBody>
                  <a:tcPr>
                    <a:solidFill>
                      <a:srgbClr val="FFFFFF"/>
                    </a:solidFill>
                  </a:tcPr>
                </a:tc>
                <a:tc>
                  <a:txBody>
                    <a:bodyPr wrap="square"/>
                    <a:lstStyle/>
                    <a:p>
                      <a:r>
                        <a:rPr sz="1300" b="0">
                          <a:solidFill>
                            <a:srgbClr val="1E293B"/>
                          </a:solidFill>
                          <a:latin typeface="Calibri"/>
                        </a:rPr>
                        <a:t>A VPC's door to the public internet</a:t>
                      </a:r>
                    </a:p>
                  </a:txBody>
                  <a:tcPr>
                    <a:solidFill>
                      <a:srgbClr val="FFFFFF"/>
                    </a:solidFill>
                  </a:tcPr>
                </a:tc>
                <a:tc>
                  <a:txBody>
                    <a:bodyPr wrap="square"/>
                    <a:lstStyle/>
                    <a:p>
                      <a:r>
                        <a:rPr sz="1300" b="0">
                          <a:solidFill>
                            <a:srgbClr val="1E293B"/>
                          </a:solidFill>
                          <a:latin typeface="Calibri"/>
                        </a:rPr>
                        <a:t>Only on the inspection VPC. Never on workload VPCs.</a:t>
                      </a:r>
                    </a:p>
                  </a:txBody>
                  <a:tcPr>
                    <a:solidFill>
                      <a:srgbClr val="FFFFFF"/>
                    </a:solidFill>
                  </a:tcPr>
                </a:tc>
              </a:tr>
              <a:tr h="604520">
                <a:tc>
                  <a:txBody>
                    <a:bodyPr wrap="square"/>
                    <a:lstStyle/>
                    <a:p>
                      <a:r>
                        <a:rPr sz="1300" b="0">
                          <a:solidFill>
                            <a:srgbClr val="1E293B"/>
                          </a:solidFill>
                          <a:latin typeface="Calibri"/>
                        </a:rPr>
                        <a:t>NAT Gateway</a:t>
                      </a:r>
                    </a:p>
                  </a:txBody>
                  <a:tcPr>
                    <a:solidFill>
                      <a:srgbClr val="F1F5F9"/>
                    </a:solidFill>
                  </a:tcPr>
                </a:tc>
                <a:tc>
                  <a:txBody>
                    <a:bodyPr wrap="square"/>
                    <a:lstStyle/>
                    <a:p>
                      <a:r>
                        <a:rPr sz="1300" b="0">
                          <a:solidFill>
                            <a:srgbClr val="1E293B"/>
                          </a:solidFill>
                          <a:latin typeface="Calibri"/>
                        </a:rPr>
                        <a:t>Lets private pods start outbound with a fixed public IP</a:t>
                      </a:r>
                    </a:p>
                  </a:txBody>
                  <a:tcPr>
                    <a:solidFill>
                      <a:srgbClr val="F1F5F9"/>
                    </a:solidFill>
                  </a:tcPr>
                </a:tc>
                <a:tc>
                  <a:txBody>
                    <a:bodyPr wrap="square"/>
                    <a:lstStyle/>
                    <a:p>
                      <a:r>
                        <a:rPr sz="1300" b="0">
                          <a:solidFill>
                            <a:srgbClr val="1E293B"/>
                          </a:solidFill>
                          <a:latin typeface="Calibri"/>
                        </a:rPr>
                        <a:t>Inspection VPC, toward Apigee. Not the 1SB allowlist.</a:t>
                      </a:r>
                    </a:p>
                  </a:txBody>
                  <a:tcPr>
                    <a:solidFill>
                      <a:srgbClr val="F1F5F9"/>
                    </a:solidFill>
                  </a:tcPr>
                </a:tc>
              </a:tr>
              <a:tr h="604520">
                <a:tc>
                  <a:txBody>
                    <a:bodyPr wrap="square"/>
                    <a:lstStyle/>
                    <a:p>
                      <a:r>
                        <a:rPr sz="1300" b="0">
                          <a:solidFill>
                            <a:srgbClr val="1E293B"/>
                          </a:solidFill>
                          <a:latin typeface="Calibri"/>
                        </a:rPr>
                        <a:t>Network Firewall (NFW)</a:t>
                      </a:r>
                    </a:p>
                  </a:txBody>
                  <a:tcPr>
                    <a:solidFill>
                      <a:srgbClr val="FFFFFF"/>
                    </a:solidFill>
                  </a:tcPr>
                </a:tc>
                <a:tc>
                  <a:txBody>
                    <a:bodyPr wrap="square"/>
                    <a:lstStyle/>
                    <a:p>
                      <a:r>
                        <a:rPr sz="1300" b="0">
                          <a:solidFill>
                            <a:srgbClr val="1E293B"/>
                          </a:solidFill>
                          <a:latin typeface="Calibri"/>
                        </a:rPr>
                        <a:t>AWS firewall on that outbound hop</a:t>
                      </a:r>
                    </a:p>
                  </a:txBody>
                  <a:tcPr>
                    <a:solidFill>
                      <a:srgbClr val="FFFFFF"/>
                    </a:solidFill>
                  </a:tcPr>
                </a:tc>
                <a:tc>
                  <a:txBody>
                    <a:bodyPr wrap="square"/>
                    <a:lstStyle/>
                    <a:p>
                      <a:r>
                        <a:rPr sz="1300" b="0">
                          <a:solidFill>
                            <a:srgbClr val="1E293B"/>
                          </a:solidFill>
                          <a:latin typeface="Calibri"/>
                        </a:rPr>
                        <a:t>May inspect pod→Apigee. Deepali accepts remainder.</a:t>
                      </a:r>
                    </a:p>
                  </a:txBody>
                  <a:tcPr>
                    <a:solidFill>
                      <a:srgbClr val="FFFFFF"/>
                    </a:solidFill>
                  </a:tcPr>
                </a:tc>
              </a:tr>
              <a:tr h="604520">
                <a:tc>
                  <a:txBody>
                    <a:bodyPr wrap="square"/>
                    <a:lstStyle/>
                    <a:p>
                      <a:r>
                        <a:rPr sz="1300" b="0">
                          <a:solidFill>
                            <a:srgbClr val="1E293B"/>
                          </a:solidFill>
                          <a:latin typeface="Calibri"/>
                        </a:rPr>
                        <a:t>FortiGate</a:t>
                      </a:r>
                    </a:p>
                  </a:txBody>
                  <a:tcPr>
                    <a:solidFill>
                      <a:srgbClr val="F1F5F9"/>
                    </a:solidFill>
                  </a:tcPr>
                </a:tc>
                <a:tc>
                  <a:txBody>
                    <a:bodyPr wrap="square"/>
                    <a:lstStyle/>
                    <a:p>
                      <a:r>
                        <a:rPr sz="1300" b="0">
                          <a:solidFill>
                            <a:srgbClr val="1E293B"/>
                          </a:solidFill>
                          <a:latin typeface="Calibri"/>
                        </a:rPr>
                        <a:t>Bank hub next-gen firewall in EDGE VPC</a:t>
                      </a:r>
                    </a:p>
                  </a:txBody>
                  <a:tcPr>
                    <a:solidFill>
                      <a:srgbClr val="F1F5F9"/>
                    </a:solidFill>
                  </a:tcPr>
                </a:tc>
                <a:tc>
                  <a:txBody>
                    <a:bodyPr wrap="square"/>
                    <a:lstStyle/>
                    <a:p>
                      <a:r>
                        <a:rPr sz="1300" b="0">
                          <a:solidFill>
                            <a:srgbClr val="1E293B"/>
                          </a:solidFill>
                          <a:latin typeface="Calibri"/>
                        </a:rPr>
                        <a:t>Already exists. We do not drop a pair in our VPC.</a:t>
                      </a:r>
                    </a:p>
                  </a:txBody>
                  <a:tcPr>
                    <a:solidFill>
                      <a:srgbClr val="F1F5F9"/>
                    </a:solidFill>
                  </a:tcPr>
                </a:tc>
              </a:tr>
              <a:tr h="604520">
                <a:tc>
                  <a:txBody>
                    <a:bodyPr wrap="square"/>
                    <a:lstStyle/>
                    <a:p>
                      <a:r>
                        <a:rPr sz="1300" b="0">
                          <a:solidFill>
                            <a:srgbClr val="1E293B"/>
                          </a:solidFill>
                          <a:latin typeface="Calibri"/>
                        </a:rPr>
                        <a:t>Internal ALB</a:t>
                      </a:r>
                    </a:p>
                  </a:txBody>
                  <a:tcPr>
                    <a:solidFill>
                      <a:srgbClr val="FFFFFF"/>
                    </a:solidFill>
                  </a:tcPr>
                </a:tc>
                <a:tc>
                  <a:txBody>
                    <a:bodyPr wrap="square"/>
                    <a:lstStyle/>
                    <a:p>
                      <a:r>
                        <a:rPr sz="1300" b="0">
                          <a:solidFill>
                            <a:srgbClr val="1E293B"/>
                          </a:solidFill>
                          <a:latin typeface="Calibri"/>
                        </a:rPr>
                        <a:t>Load balancer with no public IP</a:t>
                      </a:r>
                    </a:p>
                  </a:txBody>
                  <a:tcPr>
                    <a:solidFill>
                      <a:srgbClr val="FFFFFF"/>
                    </a:solidFill>
                  </a:tcPr>
                </a:tc>
                <a:tc>
                  <a:txBody>
                    <a:bodyPr wrap="square"/>
                    <a:lstStyle/>
                    <a:p>
                      <a:r>
                        <a:rPr sz="1300" b="0">
                          <a:solidFill>
                            <a:srgbClr val="1E293B"/>
                          </a:solidFill>
                          <a:latin typeface="Calibri"/>
                        </a:rPr>
                        <a:t>The only LB inside our VPC.</a:t>
                      </a:r>
                    </a:p>
                  </a:txBody>
                  <a:tcPr>
                    <a:solidFill>
                      <a:srgbClr val="FFFFFF"/>
                    </a:solidFill>
                  </a:tcPr>
                </a:tc>
              </a:tr>
              <a:tr h="604520">
                <a:tc>
                  <a:txBody>
                    <a:bodyPr wrap="square"/>
                    <a:lstStyle/>
                    <a:p>
                      <a:r>
                        <a:rPr sz="1300" b="0">
                          <a:solidFill>
                            <a:srgbClr val="1E293B"/>
                          </a:solidFill>
                          <a:latin typeface="Calibri"/>
                        </a:rPr>
                        <a:t>API Gateway</a:t>
                      </a:r>
                    </a:p>
                  </a:txBody>
                  <a:tcPr>
                    <a:solidFill>
                      <a:srgbClr val="F1F5F9"/>
                    </a:solidFill>
                  </a:tcPr>
                </a:tc>
                <a:tc>
                  <a:txBody>
                    <a:bodyPr wrap="square"/>
                    <a:lstStyle/>
                    <a:p>
                      <a:r>
                        <a:rPr sz="1300" b="0">
                          <a:solidFill>
                            <a:srgbClr val="1E293B"/>
                          </a:solidFill>
                          <a:latin typeface="Calibri"/>
                        </a:rPr>
                        <a:t>AWS managed front door</a:t>
                      </a:r>
                    </a:p>
                  </a:txBody>
                  <a:tcPr>
                    <a:solidFill>
                      <a:srgbClr val="F1F5F9"/>
                    </a:solidFill>
                  </a:tcPr>
                </a:tc>
                <a:tc>
                  <a:txBody>
                    <a:bodyPr wrap="square"/>
                    <a:lstStyle/>
                    <a:p>
                      <a:r>
                        <a:rPr sz="1300" b="0">
                          <a:solidFill>
                            <a:srgbClr val="1E293B"/>
                          </a:solidFill>
                          <a:latin typeface="Calibri"/>
                        </a:rPr>
                        <a:t>Inbound only. Not Apigee.</a:t>
                      </a:r>
                    </a:p>
                  </a:txBody>
                  <a:tcPr>
                    <a:solidFill>
                      <a:srgbClr val="F1F5F9"/>
                    </a:solidFill>
                  </a:tcPr>
                </a:tc>
              </a:tr>
              <a:tr h="604520">
                <a:tc>
                  <a:txBody>
                    <a:bodyPr wrap="square"/>
                    <a:lstStyle/>
                    <a:p>
                      <a:r>
                        <a:rPr sz="1300" b="0">
                          <a:solidFill>
                            <a:srgbClr val="1E293B"/>
                          </a:solidFill>
                          <a:latin typeface="Calibri"/>
                        </a:rPr>
                        <a:t>Apigee</a:t>
                      </a:r>
                    </a:p>
                  </a:txBody>
                  <a:tcPr>
                    <a:solidFill>
                      <a:srgbClr val="FFFFFF"/>
                    </a:solidFill>
                  </a:tcPr>
                </a:tc>
                <a:tc>
                  <a:txBody>
                    <a:bodyPr wrap="square"/>
                    <a:lstStyle/>
                    <a:p>
                      <a:r>
                        <a:rPr sz="1300" b="0">
                          <a:solidFill>
                            <a:srgbClr val="1E293B"/>
                          </a:solidFill>
                          <a:latin typeface="Calibri"/>
                        </a:rPr>
                        <a:t>Bank outbound API plane</a:t>
                      </a:r>
                    </a:p>
                  </a:txBody>
                  <a:tcPr>
                    <a:solidFill>
                      <a:srgbClr val="FFFFFF"/>
                    </a:solidFill>
                  </a:tcPr>
                </a:tc>
                <a:tc>
                  <a:txBody>
                    <a:bodyPr wrap="square"/>
                    <a:lstStyle/>
                    <a:p>
                      <a:r>
                        <a:rPr sz="1300" b="0">
                          <a:solidFill>
                            <a:srgbClr val="1E293B"/>
                          </a:solidFill>
                          <a:latin typeface="Calibri"/>
                        </a:rPr>
                        <a:t>1SB, SMS, AD-verify, EBS. Outside our VPC.</a:t>
                      </a:r>
                    </a:p>
                  </a:txBody>
                  <a:tcPr>
                    <a:solidFill>
                      <a:srgbClr val="FFFFFF"/>
                    </a:solidFill>
                  </a:tcPr>
                </a:tc>
              </a:tr>
            </a:tbl>
          </a:graphicData>
        </a:graphic>
      </p:graphicFrame>
      <p:sp>
        <p:nvSpPr>
          <p:cNvPr id="6" name="Rectangle 5"/>
          <p:cNvSpPr/>
          <p:nvPr/>
        </p:nvSpPr>
        <p:spPr>
          <a:xfrm>
            <a:off x="0" y="6601968"/>
            <a:ext cx="12191695" cy="2560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20256"/>
            <a:ext cx="10332720" cy="219456"/>
          </a:xfrm>
          <a:prstGeom prst="rect">
            <a:avLst/>
          </a:prstGeom>
          <a:noFill/>
        </p:spPr>
        <p:txBody>
          <a:bodyPr wrap="none">
            <a:spAutoFit/>
          </a:bodyPr>
          <a:lstStyle/>
          <a:p>
            <a:r>
              <a:rPr sz="800" b="0">
                <a:solidFill>
                  <a:srgbClr val="FFFFFF"/>
                </a:solidFill>
                <a:latin typeface="Calibri"/>
              </a:rPr>
              <a:t>FIRST REVIEW — DEV/UAT environment shape. Not production go-live, not DR-ready sign-off, not T4, not Board 4, not CIS re</a:t>
            </a:r>
          </a:p>
        </p:txBody>
      </p:sp>
      <p:sp>
        <p:nvSpPr>
          <p:cNvPr id="8" name="TextBox 7"/>
          <p:cNvSpPr txBox="1"/>
          <p:nvPr/>
        </p:nvSpPr>
        <p:spPr>
          <a:xfrm>
            <a:off x="10698480" y="6620256"/>
            <a:ext cx="1280160" cy="219456"/>
          </a:xfrm>
          <a:prstGeom prst="rect">
            <a:avLst/>
          </a:prstGeom>
          <a:noFill/>
        </p:spPr>
        <p:txBody>
          <a:bodyPr wrap="none">
            <a:spAutoFit/>
          </a:bodyPr>
          <a:lstStyle/>
          <a:p>
            <a:pPr algn="r"/>
            <a:r>
              <a:rPr sz="800" b="0">
                <a:solidFill>
                  <a:srgbClr val="FFFFFF"/>
                </a:solidFill>
                <a:latin typeface="Calibri"/>
              </a:rPr>
              <a:t>21 /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132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13232"/>
            <a:ext cx="12191695" cy="54864"/>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146304"/>
            <a:ext cx="11521440" cy="475488"/>
          </a:xfrm>
          <a:prstGeom prst="rect">
            <a:avLst/>
          </a:prstGeom>
          <a:noFill/>
        </p:spPr>
        <p:txBody>
          <a:bodyPr wrap="none">
            <a:spAutoFit/>
          </a:bodyPr>
          <a:lstStyle/>
          <a:p>
            <a:r>
              <a:rPr sz="2000" b="1">
                <a:solidFill>
                  <a:srgbClr val="FFFFFF"/>
                </a:solidFill>
                <a:latin typeface="Calibri"/>
              </a:rPr>
              <a:t>Appendix B — five plays when you do not know</a:t>
            </a:r>
          </a:p>
        </p:txBody>
      </p:sp>
      <p:graphicFrame>
        <p:nvGraphicFramePr>
          <p:cNvPr id="5" name="Table 4"/>
          <p:cNvGraphicFramePr>
            <a:graphicFrameLocks noGrp="1"/>
          </p:cNvGraphicFramePr>
          <p:nvPr/>
        </p:nvGraphicFramePr>
        <p:xfrm>
          <a:off x="274320" y="914400"/>
          <a:ext cx="11612880" cy="5440680"/>
        </p:xfrm>
        <a:graphic>
          <a:graphicData uri="http://schemas.openxmlformats.org/drawingml/2006/table">
            <a:tbl>
              <a:tblPr firstRow="1" bandRow="1">
                <a:tableStyleId>{5C22544A-7EE6-4342-B048-85BDC9FD1C3A}</a:tableStyleId>
              </a:tblPr>
              <a:tblGrid>
                <a:gridCol w="5806440"/>
                <a:gridCol w="5806440"/>
              </a:tblGrid>
              <a:tr h="906780">
                <a:tc>
                  <a:txBody>
                    <a:bodyPr wrap="square"/>
                    <a:lstStyle/>
                    <a:p>
                      <a:r>
                        <a:rPr sz="1300" b="1">
                          <a:solidFill>
                            <a:srgbClr val="FFFFFF"/>
                          </a:solidFill>
                          <a:latin typeface="Calibri"/>
                        </a:rPr>
                        <a:t>Play</a:t>
                      </a:r>
                    </a:p>
                  </a:txBody>
                  <a:tcPr>
                    <a:solidFill>
                      <a:srgbClr val="003366"/>
                    </a:solidFill>
                  </a:tcPr>
                </a:tc>
                <a:tc>
                  <a:txBody>
                    <a:bodyPr wrap="square"/>
                    <a:lstStyle/>
                    <a:p>
                      <a:r>
                        <a:rPr sz="1300" b="1">
                          <a:solidFill>
                            <a:srgbClr val="FFFFFF"/>
                          </a:solidFill>
                          <a:latin typeface="Calibri"/>
                        </a:rPr>
                        <a:t>Exact words in the room</a:t>
                      </a:r>
                    </a:p>
                  </a:txBody>
                  <a:tcPr>
                    <a:solidFill>
                      <a:srgbClr val="003366"/>
                    </a:solidFill>
                  </a:tcPr>
                </a:tc>
              </a:tr>
              <a:tr h="906780">
                <a:tc>
                  <a:txBody>
                    <a:bodyPr wrap="square"/>
                    <a:lstStyle/>
                    <a:p>
                      <a:r>
                        <a:rPr sz="1300" b="0">
                          <a:solidFill>
                            <a:srgbClr val="1E293B"/>
                          </a:solidFill>
                          <a:latin typeface="Calibri"/>
                        </a:rPr>
                        <a:t>1 Cite and stop</a:t>
                      </a:r>
                    </a:p>
                  </a:txBody>
                  <a:tcPr>
                    <a:solidFill>
                      <a:srgbClr val="F1F5F9"/>
                    </a:solidFill>
                  </a:tcPr>
                </a:tc>
                <a:tc>
                  <a:txBody>
                    <a:bodyPr wrap="square"/>
                    <a:lstStyle/>
                    <a:p>
                      <a:r>
                        <a:rPr sz="1300" b="0">
                          <a:solidFill>
                            <a:srgbClr val="1E293B"/>
                          </a:solidFill>
                          <a:latin typeface="Calibri"/>
                        </a:rPr>
                        <a:t>That is in ADR-0XX. I will not re-litigate it from memory.</a:t>
                      </a:r>
                    </a:p>
                  </a:txBody>
                  <a:tcPr>
                    <a:solidFill>
                      <a:srgbClr val="F1F5F9"/>
                    </a:solidFill>
                  </a:tcPr>
                </a:tc>
              </a:tr>
              <a:tr h="906780">
                <a:tc>
                  <a:txBody>
                    <a:bodyPr wrap="square"/>
                    <a:lstStyle/>
                    <a:p>
                      <a:r>
                        <a:rPr sz="1300" b="0">
                          <a:solidFill>
                            <a:srgbClr val="1E293B"/>
                          </a:solidFill>
                          <a:latin typeface="Calibri"/>
                        </a:rPr>
                        <a:t>2 Name the owner</a:t>
                      </a:r>
                    </a:p>
                  </a:txBody>
                  <a:tcPr>
                    <a:solidFill>
                      <a:srgbClr val="FFFFFF"/>
                    </a:solidFill>
                  </a:tcPr>
                </a:tc>
                <a:tc>
                  <a:txBody>
                    <a:bodyPr wrap="square"/>
                    <a:lstStyle/>
                    <a:p>
                      <a:r>
                        <a:rPr sz="1300" b="0">
                          <a:solidFill>
                            <a:srgbClr val="1E293B"/>
                          </a:solidFill>
                          <a:latin typeface="Calibri"/>
                        </a:rPr>
                        <a:t>Structure is Architecture's. Residual sits with Deepali / Shivanshi / Apigee.</a:t>
                      </a:r>
                    </a:p>
                  </a:txBody>
                  <a:tcPr>
                    <a:solidFill>
                      <a:srgbClr val="FFFFFF"/>
                    </a:solidFill>
                  </a:tcPr>
                </a:tc>
              </a:tr>
              <a:tr h="906780">
                <a:tc>
                  <a:txBody>
                    <a:bodyPr wrap="square"/>
                    <a:lstStyle/>
                    <a:p>
                      <a:r>
                        <a:rPr sz="1300" b="0">
                          <a:solidFill>
                            <a:srgbClr val="1E293B"/>
                          </a:solidFill>
                          <a:latin typeface="Calibri"/>
                        </a:rPr>
                        <a:t>3 Action, dated, non-blocking</a:t>
                      </a:r>
                    </a:p>
                  </a:txBody>
                  <a:tcPr>
                    <a:solidFill>
                      <a:srgbClr val="F1F5F9"/>
                    </a:solidFill>
                  </a:tcPr>
                </a:tc>
                <a:tc>
                  <a:txBody>
                    <a:bodyPr wrap="square"/>
                    <a:lstStyle/>
                    <a:p>
                      <a:r>
                        <a:rPr sz="1300" b="0">
                          <a:solidFill>
                            <a:srgbClr val="1E293B"/>
                          </a:solidFill>
                          <a:latin typeface="Calibri"/>
                        </a:rPr>
                        <a:t>I will not invent a number. Action by [date] with [owner]. Does not change vpc-dev.</a:t>
                      </a:r>
                    </a:p>
                  </a:txBody>
                  <a:tcPr>
                    <a:solidFill>
                      <a:srgbClr val="F1F5F9"/>
                    </a:solidFill>
                  </a:tcPr>
                </a:tc>
              </a:tr>
              <a:tr h="906780">
                <a:tc>
                  <a:txBody>
                    <a:bodyPr wrap="square"/>
                    <a:lstStyle/>
                    <a:p>
                      <a:r>
                        <a:rPr sz="1300" b="0">
                          <a:solidFill>
                            <a:srgbClr val="1E293B"/>
                          </a:solidFill>
                          <a:latin typeface="Calibri"/>
                        </a:rPr>
                        <a:t>4 Wrong sitting</a:t>
                      </a:r>
                    </a:p>
                  </a:txBody>
                  <a:tcPr>
                    <a:solidFill>
                      <a:srgbClr val="FFFFFF"/>
                    </a:solidFill>
                  </a:tcPr>
                </a:tc>
                <a:tc>
                  <a:txBody>
                    <a:bodyPr wrap="square"/>
                    <a:lstStyle/>
                    <a:p>
                      <a:r>
                        <a:rPr sz="1300" b="0">
                          <a:solidFill>
                            <a:srgbClr val="1E293B"/>
                          </a:solidFill>
                          <a:latin typeface="Calibri"/>
                        </a:rPr>
                        <a:t>That is production / DR / VA-PT. We bring evidence to sitting 2.</a:t>
                      </a:r>
                    </a:p>
                  </a:txBody>
                  <a:tcPr>
                    <a:solidFill>
                      <a:srgbClr val="FFFFFF"/>
                    </a:solidFill>
                  </a:tcPr>
                </a:tc>
              </a:tr>
              <a:tr h="906780">
                <a:tc>
                  <a:txBody>
                    <a:bodyPr wrap="square"/>
                    <a:lstStyle/>
                    <a:p>
                      <a:r>
                        <a:rPr sz="1300" b="0">
                          <a:solidFill>
                            <a:srgbClr val="1E293B"/>
                          </a:solidFill>
                          <a:latin typeface="Calibri"/>
                        </a:rPr>
                        <a:t>5 Never guess</a:t>
                      </a:r>
                    </a:p>
                  </a:txBody>
                  <a:tcPr>
                    <a:solidFill>
                      <a:srgbClr val="F1F5F9"/>
                    </a:solidFill>
                  </a:tcPr>
                </a:tc>
                <a:tc>
                  <a:txBody>
                    <a:bodyPr wrap="square"/>
                    <a:lstStyle/>
                    <a:p>
                      <a:r>
                        <a:rPr sz="1300" b="0">
                          <a:solidFill>
                            <a:srgbClr val="1E293B"/>
                          </a:solidFill>
                          <a:latin typeface="Calibri"/>
                        </a:rPr>
                        <a:t>I will not guess an IP, a pentest, a restore time, or a CIS class.</a:t>
                      </a:r>
                    </a:p>
                  </a:txBody>
                  <a:tcPr>
                    <a:solidFill>
                      <a:srgbClr val="F1F5F9"/>
                    </a:solidFill>
                  </a:tcPr>
                </a:tc>
              </a:tr>
            </a:tbl>
          </a:graphicData>
        </a:graphic>
      </p:graphicFrame>
      <p:sp>
        <p:nvSpPr>
          <p:cNvPr id="6" name="Rectangle 5"/>
          <p:cNvSpPr/>
          <p:nvPr/>
        </p:nvSpPr>
        <p:spPr>
          <a:xfrm>
            <a:off x="0" y="6601968"/>
            <a:ext cx="12191695" cy="2560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20256"/>
            <a:ext cx="10332720" cy="219456"/>
          </a:xfrm>
          <a:prstGeom prst="rect">
            <a:avLst/>
          </a:prstGeom>
          <a:noFill/>
        </p:spPr>
        <p:txBody>
          <a:bodyPr wrap="none">
            <a:spAutoFit/>
          </a:bodyPr>
          <a:lstStyle/>
          <a:p>
            <a:r>
              <a:rPr sz="800" b="0">
                <a:solidFill>
                  <a:srgbClr val="FFFFFF"/>
                </a:solidFill>
                <a:latin typeface="Calibri"/>
              </a:rPr>
              <a:t>FIRST REVIEW — DEV/UAT environment shape. Not production go-live, not DR-ready sign-off, not T4, not Board 4, not CIS re</a:t>
            </a:r>
          </a:p>
        </p:txBody>
      </p:sp>
      <p:sp>
        <p:nvSpPr>
          <p:cNvPr id="8" name="TextBox 7"/>
          <p:cNvSpPr txBox="1"/>
          <p:nvPr/>
        </p:nvSpPr>
        <p:spPr>
          <a:xfrm>
            <a:off x="10698480" y="6620256"/>
            <a:ext cx="1280160" cy="219456"/>
          </a:xfrm>
          <a:prstGeom prst="rect">
            <a:avLst/>
          </a:prstGeom>
          <a:noFill/>
        </p:spPr>
        <p:txBody>
          <a:bodyPr wrap="none">
            <a:spAutoFit/>
          </a:bodyPr>
          <a:lstStyle/>
          <a:p>
            <a:pPr algn="r"/>
            <a:r>
              <a:rPr sz="800" b="0">
                <a:solidFill>
                  <a:srgbClr val="FFFFFF"/>
                </a:solidFill>
                <a:latin typeface="Calibri"/>
              </a:rPr>
              <a:t>22 /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132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13232"/>
            <a:ext cx="12191695" cy="54864"/>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146304"/>
            <a:ext cx="11521440" cy="475488"/>
          </a:xfrm>
          <a:prstGeom prst="rect">
            <a:avLst/>
          </a:prstGeom>
          <a:noFill/>
        </p:spPr>
        <p:txBody>
          <a:bodyPr wrap="none">
            <a:spAutoFit/>
          </a:bodyPr>
          <a:lstStyle/>
          <a:p>
            <a:r>
              <a:rPr sz="2000" b="1">
                <a:solidFill>
                  <a:srgbClr val="FFFFFF"/>
                </a:solidFill>
                <a:latin typeface="Calibri"/>
              </a:rPr>
              <a:t>Appendix C — questions we expect (answers in FAQ Excel)</a:t>
            </a:r>
          </a:p>
        </p:txBody>
      </p:sp>
      <p:graphicFrame>
        <p:nvGraphicFramePr>
          <p:cNvPr id="5" name="Table 4"/>
          <p:cNvGraphicFramePr>
            <a:graphicFrameLocks noGrp="1"/>
          </p:cNvGraphicFramePr>
          <p:nvPr/>
        </p:nvGraphicFramePr>
        <p:xfrm>
          <a:off x="274320" y="914400"/>
          <a:ext cx="11612880" cy="5440680"/>
        </p:xfrm>
        <a:graphic>
          <a:graphicData uri="http://schemas.openxmlformats.org/drawingml/2006/table">
            <a:tbl>
              <a:tblPr firstRow="1" bandRow="1">
                <a:tableStyleId>{5C22544A-7EE6-4342-B048-85BDC9FD1C3A}</a:tableStyleId>
              </a:tblPr>
              <a:tblGrid>
                <a:gridCol w="3870960"/>
                <a:gridCol w="3870960"/>
                <a:gridCol w="3870960"/>
              </a:tblGrid>
              <a:tr h="604520">
                <a:tc>
                  <a:txBody>
                    <a:bodyPr wrap="square"/>
                    <a:lstStyle/>
                    <a:p>
                      <a:r>
                        <a:rPr sz="1300" b="1">
                          <a:solidFill>
                            <a:srgbClr val="FFFFFF"/>
                          </a:solidFill>
                          <a:latin typeface="Calibri"/>
                        </a:rPr>
                        <a:t>They will ask</a:t>
                      </a:r>
                    </a:p>
                  </a:txBody>
                  <a:tcPr>
                    <a:solidFill>
                      <a:srgbClr val="003366"/>
                    </a:solidFill>
                  </a:tcPr>
                </a:tc>
                <a:tc>
                  <a:txBody>
                    <a:bodyPr wrap="square"/>
                    <a:lstStyle/>
                    <a:p>
                      <a:r>
                        <a:rPr sz="1300" b="1">
                          <a:solidFill>
                            <a:srgbClr val="FFFFFF"/>
                          </a:solidFill>
                          <a:latin typeface="Calibri"/>
                        </a:rPr>
                        <a:t>One-line answer</a:t>
                      </a:r>
                    </a:p>
                  </a:txBody>
                  <a:tcPr>
                    <a:solidFill>
                      <a:srgbClr val="003366"/>
                    </a:solidFill>
                  </a:tcPr>
                </a:tc>
                <a:tc>
                  <a:txBody>
                    <a:bodyPr wrap="square"/>
                    <a:lstStyle/>
                    <a:p>
                      <a:r>
                        <a:rPr sz="1300" b="1">
                          <a:solidFill>
                            <a:srgbClr val="FFFFFF"/>
                          </a:solidFill>
                          <a:latin typeface="Calibri"/>
                        </a:rPr>
                        <a:t>Cite</a:t>
                      </a:r>
                    </a:p>
                  </a:txBody>
                  <a:tcPr>
                    <a:solidFill>
                      <a:srgbClr val="003366"/>
                    </a:solidFill>
                  </a:tcPr>
                </a:tc>
              </a:tr>
              <a:tr h="604520">
                <a:tc>
                  <a:txBody>
                    <a:bodyPr wrap="square"/>
                    <a:lstStyle/>
                    <a:p>
                      <a:r>
                        <a:rPr sz="1300" b="0">
                          <a:solidFill>
                            <a:srgbClr val="1E293B"/>
                          </a:solidFill>
                          <a:latin typeface="Calibri"/>
                        </a:rPr>
                        <a:t>Why not public ALB?</a:t>
                      </a:r>
                    </a:p>
                  </a:txBody>
                  <a:tcPr>
                    <a:solidFill>
                      <a:srgbClr val="F1F5F9"/>
                    </a:solidFill>
                  </a:tcPr>
                </a:tc>
                <a:tc>
                  <a:txBody>
                    <a:bodyPr wrap="square"/>
                    <a:lstStyle/>
                    <a:p>
                      <a:r>
                        <a:rPr sz="1300" b="0">
                          <a:solidFill>
                            <a:srgbClr val="1E293B"/>
                          </a:solidFill>
                          <a:latin typeface="Calibri"/>
                        </a:rPr>
                        <a:t>API Gateway + Internal ALB. Neighbour pattern is not ours.</a:t>
                      </a:r>
                    </a:p>
                  </a:txBody>
                  <a:tcPr>
                    <a:solidFill>
                      <a:srgbClr val="F1F5F9"/>
                    </a:solidFill>
                  </a:tcPr>
                </a:tc>
                <a:tc>
                  <a:txBody>
                    <a:bodyPr wrap="square"/>
                    <a:lstStyle/>
                    <a:p>
                      <a:r>
                        <a:rPr sz="1300" b="0">
                          <a:solidFill>
                            <a:srgbClr val="1E293B"/>
                          </a:solidFill>
                          <a:latin typeface="Calibri"/>
                        </a:rPr>
                        <a:t>ADR-018</a:t>
                      </a:r>
                    </a:p>
                  </a:txBody>
                  <a:tcPr>
                    <a:solidFill>
                      <a:srgbClr val="F1F5F9"/>
                    </a:solidFill>
                  </a:tcPr>
                </a:tc>
              </a:tr>
              <a:tr h="604520">
                <a:tc>
                  <a:txBody>
                    <a:bodyPr wrap="square"/>
                    <a:lstStyle/>
                    <a:p>
                      <a:r>
                        <a:rPr sz="1300" b="0">
                          <a:solidFill>
                            <a:srgbClr val="1E293B"/>
                          </a:solidFill>
                          <a:latin typeface="Calibri"/>
                        </a:rPr>
                        <a:t>Why two API products?</a:t>
                      </a:r>
                    </a:p>
                  </a:txBody>
                  <a:tcPr>
                    <a:solidFill>
                      <a:srgbClr val="FFFFFF"/>
                    </a:solidFill>
                  </a:tcPr>
                </a:tc>
                <a:tc>
                  <a:txBody>
                    <a:bodyPr wrap="square"/>
                    <a:lstStyle/>
                    <a:p>
                      <a:r>
                        <a:rPr sz="1300" b="0">
                          <a:solidFill>
                            <a:srgbClr val="1E293B"/>
                          </a:solidFill>
                          <a:latin typeface="Calibri"/>
                        </a:rPr>
                        <a:t>Inbound = API Gateway. Outbound = Apigee. Different jobs.</a:t>
                      </a:r>
                    </a:p>
                  </a:txBody>
                  <a:tcPr>
                    <a:solidFill>
                      <a:srgbClr val="FFFFFF"/>
                    </a:solidFill>
                  </a:tcPr>
                </a:tc>
                <a:tc>
                  <a:txBody>
                    <a:bodyPr wrap="square"/>
                    <a:lstStyle/>
                    <a:p>
                      <a:r>
                        <a:rPr sz="1300" b="0">
                          <a:solidFill>
                            <a:srgbClr val="1E293B"/>
                          </a:solidFill>
                          <a:latin typeface="Calibri"/>
                        </a:rPr>
                        <a:t>ADR-020</a:t>
                      </a:r>
                    </a:p>
                  </a:txBody>
                  <a:tcPr>
                    <a:solidFill>
                      <a:srgbClr val="FFFFFF"/>
                    </a:solidFill>
                  </a:tcPr>
                </a:tc>
              </a:tr>
              <a:tr h="604520">
                <a:tc>
                  <a:txBody>
                    <a:bodyPr wrap="square"/>
                    <a:lstStyle/>
                    <a:p>
                      <a:r>
                        <a:rPr sz="1300" b="0">
                          <a:solidFill>
                            <a:srgbClr val="1E293B"/>
                          </a:solidFill>
                          <a:latin typeface="Calibri"/>
                        </a:rPr>
                        <a:t>Give us 1SB IPs now</a:t>
                      </a:r>
                    </a:p>
                  </a:txBody>
                  <a:tcPr>
                    <a:solidFill>
                      <a:srgbClr val="F1F5F9"/>
                    </a:solidFill>
                  </a:tcPr>
                </a:tc>
                <a:tc>
                  <a:txBody>
                    <a:bodyPr wrap="square"/>
                    <a:lstStyle/>
                    <a:p>
                      <a:r>
                        <a:rPr sz="1300" b="0">
                          <a:solidFill>
                            <a:srgbClr val="1E293B"/>
                          </a:solidFill>
                          <a:latin typeface="Calibri"/>
                        </a:rPr>
                        <a:t>I will not invent IPs. Dev uses stubs. DEP-20260914-apg.</a:t>
                      </a:r>
                    </a:p>
                  </a:txBody>
                  <a:tcPr>
                    <a:solidFill>
                      <a:srgbClr val="F1F5F9"/>
                    </a:solidFill>
                  </a:tcPr>
                </a:tc>
                <a:tc>
                  <a:txBody>
                    <a:bodyPr wrap="square"/>
                    <a:lstStyle/>
                    <a:p>
                      <a:r>
                        <a:rPr sz="1300" b="0">
                          <a:solidFill>
                            <a:srgbClr val="1E293B"/>
                          </a:solidFill>
                          <a:latin typeface="Calibri"/>
                        </a:rPr>
                        <a:t>Play 3</a:t>
                      </a:r>
                    </a:p>
                  </a:txBody>
                  <a:tcPr>
                    <a:solidFill>
                      <a:srgbClr val="F1F5F9"/>
                    </a:solidFill>
                  </a:tcPr>
                </a:tc>
              </a:tr>
              <a:tr h="604520">
                <a:tc>
                  <a:txBody>
                    <a:bodyPr wrap="square"/>
                    <a:lstStyle/>
                    <a:p>
                      <a:r>
                        <a:rPr sz="1300" b="0">
                          <a:solidFill>
                            <a:srgbClr val="1E293B"/>
                          </a:solidFill>
                          <a:latin typeface="Calibri"/>
                        </a:rPr>
                        <a:t>Why NFW not FortiGate in spoke?</a:t>
                      </a:r>
                    </a:p>
                  </a:txBody>
                  <a:tcPr>
                    <a:solidFill>
                      <a:srgbClr val="FFFFFF"/>
                    </a:solidFill>
                  </a:tcPr>
                </a:tc>
                <a:tc>
                  <a:txBody>
                    <a:bodyPr wrap="square"/>
                    <a:lstStyle/>
                    <a:p>
                      <a:r>
                        <a:rPr sz="1300" b="0">
                          <a:solidFill>
                            <a:srgbClr val="1E293B"/>
                          </a:solidFill>
                          <a:latin typeface="Calibri"/>
                        </a:rPr>
                        <a:t>FortiGate already in EDGE. Do not clone.</a:t>
                      </a:r>
                    </a:p>
                  </a:txBody>
                  <a:tcPr>
                    <a:solidFill>
                      <a:srgbClr val="FFFFFF"/>
                    </a:solidFill>
                  </a:tcPr>
                </a:tc>
                <a:tc>
                  <a:txBody>
                    <a:bodyPr wrap="square"/>
                    <a:lstStyle/>
                    <a:p>
                      <a:r>
                        <a:rPr sz="1300" b="0">
                          <a:solidFill>
                            <a:srgbClr val="1E293B"/>
                          </a:solidFill>
                          <a:latin typeface="Calibri"/>
                        </a:rPr>
                        <a:t>ADR-010</a:t>
                      </a:r>
                    </a:p>
                  </a:txBody>
                  <a:tcPr>
                    <a:solidFill>
                      <a:srgbClr val="FFFFFF"/>
                    </a:solidFill>
                  </a:tcPr>
                </a:tc>
              </a:tr>
              <a:tr h="604520">
                <a:tc>
                  <a:txBody>
                    <a:bodyPr wrap="square"/>
                    <a:lstStyle/>
                    <a:p>
                      <a:r>
                        <a:rPr sz="1300" b="0">
                          <a:solidFill>
                            <a:srgbClr val="1E293B"/>
                          </a:solidFill>
                          <a:latin typeface="Calibri"/>
                        </a:rPr>
                        <a:t>Why Dev inside UAT?</a:t>
                      </a:r>
                    </a:p>
                  </a:txBody>
                  <a:tcPr>
                    <a:solidFill>
                      <a:srgbClr val="F1F5F9"/>
                    </a:solidFill>
                  </a:tcPr>
                </a:tc>
                <a:tc>
                  <a:txBody>
                    <a:bodyPr wrap="square"/>
                    <a:lstStyle/>
                    <a:p>
                      <a:r>
                        <a:rPr sz="1300" b="0">
                          <a:solidFill>
                            <a:srgbClr val="1E293B"/>
                          </a:solidFill>
                          <a:latin typeface="Calibri"/>
                        </a:rPr>
                        <a:t>Cost. Two VPCs, two route tables. No CUG.</a:t>
                      </a:r>
                    </a:p>
                  </a:txBody>
                  <a:tcPr>
                    <a:solidFill>
                      <a:srgbClr val="F1F5F9"/>
                    </a:solidFill>
                  </a:tcPr>
                </a:tc>
                <a:tc>
                  <a:txBody>
                    <a:bodyPr wrap="square"/>
                    <a:lstStyle/>
                    <a:p>
                      <a:r>
                        <a:rPr sz="1300" b="0">
                          <a:solidFill>
                            <a:srgbClr val="1E293B"/>
                          </a:solidFill>
                          <a:latin typeface="Calibri"/>
                        </a:rPr>
                        <a:t>ASM-017/018</a:t>
                      </a:r>
                    </a:p>
                  </a:txBody>
                  <a:tcPr>
                    <a:solidFill>
                      <a:srgbClr val="F1F5F9"/>
                    </a:solidFill>
                  </a:tcPr>
                </a:tc>
              </a:tr>
              <a:tr h="604520">
                <a:tc>
                  <a:txBody>
                    <a:bodyPr wrap="square"/>
                    <a:lstStyle/>
                    <a:p>
                      <a:r>
                        <a:rPr sz="1300" b="0">
                          <a:solidFill>
                            <a:srgbClr val="1E293B"/>
                          </a:solidFill>
                          <a:latin typeface="Calibri"/>
                        </a:rPr>
                        <a:t>Where is VA/PT?</a:t>
                      </a:r>
                    </a:p>
                  </a:txBody>
                  <a:tcPr>
                    <a:solidFill>
                      <a:srgbClr val="FFFFFF"/>
                    </a:solidFill>
                  </a:tcPr>
                </a:tc>
                <a:tc>
                  <a:txBody>
                    <a:bodyPr wrap="square"/>
                    <a:lstStyle/>
                    <a:p>
                      <a:r>
                        <a:rPr sz="1300" b="0">
                          <a:solidFill>
                            <a:srgbClr val="1E293B"/>
                          </a:solidFill>
                          <a:latin typeface="Calibri"/>
                        </a:rPr>
                        <a:t>Does not exist. Cannot pentest an unvended env.</a:t>
                      </a:r>
                    </a:p>
                  </a:txBody>
                  <a:tcPr>
                    <a:solidFill>
                      <a:srgbClr val="FFFFFF"/>
                    </a:solidFill>
                  </a:tcPr>
                </a:tc>
                <a:tc>
                  <a:txBody>
                    <a:bodyPr wrap="square"/>
                    <a:lstStyle/>
                    <a:p>
                      <a:r>
                        <a:rPr sz="1300" b="0">
                          <a:solidFill>
                            <a:srgbClr val="1E293B"/>
                          </a:solidFill>
                          <a:latin typeface="Calibri"/>
                        </a:rPr>
                        <a:t>Pack row 11</a:t>
                      </a:r>
                    </a:p>
                  </a:txBody>
                  <a:tcPr>
                    <a:solidFill>
                      <a:srgbClr val="FFFFFF"/>
                    </a:solidFill>
                  </a:tcPr>
                </a:tc>
              </a:tr>
              <a:tr h="604520">
                <a:tc>
                  <a:txBody>
                    <a:bodyPr wrap="square"/>
                    <a:lstStyle/>
                    <a:p>
                      <a:r>
                        <a:rPr sz="1300" b="0">
                          <a:solidFill>
                            <a:srgbClr val="1E293B"/>
                          </a:solidFill>
                          <a:latin typeface="Calibri"/>
                        </a:rPr>
                        <a:t>Is DR proven?</a:t>
                      </a:r>
                    </a:p>
                  </a:txBody>
                  <a:tcPr>
                    <a:solidFill>
                      <a:srgbClr val="F1F5F9"/>
                    </a:solidFill>
                  </a:tcPr>
                </a:tc>
                <a:tc>
                  <a:txBody>
                    <a:bodyPr wrap="square"/>
                    <a:lstStyle/>
                    <a:p>
                      <a:r>
                        <a:rPr sz="1300" b="0">
                          <a:solidFill>
                            <a:srgbClr val="1E293B"/>
                          </a:solidFill>
                          <a:latin typeface="Calibri"/>
                        </a:rPr>
                        <a:t>No. Designed, not drilled. Sitting 2.</a:t>
                      </a:r>
                    </a:p>
                  </a:txBody>
                  <a:tcPr>
                    <a:solidFill>
                      <a:srgbClr val="F1F5F9"/>
                    </a:solidFill>
                  </a:tcPr>
                </a:tc>
                <a:tc>
                  <a:txBody>
                    <a:bodyPr wrap="square"/>
                    <a:lstStyle/>
                    <a:p>
                      <a:r>
                        <a:rPr sz="1300" b="0">
                          <a:solidFill>
                            <a:srgbClr val="1E293B"/>
                          </a:solidFill>
                          <a:latin typeface="Calibri"/>
                        </a:rPr>
                        <a:t>NFR-DR-04</a:t>
                      </a:r>
                    </a:p>
                  </a:txBody>
                  <a:tcPr>
                    <a:solidFill>
                      <a:srgbClr val="F1F5F9"/>
                    </a:solidFill>
                  </a:tcPr>
                </a:tc>
              </a:tr>
              <a:tr h="604520">
                <a:tc>
                  <a:txBody>
                    <a:bodyPr wrap="square"/>
                    <a:lstStyle/>
                    <a:p>
                      <a:r>
                        <a:rPr sz="1300" b="0">
                          <a:solidFill>
                            <a:srgbClr val="1E293B"/>
                          </a:solidFill>
                          <a:latin typeface="Calibri"/>
                        </a:rPr>
                        <a:t>Can RM pay on the iPad?</a:t>
                      </a:r>
                    </a:p>
                  </a:txBody>
                  <a:tcPr>
                    <a:solidFill>
                      <a:srgbClr val="FFFFFF"/>
                    </a:solidFill>
                  </a:tcPr>
                </a:tc>
                <a:tc>
                  <a:txBody>
                    <a:bodyPr wrap="square"/>
                    <a:lstStyle/>
                    <a:p>
                      <a:r>
                        <a:rPr sz="1300" b="0">
                          <a:solidFill>
                            <a:srgbClr val="1E293B"/>
                          </a:solidFill>
                          <a:latin typeface="Calibri"/>
                        </a:rPr>
                        <a:t>No. Customer-device payment is C4, not UX.</a:t>
                      </a:r>
                    </a:p>
                  </a:txBody>
                  <a:tcPr>
                    <a:solidFill>
                      <a:srgbClr val="FFFFFF"/>
                    </a:solidFill>
                  </a:tcPr>
                </a:tc>
                <a:tc>
                  <a:txBody>
                    <a:bodyPr wrap="square"/>
                    <a:lstStyle/>
                    <a:p>
                      <a:r>
                        <a:rPr sz="1300" b="0">
                          <a:solidFill>
                            <a:srgbClr val="1E293B"/>
                          </a:solidFill>
                          <a:latin typeface="Calibri"/>
                        </a:rPr>
                        <a:t>TB-6</a:t>
                      </a:r>
                    </a:p>
                  </a:txBody>
                  <a:tcPr>
                    <a:solidFill>
                      <a:srgbClr val="FFFFFF"/>
                    </a:solidFill>
                  </a:tcPr>
                </a:tc>
              </a:tr>
            </a:tbl>
          </a:graphicData>
        </a:graphic>
      </p:graphicFrame>
      <p:sp>
        <p:nvSpPr>
          <p:cNvPr id="6" name="Rectangle 5"/>
          <p:cNvSpPr/>
          <p:nvPr/>
        </p:nvSpPr>
        <p:spPr>
          <a:xfrm>
            <a:off x="0" y="6601968"/>
            <a:ext cx="12191695" cy="2560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20256"/>
            <a:ext cx="10332720" cy="219456"/>
          </a:xfrm>
          <a:prstGeom prst="rect">
            <a:avLst/>
          </a:prstGeom>
          <a:noFill/>
        </p:spPr>
        <p:txBody>
          <a:bodyPr wrap="none">
            <a:spAutoFit/>
          </a:bodyPr>
          <a:lstStyle/>
          <a:p>
            <a:r>
              <a:rPr sz="800" b="0">
                <a:solidFill>
                  <a:srgbClr val="FFFFFF"/>
                </a:solidFill>
                <a:latin typeface="Calibri"/>
              </a:rPr>
              <a:t>FIRST REVIEW — DEV/UAT environment shape. Not production go-live, not DR-ready sign-off, not T4, not Board 4, not CIS re</a:t>
            </a:r>
          </a:p>
        </p:txBody>
      </p:sp>
      <p:sp>
        <p:nvSpPr>
          <p:cNvPr id="8" name="TextBox 7"/>
          <p:cNvSpPr txBox="1"/>
          <p:nvPr/>
        </p:nvSpPr>
        <p:spPr>
          <a:xfrm>
            <a:off x="10698480" y="6620256"/>
            <a:ext cx="1280160" cy="219456"/>
          </a:xfrm>
          <a:prstGeom prst="rect">
            <a:avLst/>
          </a:prstGeom>
          <a:noFill/>
        </p:spPr>
        <p:txBody>
          <a:bodyPr wrap="none">
            <a:spAutoFit/>
          </a:bodyPr>
          <a:lstStyle/>
          <a:p>
            <a:pPr algn="r"/>
            <a:r>
              <a:rPr sz="800" b="0">
                <a:solidFill>
                  <a:srgbClr val="FFFFFF"/>
                </a:solidFill>
                <a:latin typeface="Calibri"/>
              </a:rPr>
              <a:t>23 / 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