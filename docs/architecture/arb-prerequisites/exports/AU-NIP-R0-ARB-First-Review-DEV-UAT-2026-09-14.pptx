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1 min</a:t>
            </a:r>
          </a:p>
          <a:p/>
          <a:p>
            <a:r>
              <a:t>SAY:</a:t>
            </a:r>
          </a:p>
          <a:p>
            <a:r>
              <a:t>Good morning. This is the first architecture review of the Insurance Distribution Platform.</a:t>
            </a:r>
          </a:p>
          <a:p/>
          <a:p>
            <a:r>
              <a:t>Today we walk the intended design: the problem, one sale as it will actually run, the runtime, and the stack — so Dev and UAT can be stood up.</a:t>
            </a:r>
          </a:p>
          <a:p/>
          <a:p>
            <a:r>
              <a:t>We are not claiming production evidence. Working logs, security operations, compliance proofs and a proven day-one estate are what we bring after UAT, to a later sitting. A longer copy of this deck is not that sitting.</a:t>
            </a:r>
          </a:p>
          <a:p/>
          <a:p>
            <a:r>
              <a:t>I will take about thirty-five minutes. The rest of the hour is yours.</a:t>
            </a:r>
          </a:p>
          <a:p/>
          <a:p>
            <a:r>
              <a:t>IF ASKED:</a:t>
            </a:r>
          </a:p>
          <a:p>
            <a:r>
              <a:t>If someone asks whether this is production approval — no. Say it once, park it, keep walking.</a:t>
            </a:r>
          </a:p>
          <a:p/>
          <a:p>
            <a:r>
              <a:t>DO NOT:</a:t>
            </a:r>
          </a:p>
          <a:p>
            <a:r>
              <a:t>Do not say the architecture was designed by AI. Do not claim logs, VA/PT or DR drills as done.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2 min</a:t>
            </a:r>
          </a:p>
          <a:p/>
          <a:p>
            <a:r>
              <a:t>SAY:</a:t>
            </a:r>
          </a:p>
          <a:p>
            <a:r>
              <a:t>Left is today: intended design, Dev and UAT, your comments. Right is after UAT: a production sitting with evidence that logging is capturing, security ops are running, compliance is in the pack, and the day-one services actually work. We will not pretend those proofs exist this morning.</a:t>
            </a:r>
          </a:p>
          <a:p/>
          <a:p>
            <a:r>
              <a:t>IF ASKED:</a:t>
            </a:r>
          </a:p>
          <a:p>
            <a:r>
              <a:t>If they want one ARB for everything — we still cannot evidence a pentest of an unvended estate. Staged review matches how landing zones are vended.</a:t>
            </a:r>
          </a:p>
          <a:p/>
          <a:p>
            <a:r>
              <a:t>DO NOT:</a:t>
            </a:r>
          </a:p>
          <a:p>
            <a:r>
              <a:t>Do not promise a production date. Kalpana schedules sitting two after UAT.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2 min</a:t>
            </a:r>
          </a:p>
          <a:p/>
          <a:p>
            <a:r>
              <a:t>SAY:</a:t>
            </a:r>
          </a:p>
          <a:p>
            <a:r>
              <a:t>Four pictures, one point: a licensed corporate agent must own the evidence of a Life sale. Suitability on the RM glass, OTP and premium on the customer phone, a policy only when money and issuance agree. Redirecting the customer to an aggregator site does not produce that pack.</a:t>
            </a:r>
          </a:p>
          <a:p/>
          <a:p>
            <a:r>
              <a:t>IF ASKED:</a:t>
            </a:r>
          </a:p>
          <a:p>
            <a:r>
              <a:t>Health, Motor and DIY are later horizons. Do not design them here.</a:t>
            </a:r>
          </a:p>
          <a:p/>
          <a:p>
            <a:r>
              <a:t>DO NOT:</a:t>
            </a:r>
          </a:p>
          <a:p>
            <a:r>
              <a:t>Do not invent a Product signature.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5 min</a:t>
            </a:r>
          </a:p>
          <a:p/>
          <a:p>
            <a:r>
              <a:t>SAY:</a:t>
            </a:r>
          </a:p>
          <a:p>
            <a:r>
              <a:t>Walk the ribbon left to right. The RM stands with NIP-APP. Suitability is a gate on that device — no quote without it. Consent and premium are the customer's phone, not the iPad. Quote and proposal go Hub then adapter. Policy is last, and only after reconciled. The gold line is an orchestrated saga: Journey Orchestration is the one record of where the sale is. Flutter never calls the aggregator, the database, or Apigee.</a:t>
            </a:r>
          </a:p>
          <a:p/>
          <a:p>
            <a:r>
              <a:t>IF ASKED:</a:t>
            </a:r>
          </a:p>
          <a:p>
            <a:r>
              <a:t>Why not one InsuranceService? Health later must not rewrite Life. Quote and suitability are different systems of record.</a:t>
            </a:r>
          </a:p>
          <a:p/>
          <a:p>
            <a:r>
              <a:t>DO NOT:</a:t>
            </a:r>
          </a:p>
          <a:p>
            <a:r>
              <a:t>Do not accept RM-pays-for-the-customer as a UAT exception. Do not call Kafka the audit 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3 min</a:t>
            </a:r>
          </a:p>
          <a:p/>
          <a:p>
            <a:r>
              <a:t>SAY:</a:t>
            </a:r>
          </a:p>
          <a:p>
            <a:r>
              <a:t>You cannot curl a pod from the internet. If asked why not a public ALB — it would put a public target in front of a front door we already have. ADR-018. That is a Security exposure decision, not a Dev convenience.</a:t>
            </a:r>
          </a:p>
          <a:p/>
          <a:p>
            <a:r>
              <a:t>IF ASKED:</a:t>
            </a:r>
          </a:p>
          <a:p>
            <a:r>
              <a:t>FAQ on public ALB. Play 2 if they insist.</a:t>
            </a:r>
          </a:p>
          <a:p/>
          <a:p>
            <a:r>
              <a:t>DO NOT:</a:t>
            </a:r>
          </a:p>
          <a:p>
            <a:r>
              <a:t>Do not agree to a public ALB just for Dev.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2 min</a:t>
            </a:r>
          </a:p>
          <a:p/>
          <a:p>
            <a:r>
              <a:t>SAY:</a:t>
            </a:r>
          </a:p>
          <a:p>
            <a:r>
              <a:t>The adapter base URL is the Apigee proxy, never the aggregator host. I will not read IPs. That action does not block vpc-dev.</a:t>
            </a:r>
          </a:p>
          <a:p/>
          <a:p>
            <a:r>
              <a:t>IF ASKED:</a:t>
            </a:r>
          </a:p>
          <a:p>
            <a:r>
              <a:t>Play 3, DEP-20260914-apg. Dev uses stubs.</a:t>
            </a:r>
          </a:p>
          <a:p/>
          <a:p>
            <a:r>
              <a:t>DO NOT:</a:t>
            </a:r>
          </a:p>
          <a:p>
            <a:r>
              <a:t>Do not invent IPs.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2 min</a:t>
            </a:r>
          </a:p>
          <a:p/>
          <a:p>
            <a:r>
              <a:t>SAY:</a:t>
            </a:r>
          </a:p>
          <a:p>
            <a:r>
              <a:t>Attach as a spoke. Inbound as you saw. Outbound through Apigee. I will pause here if you want the drawing; otherwise I protect discussion time. If this picture disagrees with an ADR, the ADR wins.</a:t>
            </a:r>
          </a:p>
          <a:p/>
          <a:p>
            <a:r>
              <a:t>IF ASKED:</a:t>
            </a:r>
          </a:p>
          <a:p>
            <a:r>
              <a:t>Previous two slides are the same facts in sequence.</a:t>
            </a:r>
          </a:p>
          <a:p/>
          <a:p>
            <a:r>
              <a:t>DO NOT:</a:t>
            </a:r>
          </a:p>
          <a:p>
            <a:r>
              <a:t>Do not walk every box.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1 min</a:t>
            </a:r>
          </a:p>
          <a:p/>
          <a:p>
            <a:r>
              <a:t>SAY:</a:t>
            </a:r>
          </a:p>
          <a:p>
            <a:r>
              <a:t>Five accounts. Dev is a VPC inside UAT, not a sixth account. Stubs cannot ride a production CBS route. Production is drawn so you see blast radius — we are not vending it today.</a:t>
            </a:r>
          </a:p>
          <a:p/>
          <a:p>
            <a:r>
              <a:t>IF ASKED:</a:t>
            </a:r>
          </a:p>
          <a:p>
            <a:r>
              <a:t>Split Dev account is a Cloud exception we are not requesting.</a:t>
            </a:r>
          </a:p>
          <a:p/>
          <a:p>
            <a:r>
              <a:t>DO NOT:</a:t>
            </a:r>
          </a:p>
          <a:p>
            <a:r>
              <a:t>Do not offer to vendor production while we are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3 min</a:t>
            </a:r>
          </a:p>
          <a:p/>
          <a:p>
            <a:r>
              <a:t>SAY:</a:t>
            </a:r>
          </a:p>
          <a:p>
            <a:r>
              <a:t>Four clusters, not a shopping list. Edge is Cloudflare, F5-XC, Apigee — they do not sit in our VPC. Compute is EKS behind API Gateway and an internal ALB. Data is Aurora PostgreSQL — one cluster, schema per context — not a public RDS. Events on MSK, fed by an outbox. Keys in KMS, secrets in Secrets Manager, telemetry in CloudWatch and CloudTrail. OpenSearch is operational search, not the audit pack.</a:t>
            </a:r>
          </a:p>
          <a:p/>
          <a:p>
            <a:r>
              <a:t>IF ASKED:</a:t>
            </a:r>
          </a:p>
          <a:p>
            <a:r>
              <a:t>Why not RDS? Aurora PostgreSQL is the recorded pin (ADR-008). Why not self-managed Kafka on EKS? MSK is the managed backbone; the outbox remains source of truth.</a:t>
            </a:r>
          </a:p>
          <a:p/>
          <a:p>
            <a:r>
              <a:t>DO NOT:</a:t>
            </a:r>
          </a:p>
          <a:p>
            <a:r>
              <a:t>Do not add Istio, Cognito, or a warehouse to look more complete. They are not R0.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3 min</a:t>
            </a:r>
          </a:p>
          <a:p/>
          <a:p>
            <a:r>
              <a:t>SAY:</a:t>
            </a:r>
          </a:p>
          <a:p>
            <a:r>
              <a:t>Experience is Flutter — one project, web, APK, IPA. Services are Java 21 and Spring Boot 3.5 on EKS. Coordination is an orchestrated saga, not a choreography: Journey Orchestration is queryable when a sale stops. Outbox then MSK. 1SB JSON dies in the adapter. Tokens never reach the glass.</a:t>
            </a:r>
          </a:p>
          <a:p/>
          <a:p>
            <a:r>
              <a:t>IF ASKED:</a:t>
            </a:r>
          </a:p>
          <a:p>
            <a:r>
              <a:t>They said Jetty — we run Java 21 LTS. Spring Boot 3.5 is the BOM in repo. Saga is recorded in the domain model §5, not a slide invention.</a:t>
            </a:r>
          </a:p>
          <a:p/>
          <a:p>
            <a:r>
              <a:t>DO NOT:</a:t>
            </a:r>
          </a:p>
          <a:p>
            <a:r>
              <a:t>Do not start a language war. Do not claim a saga framework product — it is the Journey service plus state, not a third-party BPM.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2 min</a:t>
            </a:r>
          </a:p>
          <a:p/>
          <a:p>
            <a:r>
              <a:t>SAY:</a:t>
            </a:r>
          </a:p>
          <a:p>
            <a:r>
              <a:t>Five lanes. Flutter talks only to the BFF. The sale spine owns lead, saga, suitability, consent. Product owns catalogue, quote, proposal. Fulfilment owns payment, policy, WORM audit. Integration is Hub, 1SB adapter, Apigee. That is why Health later does not rewrite Life.</a:t>
            </a:r>
          </a:p>
          <a:p/>
          <a:p>
            <a:r>
              <a:t>IF ASKED:</a:t>
            </a:r>
          </a:p>
          <a:p>
            <a:r>
              <a:t>Not every name is a pod today. R0 is the assisted Life cut of these lanes.</a:t>
            </a:r>
          </a:p>
          <a:p/>
          <a:p>
            <a:r>
              <a:t>DO NOT:</a:t>
            </a:r>
          </a:p>
          <a:p>
            <a:r>
              <a:t>Do not list twenty class names. Stay on the lanes.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2 min</a:t>
            </a:r>
          </a:p>
          <a:p/>
          <a:p>
            <a:r>
              <a:t>SAY:</a:t>
            </a:r>
          </a:p>
          <a:p>
            <a:r>
              <a:t>Session-create through Apigee. Customer completes 3-D Secure on their phone. Callback on a separate API Gateway route. Sold waits for reconciled. Uncertain blocks a second attempt. Timeouts do not mint money.</a:t>
            </a:r>
          </a:p>
          <a:p/>
          <a:p>
            <a:r>
              <a:t>IF ASKED:</a:t>
            </a:r>
          </a:p>
          <a:p>
            <a:r>
              <a:t>PAN never on the RM device, never in logs.</a:t>
            </a:r>
          </a:p>
          <a:p/>
          <a:p>
            <a:r>
              <a:t>DO NOT:</a:t>
            </a:r>
          </a:p>
          <a:p>
            <a:r>
              <a:t>Do not accept RM pays on behalf for a demo.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1 min</a:t>
            </a:r>
          </a:p>
          <a:p/>
          <a:p>
            <a:r>
              <a:t>SAY:</a:t>
            </a:r>
          </a:p>
          <a:p>
            <a:r>
              <a:t>Designed, not measured. That is why this is not the production ARB.</a:t>
            </a:r>
          </a:p>
          <a:p/>
          <a:p>
            <a:r>
              <a:t>IF ASKED:</a:t>
            </a:r>
          </a:p>
          <a:p>
            <a:r>
              <a:t>Play 4. NFR-DR-04.</a:t>
            </a:r>
          </a:p>
          <a:p/>
          <a:p>
            <a:r>
              <a:t>DO NOT:</a:t>
            </a:r>
          </a:p>
          <a:p>
            <a:r>
              <a:t>Do not claim DR is proven.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TIMEBOX: 2 min</a:t>
            </a:r>
          </a:p>
          <a:p/>
          <a:p>
            <a:r>
              <a:t>SAY:</a:t>
            </a:r>
          </a:p>
          <a:p>
            <a:r>
              <a:t>Please record this as the intended R0 design and allow Dev and UAT on this shape. When UAT has run, we return with evidence — logging, security ops, compliance, services on the path — not with a thicker version of these pictures. I will stop here so we can discuss.</a:t>
            </a:r>
          </a:p>
          <a:p/>
          <a:p>
            <a:r>
              <a:t>IF ASKED:</a:t>
            </a:r>
          </a:p>
          <a:p>
            <a:r>
              <a:t>If they write only 'approved', qualify: first review, Dev/UAT vending, production ARB still required.</a:t>
            </a:r>
          </a:p>
          <a:p/>
          <a:p>
            <a:r>
              <a:t>DO NOT:</a:t>
            </a:r>
          </a:p>
          <a:p>
            <a:r>
              <a:t>Do not leave without a written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open only if asked</a:t>
            </a:r>
          </a:p>
          <a:p/>
          <a:p>
            <a:r>
              <a:t>SAY:</a:t>
            </a:r>
          </a:p>
          <a:p>
            <a:r>
              <a:t>Open only if a network SME quizzes terms. You do not need BGP in this sitting.</a:t>
            </a:r>
          </a:p>
          <a:p/>
          <a:p>
            <a:r>
              <a:t>IF ASKED:</a:t>
            </a:r>
          </a:p>
          <a:p>
            <a:r>
              <a:t>Below this table — Play 3, with SRE and bank network.</a:t>
            </a:r>
          </a:p>
          <a:p/>
          <a:p>
            <a:r>
              <a:t>DO NOT:</a:t>
            </a:r>
          </a:p>
          <a:p>
            <a:r>
              <a:t>Do not draw BGP on a whiteboard unless SRE is speaking.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open only if asked</a:t>
            </a:r>
          </a:p>
          <a:p/>
          <a:p>
            <a:r>
              <a:t>SAY:</a:t>
            </a:r>
          </a:p>
          <a:p>
            <a:r>
              <a:t>Memorise Play 3 and Play 5. Put them on a card in your pocket.</a:t>
            </a:r>
          </a:p>
          <a:p/>
          <a:p>
            <a:r>
              <a:t>DO NOT:</a:t>
            </a:r>
          </a:p>
          <a:p>
            <a:r>
              <a:t>Do not present this slide in the main walk.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789920" cy="365760"/>
          </a:xfrm>
          <a:prstGeom prst="rect">
            <a:avLst/>
          </a:prstGeom>
          <a:noFill/>
        </p:spPr>
        <p:txBody>
          <a:bodyPr wrap="none">
            <a:spAutoFit/>
          </a:bodyPr>
          <a:lstStyle/>
          <a:p>
            <a:r>
              <a:rPr sz="1400" b="0">
                <a:solidFill>
                  <a:srgbClr val="C4A35A"/>
                </a:solidFill>
                <a:latin typeface="Calibri"/>
              </a:rPr>
              <a:t>ARCHITECTURE REVIEW BOARD  ·  FIRST SITTING</a:t>
            </a:r>
          </a:p>
        </p:txBody>
      </p:sp>
      <p:sp>
        <p:nvSpPr>
          <p:cNvPr id="5" name="TextBox 4"/>
          <p:cNvSpPr txBox="1"/>
          <p:nvPr/>
        </p:nvSpPr>
        <p:spPr>
          <a:xfrm>
            <a:off x="640080" y="1874519"/>
            <a:ext cx="10789920" cy="1463040"/>
          </a:xfrm>
          <a:prstGeom prst="rect">
            <a:avLst/>
          </a:prstGeom>
          <a:noFill/>
        </p:spPr>
        <p:txBody>
          <a:bodyPr wrap="square">
            <a:spAutoFit/>
          </a:bodyPr>
          <a:lstStyle/>
          <a:p>
            <a:r>
              <a:rPr sz="3200" b="1">
                <a:solidFill>
                  <a:srgbClr val="FFFFFF"/>
                </a:solidFill>
                <a:latin typeface="Calibri"/>
              </a:rPr>
              <a:t>Insurance Distribution Platform</a:t>
            </a:r>
          </a:p>
          <a:p>
            <a:r>
              <a:rPr sz="1800" b="0">
                <a:solidFill>
                  <a:srgbClr val="FFFFFF"/>
                </a:solidFill>
                <a:latin typeface="Calibri"/>
              </a:rPr>
              <a:t>Assisted Life  ·  intended design for Dev and UAT</a:t>
            </a:r>
          </a:p>
        </p:txBody>
      </p:sp>
      <p:sp>
        <p:nvSpPr>
          <p:cNvPr id="6" name="Rounded Rectangle 5"/>
          <p:cNvSpPr/>
          <p:nvPr/>
        </p:nvSpPr>
        <p:spPr>
          <a:xfrm>
            <a:off x="640080" y="3977639"/>
            <a:ext cx="3200400" cy="1051560"/>
          </a:xfrm>
          <a:prstGeom prst="roundRect">
            <a:avLst>
              <a:gd name="adj" fmla="val 8000"/>
            </a:avLst>
          </a:prstGeom>
          <a:solidFill>
            <a:srgbClr val="002A55"/>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2200" b="1">
                <a:solidFill>
                  <a:srgbClr val="C4A35A"/>
                </a:solidFill>
                <a:latin typeface="Calibri"/>
              </a:rPr>
              <a:t>35 min</a:t>
            </a:r>
          </a:p>
          <a:p>
            <a:pPr algn="ctr">
              <a:spcAft>
                <a:spcPts val="400"/>
              </a:spcAft>
            </a:pPr>
            <a:r>
              <a:rPr sz="1300" b="0">
                <a:solidFill>
                  <a:srgbClr val="FFFFFF"/>
                </a:solidFill>
                <a:latin typeface="Calibri"/>
              </a:rPr>
              <a:t>Walkthrough</a:t>
            </a:r>
          </a:p>
        </p:txBody>
      </p:sp>
      <p:sp>
        <p:nvSpPr>
          <p:cNvPr id="7" name="Rounded Rectangle 6"/>
          <p:cNvSpPr/>
          <p:nvPr/>
        </p:nvSpPr>
        <p:spPr>
          <a:xfrm>
            <a:off x="4069080" y="3977639"/>
            <a:ext cx="3200400" cy="1051560"/>
          </a:xfrm>
          <a:prstGeom prst="roundRect">
            <a:avLst>
              <a:gd name="adj" fmla="val 8000"/>
            </a:avLst>
          </a:prstGeom>
          <a:solidFill>
            <a:srgbClr val="002A55"/>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2200" b="1">
                <a:solidFill>
                  <a:srgbClr val="C4A35A"/>
                </a:solidFill>
                <a:latin typeface="Calibri"/>
              </a:rPr>
              <a:t>25 min</a:t>
            </a:r>
          </a:p>
          <a:p>
            <a:pPr algn="ctr">
              <a:spcAft>
                <a:spcPts val="400"/>
              </a:spcAft>
            </a:pPr>
            <a:r>
              <a:rPr sz="1300" b="0">
                <a:solidFill>
                  <a:srgbClr val="FFFFFF"/>
                </a:solidFill>
                <a:latin typeface="Calibri"/>
              </a:rPr>
              <a:t>Discussion</a:t>
            </a:r>
          </a:p>
        </p:txBody>
      </p:sp>
      <p:sp>
        <p:nvSpPr>
          <p:cNvPr id="8" name="Rounded Rectangle 7"/>
          <p:cNvSpPr/>
          <p:nvPr/>
        </p:nvSpPr>
        <p:spPr>
          <a:xfrm>
            <a:off x="7498079" y="3977639"/>
            <a:ext cx="3200400" cy="1051560"/>
          </a:xfrm>
          <a:prstGeom prst="roundRect">
            <a:avLst>
              <a:gd name="adj" fmla="val 8000"/>
            </a:avLst>
          </a:prstGeom>
          <a:solidFill>
            <a:srgbClr val="002A55"/>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2200" b="1">
                <a:solidFill>
                  <a:srgbClr val="C4A35A"/>
                </a:solidFill>
                <a:latin typeface="Calibri"/>
              </a:rPr>
              <a:t>Not today</a:t>
            </a:r>
          </a:p>
          <a:p>
            <a:pPr algn="ctr">
              <a:spcAft>
                <a:spcPts val="400"/>
              </a:spcAft>
            </a:pPr>
            <a:r>
              <a:rPr sz="1300" b="0">
                <a:solidFill>
                  <a:srgbClr val="FFFFFF"/>
                </a:solidFill>
                <a:latin typeface="Calibri"/>
              </a:rPr>
              <a:t>Production</a:t>
            </a:r>
          </a:p>
        </p:txBody>
      </p:sp>
      <p:sp>
        <p:nvSpPr>
          <p:cNvPr id="9" name="TextBox 8"/>
          <p:cNvSpPr txBox="1"/>
          <p:nvPr/>
        </p:nvSpPr>
        <p:spPr>
          <a:xfrm>
            <a:off x="10607040" y="6537960"/>
            <a:ext cx="1325880" cy="219456"/>
          </a:xfrm>
          <a:prstGeom prst="rect">
            <a:avLst/>
          </a:prstGeom>
          <a:noFill/>
        </p:spPr>
        <p:txBody>
          <a:bodyPr wrap="none">
            <a:spAutoFit/>
          </a:bodyPr>
          <a:lstStyle/>
          <a:p>
            <a:pPr algn="r"/>
            <a:r>
              <a:rPr sz="1000" b="0">
                <a:solidFill>
                  <a:srgbClr val="C4A35A"/>
                </a:solidFill>
                <a:latin typeface="Calibri"/>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ittings.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roblem.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journey.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nbound.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utbound.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pology.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nvs.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ervices.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tack.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icro.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ayment.png"/>
          <p:cNvPicPr>
            <a:picLocks noChangeAspect="1"/>
          </p:cNvPicPr>
          <p:nvPr/>
        </p:nvPicPr>
        <p:blipFill>
          <a:blip r:embed="rId2"/>
          <a:stretch>
            <a:fillRect/>
          </a:stretch>
        </p:blipFill>
        <p:spPr>
          <a:xfrm>
            <a:off x="0" y="0"/>
            <a:ext cx="12191695" cy="6601968"/>
          </a:xfrm>
          <a:prstGeom prst="rect">
            <a:avLst/>
          </a:prstGeom>
        </p:spPr>
      </p:pic>
      <p:sp>
        <p:nvSpPr>
          <p:cNvPr id="4" name="Rectangle 3"/>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6" name="TextBox 5"/>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8368"/>
            <a:ext cx="12191695" cy="640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11430000" cy="438912"/>
          </a:xfrm>
          <a:prstGeom prst="rect">
            <a:avLst/>
          </a:prstGeom>
          <a:noFill/>
        </p:spPr>
        <p:txBody>
          <a:bodyPr wrap="none">
            <a:spAutoFit/>
          </a:bodyPr>
          <a:lstStyle/>
          <a:p>
            <a:r>
              <a:rPr sz="2200" b="1">
                <a:solidFill>
                  <a:srgbClr val="FFFFFF"/>
                </a:solidFill>
                <a:latin typeface="Calibri"/>
              </a:rPr>
              <a:t>Continuity — designed, not yet drilled</a:t>
            </a:r>
          </a:p>
        </p:txBody>
      </p:sp>
      <p:sp>
        <p:nvSpPr>
          <p:cNvPr id="6" name="Oval 5"/>
          <p:cNvSpPr/>
          <p:nvPr/>
        </p:nvSpPr>
        <p:spPr>
          <a:xfrm>
            <a:off x="365760" y="1051560"/>
            <a:ext cx="3246120" cy="3246120"/>
          </a:xfrm>
          <a:prstGeom prst="ellipse">
            <a:avLst/>
          </a:prstGeom>
          <a:solidFill>
            <a:srgbClr val="FFFFFF"/>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3600" b="1">
                <a:solidFill>
                  <a:srgbClr val="0E7490"/>
                </a:solidFill>
                <a:latin typeface="Calibri"/>
              </a:rPr>
              <a:t>≤ 1 h</a:t>
            </a:r>
          </a:p>
          <a:p>
            <a:pPr algn="ctr">
              <a:spcAft>
                <a:spcPts val="400"/>
              </a:spcAft>
            </a:pPr>
            <a:r>
              <a:rPr sz="1400" b="0">
                <a:solidFill>
                  <a:srgbClr val="57657A"/>
                </a:solidFill>
                <a:latin typeface="Calibri"/>
              </a:rPr>
              <a:t>Recovery time</a:t>
            </a:r>
          </a:p>
        </p:txBody>
      </p:sp>
      <p:sp>
        <p:nvSpPr>
          <p:cNvPr id="7" name="Oval 6"/>
          <p:cNvSpPr/>
          <p:nvPr/>
        </p:nvSpPr>
        <p:spPr>
          <a:xfrm>
            <a:off x="3794760" y="1051560"/>
            <a:ext cx="3246120" cy="3246120"/>
          </a:xfrm>
          <a:prstGeom prst="ellipse">
            <a:avLst/>
          </a:prstGeom>
          <a:solidFill>
            <a:srgbClr val="FFFFFF"/>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3600" b="1">
                <a:solidFill>
                  <a:srgbClr val="0E7490"/>
                </a:solidFill>
                <a:latin typeface="Calibri"/>
              </a:rPr>
              <a:t>≤ 5 min</a:t>
            </a:r>
          </a:p>
          <a:p>
            <a:pPr algn="ctr">
              <a:spcAft>
                <a:spcPts val="400"/>
              </a:spcAft>
            </a:pPr>
            <a:r>
              <a:rPr sz="1400" b="0">
                <a:solidFill>
                  <a:srgbClr val="57657A"/>
                </a:solidFill>
                <a:latin typeface="Calibri"/>
              </a:rPr>
              <a:t>Transactional RPO</a:t>
            </a:r>
          </a:p>
        </p:txBody>
      </p:sp>
      <p:sp>
        <p:nvSpPr>
          <p:cNvPr id="8" name="Oval 7"/>
          <p:cNvSpPr/>
          <p:nvPr/>
        </p:nvSpPr>
        <p:spPr>
          <a:xfrm>
            <a:off x="7223760" y="1051560"/>
            <a:ext cx="3246120" cy="3246120"/>
          </a:xfrm>
          <a:prstGeom prst="ellipse">
            <a:avLst/>
          </a:prstGeom>
          <a:solidFill>
            <a:srgbClr val="FFFFFF"/>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spcAft>
                <a:spcPts val="400"/>
              </a:spcAft>
            </a:pPr>
            <a:r>
              <a:rPr sz="3600" b="1">
                <a:solidFill>
                  <a:srgbClr val="0E7490"/>
                </a:solidFill>
                <a:latin typeface="Calibri"/>
              </a:rPr>
              <a:t>0</a:t>
            </a:r>
          </a:p>
          <a:p>
            <a:pPr algn="ctr">
              <a:spcAft>
                <a:spcPts val="400"/>
              </a:spcAft>
            </a:pPr>
            <a:r>
              <a:rPr sz="1400" b="0">
                <a:solidFill>
                  <a:srgbClr val="57657A"/>
                </a:solidFill>
                <a:latin typeface="Calibri"/>
              </a:rPr>
              <a:t>Audit RPO</a:t>
            </a:r>
          </a:p>
        </p:txBody>
      </p:sp>
      <p:pic>
        <p:nvPicPr>
          <p:cNvPr id="9" name="Picture 8" descr="dr.png"/>
          <p:cNvPicPr>
            <a:picLocks noChangeAspect="1"/>
          </p:cNvPicPr>
          <p:nvPr/>
        </p:nvPicPr>
        <p:blipFill>
          <a:blip r:embed="rId2"/>
          <a:stretch>
            <a:fillRect/>
          </a:stretch>
        </p:blipFill>
        <p:spPr>
          <a:xfrm>
            <a:off x="365760" y="4434840"/>
            <a:ext cx="11430000" cy="2011680"/>
          </a:xfrm>
          <a:prstGeom prst="rect">
            <a:avLst/>
          </a:prstGeom>
        </p:spPr>
      </p:pic>
      <p:sp>
        <p:nvSpPr>
          <p:cNvPr id="10" name="TextBox 9"/>
          <p:cNvSpPr txBox="1"/>
          <p:nvPr/>
        </p:nvSpPr>
        <p:spPr>
          <a:xfrm>
            <a:off x="411480" y="4434840"/>
            <a:ext cx="11338560" cy="457200"/>
          </a:xfrm>
          <a:prstGeom prst="rect">
            <a:avLst/>
          </a:prstGeom>
          <a:noFill/>
        </p:spPr>
        <p:txBody>
          <a:bodyPr wrap="none">
            <a:spAutoFit/>
          </a:bodyPr>
          <a:lstStyle/>
          <a:p/>
        </p:txBody>
      </p:sp>
      <p:sp>
        <p:nvSpPr>
          <p:cNvPr id="11" name="Rectangle 10"/>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13" name="TextBox 12"/>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8368"/>
            <a:ext cx="12191695" cy="640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11430000" cy="438912"/>
          </a:xfrm>
          <a:prstGeom prst="rect">
            <a:avLst/>
          </a:prstGeom>
          <a:noFill/>
        </p:spPr>
        <p:txBody>
          <a:bodyPr wrap="none">
            <a:spAutoFit/>
          </a:bodyPr>
          <a:lstStyle/>
          <a:p>
            <a:r>
              <a:rPr sz="2200" b="1">
                <a:solidFill>
                  <a:srgbClr val="FFFFFF"/>
                </a:solidFill>
                <a:latin typeface="Calibri"/>
              </a:rPr>
              <a:t>Decision requested</a:t>
            </a:r>
          </a:p>
        </p:txBody>
      </p:sp>
      <p:sp>
        <p:nvSpPr>
          <p:cNvPr id="6" name="Rounded Rectangle 5"/>
          <p:cNvSpPr/>
          <p:nvPr/>
        </p:nvSpPr>
        <p:spPr>
          <a:xfrm>
            <a:off x="365760" y="1005840"/>
            <a:ext cx="3611880" cy="3977639"/>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005840"/>
            <a:ext cx="3611880" cy="6400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800" b="1">
                <a:solidFill>
                  <a:srgbClr val="FFFFFF"/>
                </a:solidFill>
                <a:latin typeface="Calibri"/>
              </a:rPr>
              <a:t>Review</a:t>
            </a:r>
          </a:p>
        </p:txBody>
      </p:sp>
      <p:sp>
        <p:nvSpPr>
          <p:cNvPr id="8" name="TextBox 7"/>
          <p:cNvSpPr txBox="1"/>
          <p:nvPr/>
        </p:nvSpPr>
        <p:spPr>
          <a:xfrm>
            <a:off x="566928" y="1920240"/>
            <a:ext cx="3200400" cy="2743200"/>
          </a:xfrm>
          <a:prstGeom prst="rect">
            <a:avLst/>
          </a:prstGeom>
          <a:noFill/>
        </p:spPr>
        <p:txBody>
          <a:bodyPr wrap="square">
            <a:spAutoFit/>
          </a:bodyPr>
          <a:lstStyle/>
          <a:p>
            <a:r>
              <a:rPr sz="1600" b="0">
                <a:solidFill>
                  <a:srgbClr val="1E293B"/>
                </a:solidFill>
                <a:latin typeface="Calibri"/>
              </a:rPr>
              <a:t>Record this as the intended R0 design.</a:t>
            </a:r>
          </a:p>
        </p:txBody>
      </p:sp>
      <p:sp>
        <p:nvSpPr>
          <p:cNvPr id="9" name="Rounded Rectangle 8"/>
          <p:cNvSpPr/>
          <p:nvPr/>
        </p:nvSpPr>
        <p:spPr>
          <a:xfrm>
            <a:off x="4297680" y="1005840"/>
            <a:ext cx="3611880" cy="3977639"/>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005840"/>
            <a:ext cx="3611880" cy="6400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800" b="1">
                <a:solidFill>
                  <a:srgbClr val="FFFFFF"/>
                </a:solidFill>
                <a:latin typeface="Calibri"/>
              </a:rPr>
              <a:t>Proceed</a:t>
            </a:r>
          </a:p>
        </p:txBody>
      </p:sp>
      <p:sp>
        <p:nvSpPr>
          <p:cNvPr id="11" name="TextBox 10"/>
          <p:cNvSpPr txBox="1"/>
          <p:nvPr/>
        </p:nvSpPr>
        <p:spPr>
          <a:xfrm>
            <a:off x="4498848" y="1920240"/>
            <a:ext cx="3200400" cy="2743200"/>
          </a:xfrm>
          <a:prstGeom prst="rect">
            <a:avLst/>
          </a:prstGeom>
          <a:noFill/>
        </p:spPr>
        <p:txBody>
          <a:bodyPr wrap="square">
            <a:spAutoFit/>
          </a:bodyPr>
          <a:lstStyle/>
          <a:p>
            <a:r>
              <a:rPr sz="1600" b="0">
                <a:solidFill>
                  <a:srgbClr val="1E293B"/>
                </a:solidFill>
                <a:latin typeface="Calibri"/>
              </a:rPr>
              <a:t>Allow Dev and UAT on this shape — two VPCs in the UAT account.</a:t>
            </a:r>
          </a:p>
        </p:txBody>
      </p:sp>
      <p:sp>
        <p:nvSpPr>
          <p:cNvPr id="12" name="Rounded Rectangle 11"/>
          <p:cNvSpPr/>
          <p:nvPr/>
        </p:nvSpPr>
        <p:spPr>
          <a:xfrm>
            <a:off x="8229600" y="1005840"/>
            <a:ext cx="3611880" cy="3977639"/>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1005840"/>
            <a:ext cx="3611880" cy="64008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800" b="1">
                <a:solidFill>
                  <a:srgbClr val="FFFFFF"/>
                </a:solidFill>
                <a:latin typeface="Calibri"/>
              </a:rPr>
              <a:t>Return</a:t>
            </a:r>
          </a:p>
        </p:txBody>
      </p:sp>
      <p:sp>
        <p:nvSpPr>
          <p:cNvPr id="14" name="TextBox 13"/>
          <p:cNvSpPr txBox="1"/>
          <p:nvPr/>
        </p:nvSpPr>
        <p:spPr>
          <a:xfrm>
            <a:off x="8430768" y="1920240"/>
            <a:ext cx="3200400" cy="2743200"/>
          </a:xfrm>
          <a:prstGeom prst="rect">
            <a:avLst/>
          </a:prstGeom>
          <a:noFill/>
        </p:spPr>
        <p:txBody>
          <a:bodyPr wrap="square">
            <a:spAutoFit/>
          </a:bodyPr>
          <a:lstStyle/>
          <a:p>
            <a:r>
              <a:rPr sz="1600" b="0">
                <a:solidFill>
                  <a:srgbClr val="1E293B"/>
                </a:solidFill>
                <a:latin typeface="Calibri"/>
              </a:rPr>
              <a:t>Production sitting after UAT, with evidence, not with a thicker deck.</a:t>
            </a:r>
          </a:p>
        </p:txBody>
      </p:sp>
      <p:sp>
        <p:nvSpPr>
          <p:cNvPr id="15" name="Rounded Rectangle 14"/>
          <p:cNvSpPr/>
          <p:nvPr/>
        </p:nvSpPr>
        <p:spPr>
          <a:xfrm>
            <a:off x="365760" y="5166360"/>
            <a:ext cx="11430000" cy="1234440"/>
          </a:xfrm>
          <a:prstGeom prst="roundRect">
            <a:avLst>
              <a:gd name="adj" fmla="val 8000"/>
            </a:avLst>
          </a:prstGeom>
          <a:solidFill>
            <a:srgbClr val="FEF3C7"/>
          </a:solidFill>
          <a:ln w="12700">
            <a:solidFill>
              <a:srgbClr val="C4A35A"/>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ctr">
              <a:spcAft>
                <a:spcPts val="400"/>
              </a:spcAft>
            </a:pPr>
            <a:r>
              <a:rPr sz="1600" b="1">
                <a:solidFill>
                  <a:srgbClr val="003366"/>
                </a:solidFill>
                <a:latin typeface="Calibri"/>
              </a:rPr>
              <a:t>After UAT — logs, security ops, compliance pack, VA/PT, timed restore, day-one services</a:t>
            </a:r>
          </a:p>
        </p:txBody>
      </p:sp>
      <p:sp>
        <p:nvSpPr>
          <p:cNvPr id="16" name="Rectangle 15"/>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18" name="TextBox 17"/>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8368"/>
            <a:ext cx="12191695" cy="640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11430000" cy="438912"/>
          </a:xfrm>
          <a:prstGeom prst="rect">
            <a:avLst/>
          </a:prstGeom>
          <a:noFill/>
        </p:spPr>
        <p:txBody>
          <a:bodyPr wrap="none">
            <a:spAutoFit/>
          </a:bodyPr>
          <a:lstStyle/>
          <a:p>
            <a:r>
              <a:rPr sz="2200" b="1">
                <a:solidFill>
                  <a:srgbClr val="FFFFFF"/>
                </a:solidFill>
                <a:latin typeface="Calibri"/>
              </a:rPr>
              <a:t>Appendix — network terms</a:t>
            </a:r>
          </a:p>
        </p:txBody>
      </p:sp>
      <p:sp>
        <p:nvSpPr>
          <p:cNvPr id="6" name="Rounded Rectangle 5"/>
          <p:cNvSpPr/>
          <p:nvPr/>
        </p:nvSpPr>
        <p:spPr>
          <a:xfrm>
            <a:off x="365760" y="960120"/>
            <a:ext cx="3017520" cy="658368"/>
          </a:xfrm>
          <a:prstGeom prst="roundRect">
            <a:avLst>
              <a:gd name="adj" fmla="val 8000"/>
            </a:avLst>
          </a:prstGeom>
          <a:solidFill>
            <a:srgbClr val="003366"/>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Transit Gateway</a:t>
            </a:r>
          </a:p>
        </p:txBody>
      </p:sp>
      <p:sp>
        <p:nvSpPr>
          <p:cNvPr id="7" name="Rounded Rectangle 6"/>
          <p:cNvSpPr/>
          <p:nvPr/>
        </p:nvSpPr>
        <p:spPr>
          <a:xfrm>
            <a:off x="3520440" y="960120"/>
            <a:ext cx="8275320" cy="65836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400"/>
              </a:spcAft>
            </a:pPr>
            <a:r>
              <a:rPr sz="1400" b="0">
                <a:solidFill>
                  <a:srgbClr val="1E293B"/>
                </a:solidFill>
                <a:latin typeface="Calibri"/>
              </a:rPr>
              <a:t>The estate roundabout. We attach a spoke.</a:t>
            </a:r>
          </a:p>
        </p:txBody>
      </p:sp>
      <p:sp>
        <p:nvSpPr>
          <p:cNvPr id="8" name="Rounded Rectangle 7"/>
          <p:cNvSpPr/>
          <p:nvPr/>
        </p:nvSpPr>
        <p:spPr>
          <a:xfrm>
            <a:off x="365760" y="1709928"/>
            <a:ext cx="3017520" cy="658368"/>
          </a:xfrm>
          <a:prstGeom prst="roundRect">
            <a:avLst>
              <a:gd name="adj" fmla="val 8000"/>
            </a:avLst>
          </a:prstGeom>
          <a:solidFill>
            <a:srgbClr val="003366"/>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Internet gateway</a:t>
            </a:r>
          </a:p>
        </p:txBody>
      </p:sp>
      <p:sp>
        <p:nvSpPr>
          <p:cNvPr id="9" name="Rounded Rectangle 8"/>
          <p:cNvSpPr/>
          <p:nvPr/>
        </p:nvSpPr>
        <p:spPr>
          <a:xfrm>
            <a:off x="3520440" y="1709928"/>
            <a:ext cx="8275320" cy="65836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400"/>
              </a:spcAft>
            </a:pPr>
            <a:r>
              <a:rPr sz="1400" b="0">
                <a:solidFill>
                  <a:srgbClr val="1E293B"/>
                </a:solidFill>
                <a:latin typeface="Calibri"/>
              </a:rPr>
              <a:t>Public door of a VPC. Not on the workload.</a:t>
            </a:r>
          </a:p>
        </p:txBody>
      </p:sp>
      <p:sp>
        <p:nvSpPr>
          <p:cNvPr id="10" name="Rounded Rectangle 9"/>
          <p:cNvSpPr/>
          <p:nvPr/>
        </p:nvSpPr>
        <p:spPr>
          <a:xfrm>
            <a:off x="365760" y="2459736"/>
            <a:ext cx="3017520" cy="658368"/>
          </a:xfrm>
          <a:prstGeom prst="roundRect">
            <a:avLst>
              <a:gd name="adj" fmla="val 8000"/>
            </a:avLst>
          </a:prstGeom>
          <a:solidFill>
            <a:srgbClr val="003366"/>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NAT gateway</a:t>
            </a:r>
          </a:p>
        </p:txBody>
      </p:sp>
      <p:sp>
        <p:nvSpPr>
          <p:cNvPr id="11" name="Rounded Rectangle 10"/>
          <p:cNvSpPr/>
          <p:nvPr/>
        </p:nvSpPr>
        <p:spPr>
          <a:xfrm>
            <a:off x="3520440" y="2459736"/>
            <a:ext cx="8275320" cy="65836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400"/>
              </a:spcAft>
            </a:pPr>
            <a:r>
              <a:rPr sz="1400" b="0">
                <a:solidFill>
                  <a:srgbClr val="1E293B"/>
                </a:solidFill>
                <a:latin typeface="Calibri"/>
              </a:rPr>
              <a:t>Lets private pods start outbound. Not the 1SB allowlist.</a:t>
            </a:r>
          </a:p>
        </p:txBody>
      </p:sp>
      <p:sp>
        <p:nvSpPr>
          <p:cNvPr id="12" name="Rounded Rectangle 11"/>
          <p:cNvSpPr/>
          <p:nvPr/>
        </p:nvSpPr>
        <p:spPr>
          <a:xfrm>
            <a:off x="365760" y="3209544"/>
            <a:ext cx="3017520" cy="658368"/>
          </a:xfrm>
          <a:prstGeom prst="roundRect">
            <a:avLst>
              <a:gd name="adj" fmla="val 8000"/>
            </a:avLst>
          </a:prstGeom>
          <a:solidFill>
            <a:srgbClr val="003366"/>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Network Firewall</a:t>
            </a:r>
          </a:p>
        </p:txBody>
      </p:sp>
      <p:sp>
        <p:nvSpPr>
          <p:cNvPr id="13" name="Rounded Rectangle 12"/>
          <p:cNvSpPr/>
          <p:nvPr/>
        </p:nvSpPr>
        <p:spPr>
          <a:xfrm>
            <a:off x="3520440" y="3209544"/>
            <a:ext cx="8275320" cy="65836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400"/>
              </a:spcAft>
            </a:pPr>
            <a:r>
              <a:rPr sz="1400" b="0">
                <a:solidFill>
                  <a:srgbClr val="1E293B"/>
                </a:solidFill>
                <a:latin typeface="Calibri"/>
              </a:rPr>
              <a:t>Inspection on the outbound hop. Security accepts remainder.</a:t>
            </a:r>
          </a:p>
        </p:txBody>
      </p:sp>
      <p:sp>
        <p:nvSpPr>
          <p:cNvPr id="14" name="Rounded Rectangle 13"/>
          <p:cNvSpPr/>
          <p:nvPr/>
        </p:nvSpPr>
        <p:spPr>
          <a:xfrm>
            <a:off x="365760" y="3959352"/>
            <a:ext cx="3017520" cy="658368"/>
          </a:xfrm>
          <a:prstGeom prst="roundRect">
            <a:avLst>
              <a:gd name="adj" fmla="val 8000"/>
            </a:avLst>
          </a:prstGeom>
          <a:solidFill>
            <a:srgbClr val="003366"/>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Internal ALB</a:t>
            </a:r>
          </a:p>
        </p:txBody>
      </p:sp>
      <p:sp>
        <p:nvSpPr>
          <p:cNvPr id="15" name="Rounded Rectangle 14"/>
          <p:cNvSpPr/>
          <p:nvPr/>
        </p:nvSpPr>
        <p:spPr>
          <a:xfrm>
            <a:off x="3520440" y="3959352"/>
            <a:ext cx="8275320" cy="65836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400"/>
              </a:spcAft>
            </a:pPr>
            <a:r>
              <a:rPr sz="1400" b="0">
                <a:solidFill>
                  <a:srgbClr val="1E293B"/>
                </a:solidFill>
                <a:latin typeface="Calibri"/>
              </a:rPr>
              <a:t>The only load balancer inside the VPC.</a:t>
            </a:r>
          </a:p>
        </p:txBody>
      </p:sp>
      <p:sp>
        <p:nvSpPr>
          <p:cNvPr id="16" name="Rounded Rectangle 15"/>
          <p:cNvSpPr/>
          <p:nvPr/>
        </p:nvSpPr>
        <p:spPr>
          <a:xfrm>
            <a:off x="365760" y="4709160"/>
            <a:ext cx="3017520" cy="658368"/>
          </a:xfrm>
          <a:prstGeom prst="roundRect">
            <a:avLst>
              <a:gd name="adj" fmla="val 8000"/>
            </a:avLst>
          </a:prstGeom>
          <a:solidFill>
            <a:srgbClr val="003366"/>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API Gateway</a:t>
            </a:r>
          </a:p>
        </p:txBody>
      </p:sp>
      <p:sp>
        <p:nvSpPr>
          <p:cNvPr id="17" name="Rounded Rectangle 16"/>
          <p:cNvSpPr/>
          <p:nvPr/>
        </p:nvSpPr>
        <p:spPr>
          <a:xfrm>
            <a:off x="3520440" y="4709160"/>
            <a:ext cx="8275320" cy="65836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400"/>
              </a:spcAft>
            </a:pPr>
            <a:r>
              <a:rPr sz="1400" b="0">
                <a:solidFill>
                  <a:srgbClr val="1E293B"/>
                </a:solidFill>
                <a:latin typeface="Calibri"/>
              </a:rPr>
              <a:t>Inbound AWS front door. Not Apigee.</a:t>
            </a:r>
          </a:p>
        </p:txBody>
      </p:sp>
      <p:sp>
        <p:nvSpPr>
          <p:cNvPr id="18" name="Rounded Rectangle 17"/>
          <p:cNvSpPr/>
          <p:nvPr/>
        </p:nvSpPr>
        <p:spPr>
          <a:xfrm>
            <a:off x="365760" y="5458968"/>
            <a:ext cx="3017520" cy="658368"/>
          </a:xfrm>
          <a:prstGeom prst="roundRect">
            <a:avLst>
              <a:gd name="adj" fmla="val 8000"/>
            </a:avLst>
          </a:prstGeom>
          <a:solidFill>
            <a:srgbClr val="003366"/>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Apigee</a:t>
            </a:r>
          </a:p>
        </p:txBody>
      </p:sp>
      <p:sp>
        <p:nvSpPr>
          <p:cNvPr id="19" name="Rounded Rectangle 18"/>
          <p:cNvSpPr/>
          <p:nvPr/>
        </p:nvSpPr>
        <p:spPr>
          <a:xfrm>
            <a:off x="3520440" y="5458968"/>
            <a:ext cx="8275320" cy="658368"/>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54864" bIns="54864"/>
          <a:lstStyle/>
          <a:p>
            <a:pPr algn="l">
              <a:spcAft>
                <a:spcPts val="400"/>
              </a:spcAft>
            </a:pPr>
            <a:r>
              <a:rPr sz="1400" b="0">
                <a:solidFill>
                  <a:srgbClr val="1E293B"/>
                </a:solidFill>
                <a:latin typeface="Calibri"/>
              </a:rPr>
              <a:t>Outbound API plane for 1SB and bank APIs.</a:t>
            </a:r>
          </a:p>
        </p:txBody>
      </p:sp>
      <p:sp>
        <p:nvSpPr>
          <p:cNvPr id="20" name="Rectangle 19"/>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22" name="TextBox 21"/>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8368"/>
            <a:ext cx="12191695" cy="6400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
            <a:ext cx="11430000" cy="438912"/>
          </a:xfrm>
          <a:prstGeom prst="rect">
            <a:avLst/>
          </a:prstGeom>
          <a:noFill/>
        </p:spPr>
        <p:txBody>
          <a:bodyPr wrap="none">
            <a:spAutoFit/>
          </a:bodyPr>
          <a:lstStyle/>
          <a:p>
            <a:r>
              <a:rPr sz="2200" b="1">
                <a:solidFill>
                  <a:srgbClr val="FFFFFF"/>
                </a:solidFill>
                <a:latin typeface="Calibri"/>
              </a:rPr>
              <a:t>Appendix — if you do not have the number</a:t>
            </a:r>
          </a:p>
        </p:txBody>
      </p:sp>
      <p:sp>
        <p:nvSpPr>
          <p:cNvPr id="6" name="Rounded Rectangle 5"/>
          <p:cNvSpPr/>
          <p:nvPr/>
        </p:nvSpPr>
        <p:spPr>
          <a:xfrm>
            <a:off x="365760" y="960120"/>
            <a:ext cx="3200400" cy="960120"/>
          </a:xfrm>
          <a:prstGeom prst="roundRect">
            <a:avLst>
              <a:gd name="adj" fmla="val 8000"/>
            </a:avLst>
          </a:prstGeom>
          <a:solidFill>
            <a:srgbClr val="0E7490"/>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1 — Cite and stop</a:t>
            </a:r>
          </a:p>
        </p:txBody>
      </p:sp>
      <p:sp>
        <p:nvSpPr>
          <p:cNvPr id="7" name="Rounded Rectangle 6"/>
          <p:cNvSpPr/>
          <p:nvPr/>
        </p:nvSpPr>
        <p:spPr>
          <a:xfrm>
            <a:off x="3703320" y="960120"/>
            <a:ext cx="8092440" cy="96012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l">
              <a:spcAft>
                <a:spcPts val="400"/>
              </a:spcAft>
            </a:pPr>
            <a:r>
              <a:rPr sz="1200" b="0">
                <a:solidFill>
                  <a:srgbClr val="1E293B"/>
                </a:solidFill>
                <a:latin typeface="Calibri"/>
              </a:rPr>
              <a:t>That decision is recorded in ADR-0XX. I will not re-litigate it from memory. Happy to walk the clause after the sitting if needed.</a:t>
            </a:r>
          </a:p>
        </p:txBody>
      </p:sp>
      <p:sp>
        <p:nvSpPr>
          <p:cNvPr id="8" name="Rounded Rectangle 7"/>
          <p:cNvSpPr/>
          <p:nvPr/>
        </p:nvSpPr>
        <p:spPr>
          <a:xfrm>
            <a:off x="365760" y="2011680"/>
            <a:ext cx="3200400" cy="960120"/>
          </a:xfrm>
          <a:prstGeom prst="roundRect">
            <a:avLst>
              <a:gd name="adj" fmla="val 8000"/>
            </a:avLst>
          </a:prstGeom>
          <a:solidFill>
            <a:srgbClr val="0E7490"/>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2 — Name the owner</a:t>
            </a:r>
          </a:p>
        </p:txBody>
      </p:sp>
      <p:sp>
        <p:nvSpPr>
          <p:cNvPr id="9" name="Rounded Rectangle 8"/>
          <p:cNvSpPr/>
          <p:nvPr/>
        </p:nvSpPr>
        <p:spPr>
          <a:xfrm>
            <a:off x="3703320" y="2011680"/>
            <a:ext cx="8092440" cy="96012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l">
              <a:spcAft>
                <a:spcPts val="400"/>
              </a:spcAft>
            </a:pPr>
            <a:r>
              <a:rPr sz="1200" b="0">
                <a:solidFill>
                  <a:srgbClr val="1E293B"/>
                </a:solidFill>
                <a:latin typeface="Calibri"/>
              </a:rPr>
              <a:t>The structure is Architecture's. The remaining acceptance sits with [Deepali / Shivanshi / bank network / Apigee team]. I will not speak for their residual.</a:t>
            </a:r>
          </a:p>
        </p:txBody>
      </p:sp>
      <p:sp>
        <p:nvSpPr>
          <p:cNvPr id="10" name="Rounded Rectangle 9"/>
          <p:cNvSpPr/>
          <p:nvPr/>
        </p:nvSpPr>
        <p:spPr>
          <a:xfrm>
            <a:off x="365760" y="3063240"/>
            <a:ext cx="3200400" cy="960120"/>
          </a:xfrm>
          <a:prstGeom prst="roundRect">
            <a:avLst>
              <a:gd name="adj" fmla="val 8000"/>
            </a:avLst>
          </a:prstGeom>
          <a:solidFill>
            <a:srgbClr val="0E7490"/>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3 — Action, dated, non-blocking</a:t>
            </a:r>
          </a:p>
        </p:txBody>
      </p:sp>
      <p:sp>
        <p:nvSpPr>
          <p:cNvPr id="11" name="Rounded Rectangle 10"/>
          <p:cNvSpPr/>
          <p:nvPr/>
        </p:nvSpPr>
        <p:spPr>
          <a:xfrm>
            <a:off x="3703320" y="3063240"/>
            <a:ext cx="8092440" cy="96012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l">
              <a:spcAft>
                <a:spcPts val="400"/>
              </a:spcAft>
            </a:pPr>
            <a:r>
              <a:rPr sz="1200" b="0">
                <a:solidFill>
                  <a:srgbClr val="1E293B"/>
                </a:solidFill>
                <a:latin typeface="Calibri"/>
              </a:rPr>
              <a:t>Fair question. I do not have a measured answer in the room and I will not invent one. Action: we return by [date] with [owner]. That item does not change the Dev/UAT VPC shape we are asking you to review today.</a:t>
            </a:r>
          </a:p>
        </p:txBody>
      </p:sp>
      <p:sp>
        <p:nvSpPr>
          <p:cNvPr id="12" name="Rounded Rectangle 11"/>
          <p:cNvSpPr/>
          <p:nvPr/>
        </p:nvSpPr>
        <p:spPr>
          <a:xfrm>
            <a:off x="365760" y="4114800"/>
            <a:ext cx="3200400" cy="960120"/>
          </a:xfrm>
          <a:prstGeom prst="roundRect">
            <a:avLst>
              <a:gd name="adj" fmla="val 8000"/>
            </a:avLst>
          </a:prstGeom>
          <a:solidFill>
            <a:srgbClr val="0E7490"/>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4 — Later sitting</a:t>
            </a:r>
          </a:p>
        </p:txBody>
      </p:sp>
      <p:sp>
        <p:nvSpPr>
          <p:cNvPr id="13" name="Rounded Rectangle 12"/>
          <p:cNvSpPr/>
          <p:nvPr/>
        </p:nvSpPr>
        <p:spPr>
          <a:xfrm>
            <a:off x="3703320" y="4114800"/>
            <a:ext cx="8092440" cy="96012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l">
              <a:spcAft>
                <a:spcPts val="400"/>
              </a:spcAft>
            </a:pPr>
            <a:r>
              <a:rPr sz="1200" b="0">
                <a:solidFill>
                  <a:srgbClr val="1E293B"/>
                </a:solidFill>
                <a:latin typeface="Calibri"/>
              </a:rPr>
              <a:t>That is a production, DR-readiness or VA-PT question. We will bring evidence to the second ARB. Today is the intended design, so Dev and UAT can be stood up.</a:t>
            </a:r>
          </a:p>
        </p:txBody>
      </p:sp>
      <p:sp>
        <p:nvSpPr>
          <p:cNvPr id="14" name="Rounded Rectangle 13"/>
          <p:cNvSpPr/>
          <p:nvPr/>
        </p:nvSpPr>
        <p:spPr>
          <a:xfrm>
            <a:off x="365760" y="5166360"/>
            <a:ext cx="3200400" cy="960120"/>
          </a:xfrm>
          <a:prstGeom prst="roundRect">
            <a:avLst>
              <a:gd name="adj" fmla="val 8000"/>
            </a:avLst>
          </a:prstGeom>
          <a:solidFill>
            <a:srgbClr val="0E7490"/>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spcAft>
                <a:spcPts val="400"/>
              </a:spcAft>
            </a:pPr>
            <a:r>
              <a:rPr sz="1300" b="1">
                <a:solidFill>
                  <a:srgbClr val="FFFFFF"/>
                </a:solidFill>
                <a:latin typeface="Calibri"/>
              </a:rPr>
              <a:t>5 — Never guess</a:t>
            </a:r>
          </a:p>
        </p:txBody>
      </p:sp>
      <p:sp>
        <p:nvSpPr>
          <p:cNvPr id="15" name="Rounded Rectangle 14"/>
          <p:cNvSpPr/>
          <p:nvPr/>
        </p:nvSpPr>
        <p:spPr>
          <a:xfrm>
            <a:off x="3703320" y="5166360"/>
            <a:ext cx="8092440" cy="96012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54864" bIns="54864"/>
          <a:lstStyle/>
          <a:p>
            <a:pPr algn="l">
              <a:spcAft>
                <a:spcPts val="400"/>
              </a:spcAft>
            </a:pPr>
            <a:r>
              <a:rPr sz="1200" b="0">
                <a:solidFill>
                  <a:srgbClr val="1E293B"/>
                </a:solidFill>
                <a:latin typeface="Calibri"/>
              </a:rPr>
              <a:t>I will not guess an IP, a pentest result, a restore-drill time, or a CIS register class. Guessing those in this room would be the actual control failure.</a:t>
            </a:r>
          </a:p>
        </p:txBody>
      </p:sp>
      <p:sp>
        <p:nvSpPr>
          <p:cNvPr id="16" name="Rectangle 15"/>
          <p:cNvSpPr/>
          <p:nvPr/>
        </p:nvSpPr>
        <p:spPr>
          <a:xfrm>
            <a:off x="0" y="6601968"/>
            <a:ext cx="12191695" cy="25603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620256"/>
            <a:ext cx="10241280" cy="219456"/>
          </a:xfrm>
          <a:prstGeom prst="rect">
            <a:avLst/>
          </a:prstGeom>
          <a:noFill/>
        </p:spPr>
        <p:txBody>
          <a:bodyPr wrap="none">
            <a:spAutoFit/>
          </a:bodyPr>
          <a:lstStyle/>
          <a:p>
            <a:r>
              <a:rPr sz="900" b="0">
                <a:solidFill>
                  <a:srgbClr val="FFFFFF"/>
                </a:solidFill>
                <a:latin typeface="Calibri"/>
              </a:rPr>
              <a:t>First review · Dev &amp; UAT · not production · not DR-ready · not VA/PT</a:t>
            </a:r>
          </a:p>
        </p:txBody>
      </p:sp>
      <p:sp>
        <p:nvSpPr>
          <p:cNvPr id="18" name="TextBox 17"/>
          <p:cNvSpPr txBox="1"/>
          <p:nvPr/>
        </p:nvSpPr>
        <p:spPr>
          <a:xfrm>
            <a:off x="10607040" y="6620256"/>
            <a:ext cx="1325880" cy="219456"/>
          </a:xfrm>
          <a:prstGeom prst="rect">
            <a:avLst/>
          </a:prstGeom>
          <a:noFill/>
        </p:spPr>
        <p:txBody>
          <a:bodyPr wrap="none">
            <a:spAutoFit/>
          </a:bodyPr>
          <a:lstStyle/>
          <a:p>
            <a:pPr algn="r"/>
            <a:r>
              <a:rPr sz="900" b="0">
                <a:solidFill>
                  <a:srgbClr val="C4A35A"/>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