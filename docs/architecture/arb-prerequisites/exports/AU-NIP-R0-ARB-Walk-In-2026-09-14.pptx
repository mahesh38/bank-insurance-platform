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4A35A"/>
                </a:solidFill>
                <a:latin typeface="Calibri"/>
              </a:rPr>
              <a:t>Architecture Review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AU Bank Insurance Distribution Platform (NIP)</a:t>
            </a:r>
          </a:p>
          <a:p>
            <a:r>
              <a:rPr sz="2000" b="0">
                <a:solidFill>
                  <a:srgbClr val="FFFFFF"/>
                </a:solidFill>
                <a:latin typeface="Calibri"/>
              </a:rPr>
              <a:t>R0 assisted Life — 19-item prerequisite walk-in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Horizon H0 / R0 only. H1–H3 are direction, not this submission.</a:t>
            </a:r>
          </a:p>
          <a:p>
            <a:r>
              <a:rPr sz="1300" b="0">
                <a:solidFill>
                  <a:srgbClr val="C4A35A"/>
                </a:solidFill>
                <a:latin typeface="Calibri"/>
              </a:rPr>
              <a:t>AI-DRAFTED evidence. Not ARB approval, not T4 Architecture, not Board 4, not Board 6 CIS registration, not a VA/PT pass. HA-02: ADR / LLD / NFR win.</a:t>
            </a:r>
          </a:p>
          <a:p>
            <a:r>
              <a:rPr sz="1300" b="0">
                <a:solidFill>
                  <a:srgbClr val="FFFFFF"/>
                </a:solidFill>
                <a:latin typeface="Calibri"/>
              </a:rPr>
              <a:t>Draft: Mahesh (Board 1 / R2) · Work item ARB-PRE-2026-09-14 · SUG-20260914-xpt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37960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What to put in front of the reviewer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In the room: this PowerPoint (walk-in). Do not open Markdown.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To circulate / print: AU-NIP-R0-ARB-Prerequisite-Pack PDF (or the Word file if they want comments).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When they ask for matrices: AU-NIP-R0-ARB-Matrices.xlsx — integration, RACI, CIS, SBOM, lifecycle, exit.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Ask of this sitting: review the design. Not production authority. Not a CIS register entry.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Fair holds we already name: CIS class, Product volumes, Deepali Board 4, VA/PT date, Apigee IPs, human T4.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Business ask (row 1) — PARTIAL until Rajal signs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One RM, certified Specified Person, sells a complete Life policy (Term or Savings/ULIP) to one ETB customer of one Group A insurer, end to end.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Suitability, customer-device OTP consent, customer-device payment, reconciled issuance, immutable audit.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Licence: IRDAI Composite Corporate Agency CA0515.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Written: BOOT.md scope, CR-010, CR-015 (CANDIDATE transcribed; HUMAN T4 outstanding).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Architecture will not invent a BRD signature, budget memo, or GOV-004 Product counter-sign.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Readiness dashboard — rows 1 to 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116128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Bank ARB prerequisite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Readiness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Named gap / owner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Business ask and sign-off for new technical or application requirement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B45309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Rajal Product sign-off of CAP-A volumes and CR-015 T4. PO counter-signature on GOV-004 still outstanding. This pack does not invent a business BRD signature.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Critical Information System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B91C1C"/>
                          </a:solidFill>
                          <a:latin typeface="Calibri"/>
                        </a:rPr>
                        <a:t>HUMAN-REQUIRED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Shailja + bank InfoSec / CISO. Architecture proposes Critical. The bank CIS register is the SoT.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Solution Architecture Document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(unsigned)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Human T4 Architecture.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Current-state and target-state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(unsigned)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Do not read H1–H3 as admitted scope.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Data-flow and trust-boundary diagrams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(unsigned)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Split plane ADR-020 is now on topology/payment. Security mermaid in §2 of this change aligns TB-5/TB-7 to Apigee. Deepali still owns the threat-model signature.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Integration and dependency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(compiled)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External rows OPEN: Apigee onboard (DEP-20260914-apg), VPN/DX (DEP-20260824-dx1), bank UAT slot (DEP-002).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Infrastructure sizing and capacity assessment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B45309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CAP-A1…A7 are assumptions, not an approved business baseline (NFR-OPEN-1, owner Rajal). R0 is correctness-constrained, not throughput-constrained.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Availability, RTO and RPO of base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(unsigned)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Sale-path 99.9%. RTO ≤ 1 h, RPO ≤ 5 min transactional, RPO 0 audit. Unproven until S09 drills (NFR-DR-04).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4607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DR architecture and failover mechanism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(unsigned)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Warm standby ap-south-2. Cache/MSK/OpenSearch not replicated (D13–D15). Proof is a timed Ansible drill, not the picture.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46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Security architecture (as per Security NFR)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B45309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Deepali Board 4 human. ADR-010 remainder (pod→Apigee inspection) is her acceptance, not Architecture's.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Readiness dashboard — rows 11 to 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116128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Bank ARB prerequisite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Readiness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Named gap / owner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VA/PT and secure-code-review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4B5563"/>
                          </a:solidFill>
                          <a:latin typeface="Calibri"/>
                        </a:rPr>
                        <a:t>NOT-YET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No VA/PT report exists. Swapnali + Deepali: SAST in pipeline now; DAST/VA/PT before UAT exit / S11–S12. Do not tell ARB a pentest passed.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SBOM / software dependency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B45309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CycloneDX/SPDX CI artefact still to be wired (S09). Flutter pubspec.lock is a second inventory.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Data classification and data residency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(unsigned)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Shailja S02-G5/G6. GAP-016 residual on attribute-level BA ratification.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IAM / PAM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B45309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Application IAM is designed. Privileged Access Management for AWS console / break-glass is bank PAM + Deepali; not a second IdP we invent.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Logging and monitoring design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(unsigned)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Operational logs RET-OPERATIONAL 90 d. Audit is not logging (TI-07).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Third-party and subcontractor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(compiled)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1SB is a provider route, not a domain dependency (TI-04). Insurers underwrite (TI-03).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Cloud architecture and shared-responsibility matrix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(compiled)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Attach to AU-CTO-NETWORK; five Control Tower accounts; no CUG.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Technology lifecycle and end-of-support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(compiled)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Java 21 and Spring Boot 3.5 are in support. Keycloak / Flutter / EKS pin to be confirmed by Amit + Shivanshi at S09.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40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Exit, portability and decommissioning strategy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66534"/>
                          </a:solidFill>
                          <a:latin typeface="Calibri"/>
                        </a:rPr>
                        <a:t>READY (compiled)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  <a:latin typeface="Calibri"/>
                        </a:rPr>
                        <a:t>1SB replaceable at the adapter. Data exits as Aurora + S3 WORM in India. Kubernetes PVC is not a SoR.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Honest posture — review, not production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The design is internally consistent enough to REVIEW.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It is not internally consistent enough to approve as production authority.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HUMAN-REQUIRED: CIS register (Shailja + CISO). Architecture proposes Critical; the bank register is SoT.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PARTIAL: business volumes (Rajal CAP-A*), security signature (Deepali), IAM vs bank PAM, CycloneDX CI.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NOT-YET: VA/PT report. CI has Checkstyle, Spotless, ArchUnit, JaCoCo, lockfile SCA only.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OPEN outside the room: DEP-20260914-apg (Apigee IPs), DEP-20260824-dx1 (VPN/DX), DEP-002 (UAT slot).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Current state vs target state (rows 3–4)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Current = H0 / R0 as designed. Nothing is running in a bank prod account yet.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SAD: 03-solution-architecture-r0.md · HLD · LLD · narrative dossier. Unsigned T4.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Target = North Star capability model, horizons H1–H3 + hdl.svg. Do not read H1–H3 as admitted scope.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Release strategy follows business maturity, not architecture completeness (HR-01…HR-05).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Attach to the existing AU cloud estate (BE-01). Do not clone Control Tower, TGW, DX, or FortiGate.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Split API plane — ADR-020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INBOUND: device → Cloudflare → F5-XC → Amazon API Gateway → Internal ALB → nip-web / NIP BFF.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OUTBOUND: pod → TGW → NFW → Apigee → 1SB or private bank API.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FORBIDDEN: Java → https://*.1silverbullet.tech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FORBIDDEN: internal API → internet → Cloudflare → F5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FORBIDDEN: publish spoke NAT EIPs to 1SB. 1SB allowlists Apigee IPs.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Payment: session-create OUT via Apigee; 3-DS on the customer device; callback IN on a separate API Gateway route (TB-6).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Data-flow — R0 platform topology (row 5)</a:t>
            </a:r>
          </a:p>
        </p:txBody>
      </p:sp>
      <p:pic>
        <p:nvPicPr>
          <p:cNvPr id="5" name="Picture 4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68680"/>
            <a:ext cx="11704320" cy="557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Payment trust boundary TB-6</a:t>
            </a:r>
          </a:p>
        </p:txBody>
      </p:sp>
      <p:pic>
        <p:nvPicPr>
          <p:cNvPr id="5" name="Picture 4" descr="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1152144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Integration matrix I-01 … I-06 (row 6) — full sheet in Excel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116128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Counterpart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 (R0)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R0 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NIP-APP (Flutter web/APK/IPA)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Inbound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Device → Cloudflare → F5-XC → Amazon API Gateway → Internal ALB → nip-web / #2 NIP BFF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Designed. App not in this repo.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Amazon API Gateway (inbound)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Inbound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First AWS hop. Separate PG-callback route, IP-allowlisted (TB-6)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ADR-018. Not provisioned.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1SilverBullet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Outbound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#14 Hub → #15 adapter → Apigee → 1SB. Adapter base URL = Apigee proxy. Never .1silverbullet.tech from EKS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Code exists. Path ADR-020. IPs DEP-20260914-apg OPEN.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AU Bank Payment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Outbound session-create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#12 Payment → Apigee → 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Designed.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AU Bank Payment Gateway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Inbound callback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PG → API Gateway callback route (not Apigee, not RM session)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Designed (TB-6).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07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AU Bank PG 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Inbound /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Out-of-band from the API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Designed.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Integration matrix I-07 … I-12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116128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Counterpart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 (R0)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R0 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EBS / CBS / CIF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Outbound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#4 Customer → Apigee private → EBS. Stubs in dev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Path designed. VPN/DX DEP-20260824-dx1 OPEN.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Bank AD-verify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Outbound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Identity adapter → Apigee private → existing AD-verify. Never LDAP from 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ADR-020. DEP-010 AD technology confirmation OPEN (overdue).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SMS / email gateway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Outbound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#17 Notification → Apigee / inspected egress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Designed. Beyond OTP/pay-link is out of R0.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Insurers (Group 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Via I-03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Platform never calls an insurer origin in 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Direct insurer APIs are R1+ (#15 sibling adapter exists as a seam, unused).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GitLab CI/CD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Delivery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Build, ArchUnit, JaCoCo, Terraform apply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Bank standard (ADR-016).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707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AWS (ap-south-1 / ap-south-2)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See LLD 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Not vended.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Forbidden paths and open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Defect if drawn: Java → 1SB origin · internal API hairpin via Cloudflare/F5 · spoke NAT EIPs to 1SB · Flutter → Keycloak/Apigee/domain · cross-schema DB grants.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DEP-20260914-apg OPEN — 1SB allowlist + AD-verify/EBS private proxies (Apigee team).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DEP-20260824-eip — must NOT send spoke NAT EIPs to 1SB.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DEP-20260824-dx1 OPEN — uat/prod CBS and AD-verify without stubs.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DEP-002 OPEN — bank caller UAT. DEP-010 OPEN (overdue) — AD technology named; R0 uses AD-verify API, never LDAP.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Capacity, availability, RTO / RPO (rows 7–8)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CAP-A* assumption (not Product-signed): ~100 journey starts/hour BAU, ~7/minute at Q4 peak.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R0 is correctness-constrained, not throughput-constrained. Do not scale from CPU. Aurora connection budget is the one that bites.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Sale-path availability 99.9% (NFR-AVL-01).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RTO ≤ 1 hour. Transactional RPO ≤ 5 minutes. Audit RPO 0.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Unproven until S09 timed restore drill (NFR-DR-04).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DR architecture — warm standby ap-south-2 (row 9)</a:t>
            </a:r>
          </a:p>
        </p:txBody>
      </p:sp>
      <p:pic>
        <p:nvPicPr>
          <p:cNvPr id="5" name="Picture 4" descr="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532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Security, VA/PT, SBOM (rows 10–12)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Security architecture is an INPUT to Board 4, not a Board 4 verdict. Deepali signs.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ADR-010 remainder (pod → Apigee inspection) is Deepali’s acceptance, not Architecture’s.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VA/PT: NOT-YET. Do not tell ARB a pentest passed. SAST/ArchUnit/JaCoCo/lockfiles are in CI now. DAST/VA/PT before UAT exit.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SBOM today: 14 Gradle lockfiles, 137 unique runtimeClasspath coordinates. Java 21, Spring Boot 3.5.16.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CycloneDX/SPDX CI artefact is S09. Flutter pubspec.lock is a second inventory, not merged.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CIS classification — proposal only (row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5214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Proposed 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System name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AU Bank Insurance Distribution Platform (NIP) — R0 assisted Life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Proposed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Critical Information System (CIS)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Why not “High” or below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The platform stores and processes CIF-derived customer identity, PAN and other KYC identifiers, health/suitability attributes, payment orchestration state, and 7-year immutable audit. A confidentiality, integrity or availability failure is a regulatory and customer-harm event, not only an operational inconvenience.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R0 processing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AWS ap-south-1 (Mumbai). DR replicas ap-south-2 (Hyderabad) only. No regulated data outside India (TI-08, FF-08).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Internet exposure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Inbound: Cloudflare → F5-XC → Amazon API Gateway only (ADR-018). No public ALB, no public datastore. Outbound: Apigee (ADR-020).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Privileged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IRSA per deployable; bank IAM Identity Center / PAM for humans; Keycloak admin console is not a bank-user UI.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02920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Mahesh does not classify the system into the bank CIS register. Shailja + CISO do.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A lower class would be a written risk acceptance, not a design simplification.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Data, IAM/PAM, logging (rows 13–15)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Classes: PUBLIC / INTERNAL / CONFIDENTIAL / RESTRICTED + [P][F][H][K]. India only (TI-08, FF-08).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Primary ap-south-1, DR ap-south-2. No regulated data outside India.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Workforce identity stays Bank AD (TI-01). R0 reaches it via AD-verify API through Apigee private. Never LDAP from EKS.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AWS human privilege is bank PAM / IAM Identity Center. We consume it. We do not clone an IdP (BE-01).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CloudTrail (who changed AWS) and CloudWatch (how the pod behaves) are both mandatory.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OpenSearch = operational logs, never evidence (ADR-013). Audit is INSERT-only + S3 Object Lock (TI-07).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Third parties (row 16) — no new subcontractor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116128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Contract posture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1SilverBullet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Insurance aggregator (provider route)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Bank–1SB commercial + IP allowlist of Apigee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Replace adapter; Hub contract unchanged (TI-04)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Group A insurers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Underwriters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Insurer terms; bank does not underwrite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Catalogue row + adapter route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Cloudflare, Inc.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Edge CDN / DDoS (SaaS)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Bank enterprise already in 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ADR-018 hop 1; not in our VPC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F5 (Distributed Cloud / XC)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Edge WAF (SaaS)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Bank enterprise already in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Not an in-VPC BIG-IP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Google (Apigee) or bank-operated Apigee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Outbound API plane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Bank API platform product (DEP-20260914-apg)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Adapter base URL change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Amazon Web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IaaS/PaaS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Bank Control Tower already exists (BE-01)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See exit paper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GitLab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SCM + CI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Bank standard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Five Control Tower accounts — attach, don’t clone (row 17)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914400"/>
          <a:ext cx="11521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  <a:gridCol w="38404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If it is compromised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shared-services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Terraform state pattern, ECR, shared runners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Build supply chain — not customer data at 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CloudTrail, GuardDuty, Security Hub,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Detection failure; not the sale-path datastore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Inspection VPCs, attachments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Egress / routing; production data does not live here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uat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vpc-dev (synthetic) + vpc-uat (masked)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Two route tables so stubs cannot reach prod CBS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prod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Real ETB, real AD-verify, real 1SB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The CIS blast radius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434340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shared-services, security, network, uat, prod. No separate dev account. No CUG.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UAT hosts vpc-dev + vpc-uat with two route tables so stubs cannot reach prod CBS.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No workload VPC Internet Gateway. Shared-responsibility matrix is the Excel RACI sheet.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Technology lifecycle (row 18) — pins as of 2026-09-14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116128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Pin in repo / LLD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Java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21 (LTS)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Amit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Spring Boot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3.5.16 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Gradle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Wrapper in repo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Amit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Amazon 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Kubernetes 1.30+ (LLD; “platform current”)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Shivanshi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Amazon Aurora PostgreSQL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Engine chosen by Aarti at S09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Aarti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Amazon ElastiCache for Valkey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R0 session / L2 / rate-limit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Shivanshi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Amazon MSK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 brokers, KRaft, SASL/IAM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Shivanshi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94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OpenSearch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VPC-only, ISM 30 d 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Shivanshi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Exit, portability, decommission (row 19)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Exit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we keep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we turn off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Timebox (draft)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Replace 1SB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Hub contract, canonical model, audit, policies already issued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#15 adapter module + Apigee 1SB product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Adapter-swap; no domain migration (TI-04)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Leave AWS (extreme)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Logical model, WORM export, Terraform as documentation of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Accounts, KMS,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Multi-quarter; India residency still binds the destination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Decommission NIP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7-year evidence (audit, consent, suitability, policy documents)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Compute, sessions, operational logs, IdP for this programme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Retention clock starts from event time / policy termination per information model §2.2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474720"/>
            <a:ext cx="11338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One-line exit: turn off the adapter, keep the evidence. 1SB JSON never enters a domain schema.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Canonical model is bank-owned. PVC is not a system of record. Workforce identities stay in AD.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S3 Object Lock retention cannot be shortened by decommission enthusiasm (Shailja).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ARB is not being asked to approve a decommission. Exit is a designed property of R0.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Who must still walk into the room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Seat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they sign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they must not be asked to sign for Architecture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Rajal (R1)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Business ask, CAP-A baseline, CR-015 product acceptance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Technology choice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Mahesh (R2) human 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SAD / HLD / LLD / this pack as architecture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Deepali’s security residual, Shailja’s CIS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Deepali (R8)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Board 4, ADR-010 remainder, VA/PT scope, PAM pattern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Product behaviour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Shailja (R9) 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CIS class, classification/retention, residency attestation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 pentest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Shivanshi (R10)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S09 vending, Apigee onboard, DR drill records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Architecture structure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Aarti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Physical model / PITR / WORM restore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Service boundaries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Swapnali (R7)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Evidence sufficiency of VA/PT and SAST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Waiving a non-waivable control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Kalpana (R12)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Whether ARB is on the critical path this increment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The content of a specialist verdict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Close — what we are asking ARB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Review the R0 architecture against the 19 bank prerequisites.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Record named holds. Do not treat silence as approval.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Do not convert this pack into production authority, a CIS register row, or a VA/PT pass.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Next humans: Rajal (volumes), Shailja+CISO (CIS), Deepali (Board 4), Mahesh human T4, Shivanshi (Apigee IPs + DR drill record).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20256"/>
            <a:ext cx="104241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Calibri"/>
              </a:rPr>
              <a:t>AU Bank NIP R0 · ARB pack 2026-09-14 · AI-DRAFTED evidence. Not ARB approval, not T4 Architecture, not Board 4, not Board 6 CIS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620256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Calibr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